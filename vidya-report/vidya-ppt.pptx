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32499300" cy="18288000"/>
  <p:notesSz cx="6858000" cy="9144000"/>
  <p:embeddedFontLst>
    <p:embeddedFont>
      <p:font typeface="Aileron Bold" charset="1" panose="00000800000000000000"/>
      <p:regular r:id="rId14"/>
    </p:embeddedFont>
    <p:embeddedFont>
      <p:font typeface="Aileron" charset="1" panose="00000500000000000000"/>
      <p:regular r:id="rId15"/>
    </p:embeddedFont>
    <p:embeddedFont>
      <p:font typeface="Aileron Ultra-Bold" charset="1" panose="00000A00000000000000"/>
      <p:regular r:id="rId16"/>
    </p:embeddedFont>
    <p:embeddedFont>
      <p:font typeface="Nunito Bold" charset="1" panose="00000800000000000000"/>
      <p:regular r:id="rId17"/>
    </p:embeddedFont>
    <p:embeddedFont>
      <p:font typeface="Inter" charset="1" panose="020B0502030000000004"/>
      <p:regular r:id="rId18"/>
    </p:embeddedFont>
    <p:embeddedFont>
      <p:font typeface="Inter Bold" charset="1" panose="020B0802030000000004"/>
      <p:regular r:id="rId19"/>
    </p:embeddedFont>
    <p:embeddedFont>
      <p:font typeface="Poppins Ultra-Bold" charset="1" panose="000009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92155" y="2783759"/>
            <a:ext cx="7924516" cy="3723568"/>
          </a:xfrm>
          <a:custGeom>
            <a:avLst/>
            <a:gdLst/>
            <a:ahLst/>
            <a:cxnLst/>
            <a:rect r="r" b="b" t="t" l="l"/>
            <a:pathLst>
              <a:path h="3723568" w="7924516">
                <a:moveTo>
                  <a:pt x="0" y="0"/>
                </a:moveTo>
                <a:lnTo>
                  <a:pt x="7924515" y="0"/>
                </a:lnTo>
                <a:lnTo>
                  <a:pt x="7924515" y="3723567"/>
                </a:lnTo>
                <a:lnTo>
                  <a:pt x="0" y="3723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60779" y="9998589"/>
            <a:ext cx="28414597" cy="2238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224"/>
              </a:lnSpc>
              <a:spcBef>
                <a:spcPct val="0"/>
              </a:spcBef>
            </a:pPr>
            <a:r>
              <a:rPr lang="en-US" b="true" sz="13017" spc="-260" strike="noStrike" u="none">
                <a:solidFill>
                  <a:srgbClr val="0A2E5C"/>
                </a:solidFill>
                <a:latin typeface="Aileron Bold"/>
                <a:ea typeface="Aileron Bold"/>
                <a:cs typeface="Aileron Bold"/>
                <a:sym typeface="Aileron Bold"/>
              </a:rPr>
              <a:t>Financial </a:t>
            </a:r>
            <a:r>
              <a:rPr lang="en-US" b="true" sz="13017" spc="-260" strike="noStrike" u="none">
                <a:solidFill>
                  <a:srgbClr val="0A2E5C"/>
                </a:solidFill>
                <a:latin typeface="Aileron Bold"/>
                <a:ea typeface="Aileron Bold"/>
                <a:cs typeface="Aileron Bold"/>
                <a:sym typeface="Aileron Bold"/>
              </a:rPr>
              <a:t>&amp; Infras</a:t>
            </a:r>
            <a:r>
              <a:rPr lang="en-US" b="true" sz="13017" spc="-260" strike="noStrike" u="none">
                <a:solidFill>
                  <a:srgbClr val="0A2E5C"/>
                </a:solidFill>
                <a:latin typeface="Aileron Bold"/>
                <a:ea typeface="Aileron Bold"/>
                <a:cs typeface="Aileron Bold"/>
                <a:sym typeface="Aileron Bold"/>
              </a:rPr>
              <a:t>t</a:t>
            </a:r>
            <a:r>
              <a:rPr lang="en-US" b="true" sz="13017" spc="-260" strike="noStrike" u="none">
                <a:solidFill>
                  <a:srgbClr val="0A2E5C"/>
                </a:solidFill>
                <a:latin typeface="Aileron Bold"/>
                <a:ea typeface="Aileron Bold"/>
                <a:cs typeface="Aileron Bold"/>
                <a:sym typeface="Aileron Bold"/>
              </a:rPr>
              <a:t>ruc</a:t>
            </a:r>
            <a:r>
              <a:rPr lang="en-US" b="true" sz="13017" spc="-260" strike="noStrike" u="none">
                <a:solidFill>
                  <a:srgbClr val="0A2E5C"/>
                </a:solidFill>
                <a:latin typeface="Aileron Bold"/>
                <a:ea typeface="Aileron Bold"/>
                <a:cs typeface="Aileron Bold"/>
                <a:sym typeface="Aileron Bold"/>
              </a:rPr>
              <a:t>tu</a:t>
            </a:r>
            <a:r>
              <a:rPr lang="en-US" b="true" sz="13017" spc="-260" strike="noStrike" u="none">
                <a:solidFill>
                  <a:srgbClr val="0A2E5C"/>
                </a:solidFill>
                <a:latin typeface="Aileron Bold"/>
                <a:ea typeface="Aileron Bold"/>
                <a:cs typeface="Aileron Bold"/>
                <a:sym typeface="Aileron Bold"/>
              </a:rPr>
              <a:t>re</a:t>
            </a:r>
            <a:r>
              <a:rPr lang="en-US" b="true" sz="13017" spc="-260" strike="noStrike" u="none">
                <a:solidFill>
                  <a:srgbClr val="0A2E5C"/>
                </a:solidFill>
                <a:latin typeface="Aileron Bold"/>
                <a:ea typeface="Aileron Bold"/>
                <a:cs typeface="Aileron Bold"/>
                <a:sym typeface="Aileron Bold"/>
              </a:rPr>
              <a:t> Report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17510" y="7775473"/>
            <a:ext cx="10073806" cy="1642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486"/>
              </a:lnSpc>
              <a:spcBef>
                <a:spcPct val="0"/>
              </a:spcBef>
            </a:pPr>
            <a:r>
              <a:rPr lang="en-US" b="true" sz="9633" strike="noStrike" u="none">
                <a:solidFill>
                  <a:srgbClr val="139FC4"/>
                </a:solidFill>
                <a:latin typeface="Aileron Bold"/>
                <a:ea typeface="Aileron Bold"/>
                <a:cs typeface="Aileron Bold"/>
                <a:sym typeface="Aileron Bold"/>
              </a:rPr>
              <a:t>VIDYA</a:t>
            </a:r>
            <a:r>
              <a:rPr lang="en-US" b="true" sz="9633" strike="noStrike" u="none">
                <a:solidFill>
                  <a:srgbClr val="034D39"/>
                </a:solidFill>
                <a:latin typeface="Aileron Bold"/>
                <a:ea typeface="Aileron Bold"/>
                <a:cs typeface="Aileron Bold"/>
                <a:sym typeface="Aileron Bold"/>
              </a:rPr>
              <a:t>.IITG.AC.IN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60779" y="12418637"/>
            <a:ext cx="28414597" cy="209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52"/>
              </a:lnSpc>
              <a:spcBef>
                <a:spcPct val="0"/>
              </a:spcBef>
            </a:pPr>
            <a:r>
              <a:rPr lang="en-US" sz="5966" strike="noStrike" u="none">
                <a:solidFill>
                  <a:srgbClr val="435972"/>
                </a:solidFill>
                <a:latin typeface="Aileron"/>
                <a:ea typeface="Aileron"/>
                <a:cs typeface="Aileron"/>
                <a:sym typeface="Aileron"/>
              </a:rPr>
              <a:t>Expenditure</a:t>
            </a:r>
            <a:r>
              <a:rPr lang="en-US" sz="5966" strike="noStrike" u="none">
                <a:solidFill>
                  <a:srgbClr val="435972"/>
                </a:solidFill>
                <a:latin typeface="Aileron"/>
                <a:ea typeface="Aileron"/>
                <a:cs typeface="Aileron"/>
                <a:sym typeface="Aileron"/>
              </a:rPr>
              <a:t>,</a:t>
            </a:r>
            <a:r>
              <a:rPr lang="en-US" sz="5966" strike="noStrike" u="none">
                <a:solidFill>
                  <a:srgbClr val="435972"/>
                </a:solidFill>
                <a:latin typeface="Aileron"/>
                <a:ea typeface="Aileron"/>
                <a:cs typeface="Aileron"/>
                <a:sym typeface="Aileron"/>
              </a:rPr>
              <a:t> Revenue Analysis</a:t>
            </a:r>
            <a:r>
              <a:rPr lang="en-US" sz="5966" strike="noStrike" u="none">
                <a:solidFill>
                  <a:srgbClr val="435972"/>
                </a:solidFill>
                <a:latin typeface="Aileron"/>
                <a:ea typeface="Aileron"/>
                <a:cs typeface="Aileron"/>
                <a:sym typeface="Aileron"/>
              </a:rPr>
              <a:t>, and Scaling Requirements</a:t>
            </a:r>
            <a:r>
              <a:rPr lang="en-US" sz="5966" strike="noStrike" u="none">
                <a:solidFill>
                  <a:srgbClr val="435972"/>
                </a:solidFill>
                <a:latin typeface="Aileron"/>
                <a:ea typeface="Aileron"/>
                <a:cs typeface="Aileron"/>
                <a:sym typeface="Aileron"/>
              </a:rPr>
              <a:t> (Aug 2024 </a:t>
            </a:r>
            <a:r>
              <a:rPr lang="en-US" sz="5966" strike="noStrike" u="none">
                <a:solidFill>
                  <a:srgbClr val="435972"/>
                </a:solidFill>
                <a:latin typeface="Aileron"/>
                <a:ea typeface="Aileron"/>
                <a:cs typeface="Aileron"/>
                <a:sym typeface="Aileron"/>
              </a:rPr>
              <a:t>-</a:t>
            </a:r>
            <a:r>
              <a:rPr lang="en-US" sz="5966" strike="noStrike" u="none">
                <a:solidFill>
                  <a:srgbClr val="435972"/>
                </a:solidFill>
                <a:latin typeface="Aileron"/>
                <a:ea typeface="Aileron"/>
                <a:cs typeface="Aileron"/>
                <a:sym typeface="Aileron"/>
              </a:rPr>
              <a:t> Jun 2026)</a:t>
            </a:r>
          </a:p>
          <a:p>
            <a:pPr algn="l" marL="0" indent="0" lvl="0">
              <a:lnSpc>
                <a:spcPts val="8352"/>
              </a:lnSpc>
              <a:spcBef>
                <a:spcPct val="0"/>
              </a:spcBef>
            </a:pPr>
            <a:r>
              <a:rPr lang="en-US" sz="5966" strike="noStrike" u="none">
                <a:solidFill>
                  <a:srgbClr val="435972"/>
                </a:solidFill>
                <a:latin typeface="Aileron"/>
                <a:ea typeface="Aileron"/>
                <a:cs typeface="Aileron"/>
                <a:sym typeface="Aileron"/>
              </a:rPr>
              <a:t>for Vidya.iitg.ac.in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329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329">
                  <a:moveTo>
                    <a:pt x="0" y="0"/>
                  </a:moveTo>
                  <a:lnTo>
                    <a:pt x="43349329" y="0"/>
                  </a:lnTo>
                  <a:lnTo>
                    <a:pt x="43349329" y="24384000"/>
                  </a:lnTo>
                  <a:lnTo>
                    <a:pt x="0" y="2438400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8064" y="1680120"/>
            <a:ext cx="9558527" cy="105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37"/>
              </a:lnSpc>
              <a:spcBef>
                <a:spcPct val="0"/>
              </a:spcBef>
            </a:pPr>
            <a:r>
              <a:rPr lang="en-US" b="true" sz="7937" strike="noStrike" u="none">
                <a:solidFill>
                  <a:srgbClr val="0F1A30"/>
                </a:solidFill>
                <a:latin typeface="Aileron Bold"/>
                <a:ea typeface="Aileron Bold"/>
                <a:cs typeface="Aileron Bold"/>
                <a:sym typeface="Aileron Bold"/>
              </a:rPr>
              <a:t>Executive Summary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55700" y="3771900"/>
            <a:ext cx="29819597" cy="381000"/>
            <a:chOff x="0" y="0"/>
            <a:chExt cx="39759463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759461" cy="508000"/>
            </a:xfrm>
            <a:custGeom>
              <a:avLst/>
              <a:gdLst/>
              <a:ahLst/>
              <a:cxnLst/>
              <a:rect r="r" b="b" t="t" l="l"/>
              <a:pathLst>
                <a:path h="508000" w="39759461">
                  <a:moveTo>
                    <a:pt x="0" y="0"/>
                  </a:moveTo>
                  <a:lnTo>
                    <a:pt x="39759461" y="0"/>
                  </a:lnTo>
                  <a:lnTo>
                    <a:pt x="39759461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55700" y="5334000"/>
            <a:ext cx="9690099" cy="7239000"/>
            <a:chOff x="0" y="0"/>
            <a:chExt cx="12920132" cy="9652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20132" cy="9652000"/>
            </a:xfrm>
            <a:custGeom>
              <a:avLst/>
              <a:gdLst/>
              <a:ahLst/>
              <a:cxnLst/>
              <a:rect r="r" b="b" t="t" l="l"/>
              <a:pathLst>
                <a:path h="9652000" w="12920132">
                  <a:moveTo>
                    <a:pt x="0" y="0"/>
                  </a:moveTo>
                  <a:lnTo>
                    <a:pt x="12920132" y="0"/>
                  </a:lnTo>
                  <a:lnTo>
                    <a:pt x="12920132" y="9652000"/>
                  </a:lnTo>
                  <a:lnTo>
                    <a:pt x="0" y="965200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10199" y="6858000"/>
            <a:ext cx="1562100" cy="1143000"/>
            <a:chOff x="0" y="0"/>
            <a:chExt cx="2082800" cy="152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82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082800">
                  <a:moveTo>
                    <a:pt x="0" y="0"/>
                  </a:moveTo>
                  <a:lnTo>
                    <a:pt x="2082800" y="0"/>
                  </a:lnTo>
                  <a:lnTo>
                    <a:pt x="20828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478784" y="8725719"/>
            <a:ext cx="5266943" cy="162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285"/>
              </a:lnSpc>
              <a:spcBef>
                <a:spcPct val="0"/>
              </a:spcBef>
            </a:pPr>
            <a:r>
              <a:rPr lang="en-US" b="true" sz="12285" strike="noStrike" u="none">
                <a:solidFill>
                  <a:srgbClr val="0F8D74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₹5.24L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31008" y="10594128"/>
            <a:ext cx="6697471" cy="590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6"/>
              </a:lnSpc>
              <a:spcBef>
                <a:spcPct val="0"/>
              </a:spcBef>
            </a:pPr>
            <a:r>
              <a:rPr lang="en-US" b="true" sz="4486" strike="noStrike" u="none">
                <a:solidFill>
                  <a:srgbClr val="435972"/>
                </a:solidFill>
                <a:latin typeface="Aileron Bold"/>
                <a:ea typeface="Aileron Bold"/>
                <a:cs typeface="Aileron Bold"/>
                <a:sym typeface="Aileron Bold"/>
              </a:rPr>
              <a:t>Total Earnings (TIH-IITG)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607799" y="5334000"/>
            <a:ext cx="9296399" cy="7239000"/>
            <a:chOff x="0" y="0"/>
            <a:chExt cx="12395199" cy="9652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395198" cy="9652000"/>
            </a:xfrm>
            <a:custGeom>
              <a:avLst/>
              <a:gdLst/>
              <a:ahLst/>
              <a:cxnLst/>
              <a:rect r="r" b="b" t="t" l="l"/>
              <a:pathLst>
                <a:path h="9652000" w="12395198">
                  <a:moveTo>
                    <a:pt x="0" y="0"/>
                  </a:moveTo>
                  <a:lnTo>
                    <a:pt x="12395198" y="0"/>
                  </a:lnTo>
                  <a:lnTo>
                    <a:pt x="12395198" y="9652000"/>
                  </a:lnTo>
                  <a:lnTo>
                    <a:pt x="0" y="965200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481298" y="6858000"/>
            <a:ext cx="1549400" cy="1143000"/>
            <a:chOff x="0" y="0"/>
            <a:chExt cx="2065866" cy="1524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5867" cy="1524000"/>
            </a:xfrm>
            <a:custGeom>
              <a:avLst/>
              <a:gdLst/>
              <a:ahLst/>
              <a:cxnLst/>
              <a:rect r="r" b="b" t="t" l="l"/>
              <a:pathLst>
                <a:path h="1524000" w="2065867">
                  <a:moveTo>
                    <a:pt x="0" y="0"/>
                  </a:moveTo>
                  <a:lnTo>
                    <a:pt x="2065867" y="0"/>
                  </a:lnTo>
                  <a:lnTo>
                    <a:pt x="2065867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459967" y="8688567"/>
            <a:ext cx="5592063" cy="169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710"/>
              </a:lnSpc>
              <a:spcBef>
                <a:spcPct val="0"/>
              </a:spcBef>
            </a:pPr>
            <a:r>
              <a:rPr lang="en-US" b="true" sz="12710" strike="noStrike" u="none">
                <a:solidFill>
                  <a:srgbClr val="E52457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₹86.5K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27455" y="10577652"/>
            <a:ext cx="5657087" cy="610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33"/>
              </a:lnSpc>
              <a:spcBef>
                <a:spcPct val="0"/>
              </a:spcBef>
            </a:pPr>
            <a:r>
              <a:rPr lang="en-US" b="true" sz="4533" strike="noStrike" u="none">
                <a:solidFill>
                  <a:srgbClr val="435972"/>
                </a:solidFill>
                <a:latin typeface="Aileron Bold"/>
                <a:ea typeface="Aileron Bold"/>
                <a:cs typeface="Aileron Bold"/>
                <a:sym typeface="Aileron Bold"/>
              </a:rPr>
              <a:t>Total Operating Cost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1666198" y="5334000"/>
            <a:ext cx="9309099" cy="7239000"/>
            <a:chOff x="0" y="0"/>
            <a:chExt cx="12412132" cy="9652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412132" cy="9652000"/>
            </a:xfrm>
            <a:custGeom>
              <a:avLst/>
              <a:gdLst/>
              <a:ahLst/>
              <a:cxnLst/>
              <a:rect r="r" b="b" t="t" l="l"/>
              <a:pathLst>
                <a:path h="9652000" w="12412132">
                  <a:moveTo>
                    <a:pt x="0" y="0"/>
                  </a:moveTo>
                  <a:lnTo>
                    <a:pt x="12412132" y="0"/>
                  </a:lnTo>
                  <a:lnTo>
                    <a:pt x="12412132" y="9652000"/>
                  </a:lnTo>
                  <a:lnTo>
                    <a:pt x="0" y="965200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5539698" y="6858000"/>
            <a:ext cx="1562100" cy="1143000"/>
            <a:chOff x="0" y="0"/>
            <a:chExt cx="2082800" cy="152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828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082800">
                  <a:moveTo>
                    <a:pt x="0" y="0"/>
                  </a:moveTo>
                  <a:lnTo>
                    <a:pt x="2082800" y="0"/>
                  </a:lnTo>
                  <a:lnTo>
                    <a:pt x="20828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3766270" y="8725719"/>
            <a:ext cx="5266943" cy="1626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285"/>
              </a:lnSpc>
              <a:spcBef>
                <a:spcPct val="0"/>
              </a:spcBef>
            </a:pPr>
            <a:r>
              <a:rPr lang="en-US" b="true" sz="12285" strike="noStrike" u="none">
                <a:solidFill>
                  <a:srgbClr val="2271FF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₹4.38L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311102" y="10594128"/>
            <a:ext cx="6177279" cy="590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6"/>
              </a:lnSpc>
              <a:spcBef>
                <a:spcPct val="0"/>
              </a:spcBef>
            </a:pPr>
            <a:r>
              <a:rPr lang="en-US" b="true" sz="4486" strike="noStrike" u="none">
                <a:solidFill>
                  <a:srgbClr val="435972"/>
                </a:solidFill>
                <a:latin typeface="Aileron Bold"/>
                <a:ea typeface="Aileron Bold"/>
                <a:cs typeface="Aileron Bold"/>
                <a:sym typeface="Aileron Bold"/>
              </a:rPr>
              <a:t>Net Surplus Generated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79154" y="13640580"/>
            <a:ext cx="28150517" cy="202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34"/>
              </a:lnSpc>
              <a:spcBef>
                <a:spcPct val="0"/>
              </a:spcBef>
            </a:pPr>
            <a:r>
              <a:rPr lang="en-US" b="true" sz="5810" strike="noStrike" u="none">
                <a:solidFill>
                  <a:srgbClr val="435972"/>
                </a:solidFill>
                <a:latin typeface="Nunito Bold"/>
                <a:ea typeface="Nunito Bold"/>
                <a:cs typeface="Nunito Bold"/>
                <a:sym typeface="Nunito Bold"/>
              </a:rPr>
              <a:t>The portal has proven to be a potential self-sustaining asset, generating roughly</a:t>
            </a:r>
          </a:p>
          <a:p>
            <a:pPr algn="ctr" marL="0" indent="0" lvl="0">
              <a:lnSpc>
                <a:spcPts val="8134"/>
              </a:lnSpc>
              <a:spcBef>
                <a:spcPct val="0"/>
              </a:spcBef>
            </a:pPr>
            <a:r>
              <a:rPr lang="en-US" b="true" sz="5810" strike="noStrike" u="none">
                <a:solidFill>
                  <a:srgbClr val="2271FF"/>
                </a:solidFill>
                <a:latin typeface="Nunito Bold"/>
                <a:ea typeface="Nunito Bold"/>
                <a:cs typeface="Nunito Bold"/>
                <a:sym typeface="Nunito Bold"/>
              </a:rPr>
              <a:t>six times</a:t>
            </a:r>
            <a:r>
              <a:rPr lang="en-US" b="true" sz="5810" strike="noStrike" u="none">
                <a:solidFill>
                  <a:srgbClr val="435972"/>
                </a:solidFill>
                <a:latin typeface="Nunito Bold"/>
                <a:ea typeface="Nunito Bold"/>
                <a:cs typeface="Nunito Bold"/>
                <a:sym typeface="Nunito Bold"/>
              </a:rPr>
              <a:t> its total operating and capital cost in revenue.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05000" y="1133475"/>
            <a:ext cx="152400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0A2E5C"/>
                </a:solidFill>
                <a:latin typeface="Aileron Bold"/>
                <a:ea typeface="Aileron Bold"/>
                <a:cs typeface="Aileron Bold"/>
                <a:sym typeface="Aileron Bold"/>
              </a:rPr>
              <a:t>Revenue Generation Breakdown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05000" y="2474434"/>
            <a:ext cx="1524000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Batch-wise earnings from TIH-IITG portal operations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05000" y="4292375"/>
            <a:ext cx="28775025" cy="11512141"/>
            <a:chOff x="0" y="0"/>
            <a:chExt cx="38366700" cy="1534952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8366700" cy="2310681"/>
              <a:chOff x="0" y="0"/>
              <a:chExt cx="29522035" cy="1778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9522034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29522034">
                    <a:moveTo>
                      <a:pt x="137175" y="0"/>
                    </a:moveTo>
                    <a:lnTo>
                      <a:pt x="29384861" y="0"/>
                    </a:lnTo>
                    <a:cubicBezTo>
                      <a:pt x="29460620" y="0"/>
                      <a:pt x="29522034" y="79604"/>
                      <a:pt x="29522034" y="177800"/>
                    </a:cubicBezTo>
                    <a:lnTo>
                      <a:pt x="29522034" y="1600200"/>
                    </a:lnTo>
                    <a:cubicBezTo>
                      <a:pt x="29522034" y="1698396"/>
                      <a:pt x="29460620" y="1778000"/>
                      <a:pt x="29384861" y="1778000"/>
                    </a:cubicBezTo>
                    <a:lnTo>
                      <a:pt x="137175" y="1778000"/>
                    </a:lnTo>
                    <a:cubicBezTo>
                      <a:pt x="61415" y="1778000"/>
                      <a:pt x="0" y="1698396"/>
                      <a:pt x="0" y="1600200"/>
                    </a:cubicBezTo>
                    <a:lnTo>
                      <a:pt x="0" y="177800"/>
                    </a:lnTo>
                    <a:cubicBezTo>
                      <a:pt x="0" y="79604"/>
                      <a:pt x="61415" y="0"/>
                      <a:pt x="137175" y="0"/>
                    </a:cubicBezTo>
                    <a:close/>
                  </a:path>
                </a:pathLst>
              </a:custGeom>
              <a:solidFill>
                <a:srgbClr val="0A2E5C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9522035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09349" y="571924"/>
              <a:ext cx="8085913" cy="1052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49"/>
                </a:lnSpc>
                <a:spcBef>
                  <a:spcPct val="0"/>
                </a:spcBef>
              </a:pPr>
              <a:r>
                <a:rPr lang="en-US" b="true" sz="4678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Batch / Cohort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9359285" y="571924"/>
              <a:ext cx="8085913" cy="1052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549"/>
                </a:lnSpc>
                <a:spcBef>
                  <a:spcPct val="0"/>
                </a:spcBef>
              </a:pPr>
              <a:r>
                <a:rPr lang="en-US" b="true" sz="4678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Duration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8069149" y="571924"/>
              <a:ext cx="5131689" cy="1052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549"/>
                </a:lnSpc>
                <a:spcBef>
                  <a:spcPct val="0"/>
                </a:spcBef>
              </a:pPr>
              <a:r>
                <a:rPr lang="en-US" b="true" sz="4678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Students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23964862" y="571924"/>
              <a:ext cx="5131689" cy="1052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549"/>
                </a:lnSpc>
                <a:spcBef>
                  <a:spcPct val="0"/>
                </a:spcBef>
              </a:pPr>
              <a:r>
                <a:rPr lang="en-US" b="true" sz="4678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Base Fee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9745971" y="571924"/>
              <a:ext cx="8111380" cy="1052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6549"/>
                </a:lnSpc>
                <a:spcBef>
                  <a:spcPct val="0"/>
                </a:spcBef>
              </a:pPr>
              <a:r>
                <a:rPr lang="en-US" b="true" sz="4678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Earnings (INR)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0" y="2310681"/>
              <a:ext cx="38366700" cy="2145632"/>
              <a:chOff x="0" y="0"/>
              <a:chExt cx="29522035" cy="1651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9522034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29522034">
                    <a:moveTo>
                      <a:pt x="0" y="0"/>
                    </a:moveTo>
                    <a:lnTo>
                      <a:pt x="29522034" y="0"/>
                    </a:lnTo>
                    <a:lnTo>
                      <a:pt x="29522034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9522035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16" id="16"/>
            <p:cNvSpPr/>
            <p:nvPr/>
          </p:nvSpPr>
          <p:spPr>
            <a:xfrm>
              <a:off x="0" y="4456313"/>
              <a:ext cx="38366700" cy="0"/>
            </a:xfrm>
            <a:prstGeom prst="line">
              <a:avLst/>
            </a:prstGeom>
            <a:ln cap="flat" w="25400">
              <a:solidFill>
                <a:srgbClr val="E2E8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509349" y="2852140"/>
              <a:ext cx="8085913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Pilot Batch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9359285" y="2852140"/>
              <a:ext cx="8085913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Aug – Oct 2025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8069149" y="2852140"/>
              <a:ext cx="5131689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25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3964862" y="2852140"/>
              <a:ext cx="5131689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₹2,500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9745971" y="2852140"/>
              <a:ext cx="8111380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b="true" sz="4418" strike="noStrike" u="none">
                  <a:solidFill>
                    <a:srgbClr val="0A2E5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₹62,500</a:t>
              </a:r>
            </a:p>
          </p:txBody>
        </p:sp>
        <p:grpSp>
          <p:nvGrpSpPr>
            <p:cNvPr name="Group 22" id="22"/>
            <p:cNvGrpSpPr/>
            <p:nvPr/>
          </p:nvGrpSpPr>
          <p:grpSpPr>
            <a:xfrm rot="0">
              <a:off x="0" y="4456313"/>
              <a:ext cx="38366700" cy="2145632"/>
              <a:chOff x="0" y="0"/>
              <a:chExt cx="29522035" cy="1651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9522034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29522034">
                    <a:moveTo>
                      <a:pt x="0" y="0"/>
                    </a:moveTo>
                    <a:lnTo>
                      <a:pt x="29522034" y="0"/>
                    </a:lnTo>
                    <a:lnTo>
                      <a:pt x="29522034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1F5F9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9522035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25" id="25"/>
            <p:cNvSpPr/>
            <p:nvPr/>
          </p:nvSpPr>
          <p:spPr>
            <a:xfrm>
              <a:off x="0" y="6601944"/>
              <a:ext cx="38366700" cy="0"/>
            </a:xfrm>
            <a:prstGeom prst="line">
              <a:avLst/>
            </a:prstGeom>
            <a:ln cap="flat" w="25400">
              <a:solidFill>
                <a:srgbClr val="E2E8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6" id="26"/>
            <p:cNvSpPr txBox="true"/>
            <p:nvPr/>
          </p:nvSpPr>
          <p:spPr>
            <a:xfrm rot="0">
              <a:off x="509349" y="4997772"/>
              <a:ext cx="8085913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Cohort 1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9359285" y="4997772"/>
              <a:ext cx="8085913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Oct – Dec 2025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8069149" y="4997772"/>
              <a:ext cx="5131689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42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3964862" y="4997772"/>
              <a:ext cx="5131689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₹3,000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9745971" y="4997772"/>
              <a:ext cx="8111380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b="true" sz="4418" strike="noStrike" u="none">
                  <a:solidFill>
                    <a:srgbClr val="0A2E5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₹1,26,000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0" y="6601944"/>
              <a:ext cx="38366700" cy="2145632"/>
              <a:chOff x="0" y="0"/>
              <a:chExt cx="29522035" cy="1651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9522034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29522034">
                    <a:moveTo>
                      <a:pt x="0" y="0"/>
                    </a:moveTo>
                    <a:lnTo>
                      <a:pt x="29522034" y="0"/>
                    </a:lnTo>
                    <a:lnTo>
                      <a:pt x="29522034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29522035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34" id="34"/>
            <p:cNvSpPr/>
            <p:nvPr/>
          </p:nvSpPr>
          <p:spPr>
            <a:xfrm>
              <a:off x="0" y="8747576"/>
              <a:ext cx="38366700" cy="0"/>
            </a:xfrm>
            <a:prstGeom prst="line">
              <a:avLst/>
            </a:prstGeom>
            <a:ln cap="flat" w="25400">
              <a:solidFill>
                <a:srgbClr val="E2E8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5" id="35"/>
            <p:cNvSpPr txBox="true"/>
            <p:nvPr/>
          </p:nvSpPr>
          <p:spPr>
            <a:xfrm rot="0">
              <a:off x="509349" y="7143404"/>
              <a:ext cx="8085913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Cohort 2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9359285" y="7143404"/>
              <a:ext cx="8085913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Nov 2025 – Jan 2026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8069149" y="7143404"/>
              <a:ext cx="5131689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23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3964862" y="7143404"/>
              <a:ext cx="5131689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₹3,000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29745971" y="7143404"/>
              <a:ext cx="8111380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b="true" sz="4418" strike="noStrike" u="none">
                  <a:solidFill>
                    <a:srgbClr val="0A2E5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₹69,000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0" y="8747576"/>
              <a:ext cx="38366700" cy="2145632"/>
              <a:chOff x="0" y="0"/>
              <a:chExt cx="29522035" cy="1651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29522034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29522034">
                    <a:moveTo>
                      <a:pt x="0" y="0"/>
                    </a:moveTo>
                    <a:lnTo>
                      <a:pt x="29522034" y="0"/>
                    </a:lnTo>
                    <a:lnTo>
                      <a:pt x="29522034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1F5F9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29522035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43" id="43"/>
            <p:cNvSpPr/>
            <p:nvPr/>
          </p:nvSpPr>
          <p:spPr>
            <a:xfrm>
              <a:off x="0" y="10893208"/>
              <a:ext cx="38366700" cy="0"/>
            </a:xfrm>
            <a:prstGeom prst="line">
              <a:avLst/>
            </a:prstGeom>
            <a:ln cap="flat" w="25400">
              <a:solidFill>
                <a:srgbClr val="E2E8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4" id="44"/>
            <p:cNvSpPr txBox="true"/>
            <p:nvPr/>
          </p:nvSpPr>
          <p:spPr>
            <a:xfrm rot="0">
              <a:off x="509349" y="9289036"/>
              <a:ext cx="8085913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Cohort 3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9359285" y="9289036"/>
              <a:ext cx="8085913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Jan – Mar 2026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8069149" y="9289036"/>
              <a:ext cx="5131689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11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23964862" y="9289036"/>
              <a:ext cx="5131689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₹3,000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9745971" y="9289036"/>
              <a:ext cx="8111380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b="true" sz="4418" strike="noStrike" u="none">
                  <a:solidFill>
                    <a:srgbClr val="0A2E5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₹33,000</a:t>
              </a:r>
            </a:p>
          </p:txBody>
        </p:sp>
        <p:grpSp>
          <p:nvGrpSpPr>
            <p:cNvPr name="Group 49" id="49"/>
            <p:cNvGrpSpPr/>
            <p:nvPr/>
          </p:nvGrpSpPr>
          <p:grpSpPr>
            <a:xfrm rot="0">
              <a:off x="0" y="10893208"/>
              <a:ext cx="38366700" cy="2145632"/>
              <a:chOff x="0" y="0"/>
              <a:chExt cx="29522035" cy="16510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29522034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29522034">
                    <a:moveTo>
                      <a:pt x="0" y="0"/>
                    </a:moveTo>
                    <a:lnTo>
                      <a:pt x="29522034" y="0"/>
                    </a:lnTo>
                    <a:lnTo>
                      <a:pt x="29522034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29522035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AutoShape 52" id="52"/>
            <p:cNvSpPr/>
            <p:nvPr/>
          </p:nvSpPr>
          <p:spPr>
            <a:xfrm>
              <a:off x="0" y="13038840"/>
              <a:ext cx="38366700" cy="0"/>
            </a:xfrm>
            <a:prstGeom prst="line">
              <a:avLst/>
            </a:prstGeom>
            <a:ln cap="flat" w="25400">
              <a:solidFill>
                <a:srgbClr val="E2E8F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3" id="53"/>
            <p:cNvSpPr txBox="true"/>
            <p:nvPr/>
          </p:nvSpPr>
          <p:spPr>
            <a:xfrm rot="0">
              <a:off x="509349" y="11434668"/>
              <a:ext cx="8085913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Cohort 4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9359285" y="11434668"/>
              <a:ext cx="8085913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Jun – Aug 2026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18069149" y="11434668"/>
              <a:ext cx="5131689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78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23964862" y="11434668"/>
              <a:ext cx="5131689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sz="4418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₹3,000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29745971" y="11434668"/>
              <a:ext cx="8111380" cy="97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6186"/>
                </a:lnSpc>
                <a:spcBef>
                  <a:spcPct val="0"/>
                </a:spcBef>
              </a:pPr>
              <a:r>
                <a:rPr lang="en-US" b="true" sz="4418" strike="noStrike" u="none">
                  <a:solidFill>
                    <a:srgbClr val="0A2E5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₹2,34,000</a:t>
              </a:r>
            </a:p>
          </p:txBody>
        </p:sp>
        <p:grpSp>
          <p:nvGrpSpPr>
            <p:cNvPr name="Group 58" id="58"/>
            <p:cNvGrpSpPr/>
            <p:nvPr/>
          </p:nvGrpSpPr>
          <p:grpSpPr>
            <a:xfrm rot="0">
              <a:off x="0" y="13038840"/>
              <a:ext cx="38366700" cy="2310681"/>
              <a:chOff x="0" y="0"/>
              <a:chExt cx="29522035" cy="17780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29522034" cy="1778000"/>
              </a:xfrm>
              <a:custGeom>
                <a:avLst/>
                <a:gdLst/>
                <a:ahLst/>
                <a:cxnLst/>
                <a:rect r="r" b="b" t="t" l="l"/>
                <a:pathLst>
                  <a:path h="1778000" w="29522034">
                    <a:moveTo>
                      <a:pt x="0" y="0"/>
                    </a:moveTo>
                    <a:lnTo>
                      <a:pt x="29522034" y="0"/>
                    </a:lnTo>
                    <a:lnTo>
                      <a:pt x="29522034" y="1778000"/>
                    </a:lnTo>
                    <a:lnTo>
                      <a:pt x="0" y="1778000"/>
                    </a:lnTo>
                    <a:close/>
                  </a:path>
                </a:pathLst>
              </a:custGeom>
              <a:solidFill>
                <a:srgbClr val="E6F7F5"/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38100"/>
                <a:ext cx="29522035" cy="181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509349" y="13594260"/>
              <a:ext cx="8085913" cy="10928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13"/>
                </a:lnSpc>
                <a:spcBef>
                  <a:spcPct val="0"/>
                </a:spcBef>
              </a:pPr>
              <a:r>
                <a:rPr lang="en-US" b="true" sz="4938" strike="noStrike" u="none">
                  <a:solidFill>
                    <a:srgbClr val="0A2E5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Grand Total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18069149" y="13594260"/>
              <a:ext cx="5131689" cy="10928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913"/>
                </a:lnSpc>
                <a:spcBef>
                  <a:spcPct val="0"/>
                </a:spcBef>
              </a:pPr>
              <a:r>
                <a:rPr lang="en-US" b="true" sz="4938" strike="noStrike" u="none">
                  <a:solidFill>
                    <a:srgbClr val="0A2E5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179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29745971" y="13594260"/>
              <a:ext cx="8111380" cy="10928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 marL="0" indent="0" lvl="0">
                <a:lnSpc>
                  <a:spcPts val="6913"/>
                </a:lnSpc>
                <a:spcBef>
                  <a:spcPct val="0"/>
                </a:spcBef>
              </a:pPr>
              <a:r>
                <a:rPr lang="en-US" b="true" sz="4938" strike="noStrike" u="none">
                  <a:solidFill>
                    <a:srgbClr val="0D948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₹5,24,500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329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329">
                  <a:moveTo>
                    <a:pt x="0" y="0"/>
                  </a:moveTo>
                  <a:lnTo>
                    <a:pt x="43349329" y="0"/>
                  </a:lnTo>
                  <a:lnTo>
                    <a:pt x="43349329" y="24384000"/>
                  </a:lnTo>
                  <a:lnTo>
                    <a:pt x="0" y="2438400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28064" y="1694621"/>
            <a:ext cx="16776190" cy="103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95"/>
              </a:lnSpc>
              <a:spcBef>
                <a:spcPct val="0"/>
              </a:spcBef>
            </a:pPr>
            <a:r>
              <a:rPr lang="en-US" b="true" sz="7795" strike="noStrike" u="none">
                <a:solidFill>
                  <a:srgbClr val="0E1736"/>
                </a:solidFill>
                <a:latin typeface="Aileron Bold"/>
                <a:ea typeface="Aileron Bold"/>
                <a:cs typeface="Aileron Bold"/>
                <a:sym typeface="Aileron Bold"/>
              </a:rPr>
              <a:t>Operating Expenditure by Category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55700" y="3048000"/>
            <a:ext cx="29819597" cy="381000"/>
            <a:chOff x="0" y="0"/>
            <a:chExt cx="39759463" cy="50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759461" cy="508000"/>
            </a:xfrm>
            <a:custGeom>
              <a:avLst/>
              <a:gdLst/>
              <a:ahLst/>
              <a:cxnLst/>
              <a:rect r="r" b="b" t="t" l="l"/>
              <a:pathLst>
                <a:path h="508000" w="39759461">
                  <a:moveTo>
                    <a:pt x="0" y="0"/>
                  </a:moveTo>
                  <a:lnTo>
                    <a:pt x="39759461" y="0"/>
                  </a:lnTo>
                  <a:lnTo>
                    <a:pt x="39759461" y="508000"/>
                  </a:lnTo>
                  <a:lnTo>
                    <a:pt x="0" y="50800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479800" y="5334000"/>
            <a:ext cx="10464799" cy="10287000"/>
            <a:chOff x="0" y="0"/>
            <a:chExt cx="13953065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95306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953065">
                  <a:moveTo>
                    <a:pt x="0" y="0"/>
                  </a:moveTo>
                  <a:lnTo>
                    <a:pt x="13953065" y="0"/>
                  </a:lnTo>
                  <a:lnTo>
                    <a:pt x="13953065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795007" y="10010084"/>
            <a:ext cx="3641344" cy="106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84"/>
              </a:lnSpc>
              <a:spcBef>
                <a:spcPct val="0"/>
              </a:spcBef>
            </a:pPr>
            <a:r>
              <a:rPr lang="en-US" b="true" sz="7984" strike="noStrike" u="none">
                <a:solidFill>
                  <a:srgbClr val="0E1736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₹86.5K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710883" y="7920449"/>
            <a:ext cx="821899" cy="1212639"/>
            <a:chOff x="0" y="0"/>
            <a:chExt cx="1032933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2933" cy="1524000"/>
            </a:xfrm>
            <a:custGeom>
              <a:avLst/>
              <a:gdLst/>
              <a:ahLst/>
              <a:cxnLst/>
              <a:rect r="r" b="b" t="t" l="l"/>
              <a:pathLst>
                <a:path h="1524000" w="1032933">
                  <a:moveTo>
                    <a:pt x="0" y="0"/>
                  </a:moveTo>
                  <a:lnTo>
                    <a:pt x="1032933" y="0"/>
                  </a:lnTo>
                  <a:lnTo>
                    <a:pt x="1032933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7056103" y="8027877"/>
            <a:ext cx="8243786" cy="79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53"/>
              </a:lnSpc>
              <a:spcBef>
                <a:spcPct val="0"/>
              </a:spcBef>
            </a:pPr>
            <a:r>
              <a:rPr lang="en-US" b="true" sz="5211" strike="noStrike" u="none">
                <a:solidFill>
                  <a:srgbClr val="0E1736"/>
                </a:solidFill>
                <a:latin typeface="Aileron Bold"/>
                <a:ea typeface="Aileron Bold"/>
                <a:cs typeface="Aileron Bold"/>
                <a:sym typeface="Aileron Bold"/>
              </a:rPr>
              <a:t>Server Maintenance (52%)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576124" y="8027877"/>
            <a:ext cx="2621455" cy="79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53"/>
              </a:lnSpc>
              <a:spcBef>
                <a:spcPct val="0"/>
              </a:spcBef>
            </a:pPr>
            <a:r>
              <a:rPr lang="en-US" b="true" sz="5211" strike="noStrike" u="none">
                <a:solidFill>
                  <a:srgbClr val="0E1736"/>
                </a:solidFill>
                <a:latin typeface="Aileron Bold"/>
                <a:ea typeface="Aileron Bold"/>
                <a:cs typeface="Aileron Bold"/>
                <a:sym typeface="Aileron Bold"/>
              </a:rPr>
              <a:t>₹44,744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710883" y="9537301"/>
            <a:ext cx="821899" cy="1212639"/>
            <a:chOff x="0" y="0"/>
            <a:chExt cx="1032933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2933" cy="1524000"/>
            </a:xfrm>
            <a:custGeom>
              <a:avLst/>
              <a:gdLst/>
              <a:ahLst/>
              <a:cxnLst/>
              <a:rect r="r" b="b" t="t" l="l"/>
              <a:pathLst>
                <a:path h="1524000" w="1032933">
                  <a:moveTo>
                    <a:pt x="0" y="0"/>
                  </a:moveTo>
                  <a:lnTo>
                    <a:pt x="1032933" y="0"/>
                  </a:lnTo>
                  <a:lnTo>
                    <a:pt x="1032933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7056103" y="9738060"/>
            <a:ext cx="6484652" cy="79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13"/>
              </a:lnSpc>
              <a:spcBef>
                <a:spcPct val="0"/>
              </a:spcBef>
            </a:pPr>
            <a:r>
              <a:rPr lang="en-US" b="true" sz="5261" strike="noStrike" u="none">
                <a:solidFill>
                  <a:srgbClr val="0E1736"/>
                </a:solidFill>
                <a:latin typeface="Aileron Bold"/>
                <a:ea typeface="Aileron Bold"/>
                <a:cs typeface="Aileron Bold"/>
                <a:sym typeface="Aileron Bold"/>
              </a:rPr>
              <a:t>Video Hosting (35%)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576124" y="9735272"/>
            <a:ext cx="2621455" cy="79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53"/>
              </a:lnSpc>
              <a:spcBef>
                <a:spcPct val="0"/>
              </a:spcBef>
            </a:pPr>
            <a:r>
              <a:rPr lang="en-US" b="true" sz="5211" strike="noStrike" u="none">
                <a:solidFill>
                  <a:srgbClr val="0E1736"/>
                </a:solidFill>
                <a:latin typeface="Aileron Bold"/>
                <a:ea typeface="Aileron Bold"/>
                <a:cs typeface="Aileron Bold"/>
                <a:sym typeface="Aileron Bold"/>
              </a:rPr>
              <a:t>₹30,056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5710883" y="11154152"/>
            <a:ext cx="821899" cy="1212639"/>
            <a:chOff x="0" y="0"/>
            <a:chExt cx="1032933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2933" cy="1524000"/>
            </a:xfrm>
            <a:custGeom>
              <a:avLst/>
              <a:gdLst/>
              <a:ahLst/>
              <a:cxnLst/>
              <a:rect r="r" b="b" t="t" l="l"/>
              <a:pathLst>
                <a:path h="1524000" w="1032933">
                  <a:moveTo>
                    <a:pt x="0" y="0"/>
                  </a:moveTo>
                  <a:lnTo>
                    <a:pt x="1032933" y="0"/>
                  </a:lnTo>
                  <a:lnTo>
                    <a:pt x="1032933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7056103" y="11468806"/>
            <a:ext cx="8726686" cy="156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33"/>
              </a:lnSpc>
              <a:spcBef>
                <a:spcPct val="0"/>
              </a:spcBef>
            </a:pPr>
            <a:r>
              <a:rPr lang="en-US" b="true" sz="5111">
                <a:solidFill>
                  <a:srgbClr val="0E1736"/>
                </a:solidFill>
                <a:latin typeface="Aileron Bold"/>
                <a:ea typeface="Aileron Bold"/>
                <a:cs typeface="Aileron Bold"/>
                <a:sym typeface="Aileron Bold"/>
              </a:rPr>
              <a:t>One-time </a:t>
            </a:r>
            <a:r>
              <a:rPr lang="en-US" b="true" sz="5111" strike="noStrike" u="none">
                <a:solidFill>
                  <a:srgbClr val="0E1736"/>
                </a:solidFill>
                <a:latin typeface="Aileron Bold"/>
                <a:ea typeface="Aileron Bold"/>
                <a:cs typeface="Aileron Bold"/>
                <a:sym typeface="Aileron Bold"/>
              </a:rPr>
              <a:t>Website Theme  Cost (13%)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852067" y="11512015"/>
            <a:ext cx="2345512" cy="707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1"/>
              </a:lnSpc>
              <a:spcBef>
                <a:spcPct val="0"/>
              </a:spcBef>
            </a:pPr>
            <a:r>
              <a:rPr lang="en-US" b="true" sz="4659" strike="noStrike" u="none">
                <a:solidFill>
                  <a:srgbClr val="0E1736"/>
                </a:solidFill>
                <a:latin typeface="Aileron Bold"/>
                <a:ea typeface="Aileron Bold"/>
                <a:cs typeface="Aileron Bold"/>
                <a:sym typeface="Aileron Bold"/>
              </a:rPr>
              <a:t>₹11,746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19412" y="2406208"/>
            <a:ext cx="266700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1F2937"/>
                </a:solidFill>
                <a:latin typeface="Aileron Bold"/>
                <a:ea typeface="Aileron Bold"/>
                <a:cs typeface="Aileron Bold"/>
                <a:sym typeface="Aileron Bold"/>
              </a:rPr>
              <a:t>Financial Year-wise Expenditure Breakdown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828800" y="5082733"/>
            <a:ext cx="28851225" cy="1478096"/>
            <a:chOff x="0" y="0"/>
            <a:chExt cx="29747243" cy="152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747242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747242">
                  <a:moveTo>
                    <a:pt x="0" y="0"/>
                  </a:moveTo>
                  <a:lnTo>
                    <a:pt x="29747242" y="0"/>
                  </a:lnTo>
                  <a:lnTo>
                    <a:pt x="29747242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2D334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9747243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042513" y="5463427"/>
            <a:ext cx="5983958" cy="66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9"/>
              </a:lnSpc>
              <a:spcBef>
                <a:spcPct val="0"/>
              </a:spcBef>
            </a:pPr>
            <a:r>
              <a:rPr lang="en-US" b="true" sz="4138" strike="noStrike" u="non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EXPENSE CATEGORY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53896" y="5463427"/>
            <a:ext cx="4915394" cy="66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9"/>
              </a:lnSpc>
              <a:spcBef>
                <a:spcPct val="0"/>
              </a:spcBef>
            </a:pPr>
            <a:r>
              <a:rPr lang="en-US" b="true" sz="4138" strike="noStrike" u="non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FY 2024-25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96716" y="5463427"/>
            <a:ext cx="4915394" cy="66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9"/>
              </a:lnSpc>
              <a:spcBef>
                <a:spcPct val="0"/>
              </a:spcBef>
            </a:pPr>
            <a:r>
              <a:rPr lang="en-US" b="true" sz="4138" strike="noStrike" u="non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FY 2025-26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139535" y="5130855"/>
            <a:ext cx="4915394" cy="134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9"/>
              </a:lnSpc>
              <a:spcBef>
                <a:spcPct val="0"/>
              </a:spcBef>
            </a:pPr>
            <a:r>
              <a:rPr lang="en-US" b="true" sz="4138" strike="noStrike" u="non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FY 2026-27</a:t>
            </a:r>
          </a:p>
          <a:p>
            <a:pPr algn="ctr" marL="0" indent="0" lvl="0">
              <a:lnSpc>
                <a:spcPts val="5379"/>
              </a:lnSpc>
              <a:spcBef>
                <a:spcPct val="0"/>
              </a:spcBef>
            </a:pPr>
            <a:r>
              <a:rPr lang="en-US" b="true" sz="4138" strike="noStrike" u="non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(Till Jun '26)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482354" y="5463427"/>
            <a:ext cx="5983958" cy="66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79"/>
              </a:lnSpc>
              <a:spcBef>
                <a:spcPct val="0"/>
              </a:spcBef>
            </a:pPr>
            <a:r>
              <a:rPr lang="en-US" b="true" sz="4138" strike="noStrike" u="none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CATEGORY TOTAL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828800" y="6560829"/>
            <a:ext cx="28851225" cy="1478096"/>
            <a:chOff x="0" y="0"/>
            <a:chExt cx="29747243" cy="152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747242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747242">
                  <a:moveTo>
                    <a:pt x="0" y="0"/>
                  </a:moveTo>
                  <a:lnTo>
                    <a:pt x="29747242" y="0"/>
                  </a:lnTo>
                  <a:lnTo>
                    <a:pt x="29747242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0E2E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9747243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42513" y="6895045"/>
            <a:ext cx="5983958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sz="4655" strike="noStrike" u="none">
                <a:solidFill>
                  <a:srgbClr val="1F2937"/>
                </a:solidFill>
                <a:latin typeface="Aileron"/>
                <a:ea typeface="Aileron"/>
                <a:cs typeface="Aileron"/>
                <a:sym typeface="Aileron"/>
              </a:rPr>
              <a:t>Website Theme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53896" y="6895045"/>
            <a:ext cx="4915394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sz="4655" strike="noStrike" u="none">
                <a:solidFill>
                  <a:srgbClr val="1F2937"/>
                </a:solidFill>
                <a:latin typeface="Aileron"/>
                <a:ea typeface="Aileron"/>
                <a:cs typeface="Aileron"/>
                <a:sym typeface="Aileron"/>
              </a:rPr>
              <a:t>₹11,746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96716" y="6895045"/>
            <a:ext cx="4915394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sz="4655" strike="noStrike" u="none">
                <a:solidFill>
                  <a:srgbClr val="1F2937"/>
                </a:solidFill>
                <a:latin typeface="Aileron"/>
                <a:ea typeface="Aileron"/>
                <a:cs typeface="Aileron"/>
                <a:sym typeface="Aileron"/>
              </a:rPr>
              <a:t>-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139535" y="6895045"/>
            <a:ext cx="4915394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sz="4655" strike="noStrike" u="none">
                <a:solidFill>
                  <a:srgbClr val="1F2937"/>
                </a:solidFill>
                <a:latin typeface="Aileron"/>
                <a:ea typeface="Aileron"/>
                <a:cs typeface="Aileron"/>
                <a:sym typeface="Aileron"/>
              </a:rPr>
              <a:t>-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482354" y="6895045"/>
            <a:ext cx="5983958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b="true" sz="4655" strike="noStrike" u="none">
                <a:solidFill>
                  <a:srgbClr val="2271FF"/>
                </a:solidFill>
                <a:latin typeface="Aileron Bold"/>
                <a:ea typeface="Aileron Bold"/>
                <a:cs typeface="Aileron Bold"/>
                <a:sym typeface="Aileron Bold"/>
              </a:rPr>
              <a:t>₹11,746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828800" y="8038924"/>
            <a:ext cx="28851225" cy="1478096"/>
            <a:chOff x="0" y="0"/>
            <a:chExt cx="29747243" cy="1524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747242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747242">
                  <a:moveTo>
                    <a:pt x="0" y="0"/>
                  </a:moveTo>
                  <a:lnTo>
                    <a:pt x="29747242" y="0"/>
                  </a:lnTo>
                  <a:lnTo>
                    <a:pt x="29747242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8F9FB"/>
            </a:solidFill>
            <a:ln w="9525" cap="sq">
              <a:solidFill>
                <a:srgbClr val="E0E2E8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9747243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042513" y="8373140"/>
            <a:ext cx="5983958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sz="4655" strike="noStrike" u="none">
                <a:solidFill>
                  <a:srgbClr val="1F2937"/>
                </a:solidFill>
                <a:latin typeface="Aileron"/>
                <a:ea typeface="Aileron"/>
                <a:cs typeface="Aileron"/>
                <a:sym typeface="Aileron"/>
              </a:rPr>
              <a:t>Server Maintenance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53896" y="8373140"/>
            <a:ext cx="4915394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sz="4655" strike="noStrike" u="none">
                <a:solidFill>
                  <a:srgbClr val="1F2937"/>
                </a:solidFill>
                <a:latin typeface="Aileron"/>
                <a:ea typeface="Aileron"/>
                <a:cs typeface="Aileron"/>
                <a:sym typeface="Aileron"/>
              </a:rPr>
              <a:t>₹8,035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96716" y="8373140"/>
            <a:ext cx="4915394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sz="4655" strike="noStrike" u="none">
                <a:solidFill>
                  <a:srgbClr val="1F2937"/>
                </a:solidFill>
                <a:latin typeface="Aileron"/>
                <a:ea typeface="Aileron"/>
                <a:cs typeface="Aileron"/>
                <a:sym typeface="Aileron"/>
              </a:rPr>
              <a:t>₹28,462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139535" y="8373140"/>
            <a:ext cx="4915394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sz="4655" strike="noStrike" u="none">
                <a:solidFill>
                  <a:srgbClr val="1F2937"/>
                </a:solidFill>
                <a:latin typeface="Aileron"/>
                <a:ea typeface="Aileron"/>
                <a:cs typeface="Aileron"/>
                <a:sym typeface="Aileron"/>
              </a:rPr>
              <a:t>₹8,247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482354" y="8373140"/>
            <a:ext cx="5983958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b="true" sz="4655" strike="noStrike" u="none">
                <a:solidFill>
                  <a:srgbClr val="2271FF"/>
                </a:solidFill>
                <a:latin typeface="Aileron Bold"/>
                <a:ea typeface="Aileron Bold"/>
                <a:cs typeface="Aileron Bold"/>
                <a:sym typeface="Aileron Bold"/>
              </a:rPr>
              <a:t>₹44,744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828800" y="9517020"/>
            <a:ext cx="28851225" cy="1478096"/>
            <a:chOff x="0" y="0"/>
            <a:chExt cx="29747243" cy="1524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9747242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747242">
                  <a:moveTo>
                    <a:pt x="0" y="0"/>
                  </a:moveTo>
                  <a:lnTo>
                    <a:pt x="29747242" y="0"/>
                  </a:lnTo>
                  <a:lnTo>
                    <a:pt x="29747242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0E2E8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9747243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042513" y="9469395"/>
            <a:ext cx="5983958" cy="151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sz="4655" strike="noStrike" u="none">
                <a:solidFill>
                  <a:srgbClr val="1F2937"/>
                </a:solidFill>
                <a:latin typeface="Aileron"/>
                <a:ea typeface="Aileron"/>
                <a:cs typeface="Aileron"/>
                <a:sym typeface="Aileron"/>
              </a:rPr>
              <a:t>Video Hosting (VdoCipher)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53896" y="9851236"/>
            <a:ext cx="4915394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sz="4655" strike="noStrike" u="none">
                <a:solidFill>
                  <a:srgbClr val="1F2937"/>
                </a:solidFill>
                <a:latin typeface="Aileron"/>
                <a:ea typeface="Aileron"/>
                <a:cs typeface="Aileron"/>
                <a:sym typeface="Aileron"/>
              </a:rPr>
              <a:t>₹14,747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96716" y="9851236"/>
            <a:ext cx="4915394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sz="4655" strike="noStrike" u="none">
                <a:solidFill>
                  <a:srgbClr val="1F2937"/>
                </a:solidFill>
                <a:latin typeface="Aileron"/>
                <a:ea typeface="Aileron"/>
                <a:cs typeface="Aileron"/>
                <a:sym typeface="Aileron"/>
              </a:rPr>
              <a:t>₹15,309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139535" y="9851236"/>
            <a:ext cx="4915394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sz="4655" strike="noStrike" u="none">
                <a:solidFill>
                  <a:srgbClr val="1F2937"/>
                </a:solidFill>
                <a:latin typeface="Aileron"/>
                <a:ea typeface="Aileron"/>
                <a:cs typeface="Aileron"/>
                <a:sym typeface="Aileron"/>
              </a:rPr>
              <a:t>-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4482354" y="9851236"/>
            <a:ext cx="5983958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b="true" sz="4655" strike="noStrike" u="none">
                <a:solidFill>
                  <a:srgbClr val="2271FF"/>
                </a:solidFill>
                <a:latin typeface="Aileron Bold"/>
                <a:ea typeface="Aileron Bold"/>
                <a:cs typeface="Aileron Bold"/>
                <a:sym typeface="Aileron Bold"/>
              </a:rPr>
              <a:t>₹30,056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828800" y="10995115"/>
            <a:ext cx="28851225" cy="1478096"/>
            <a:chOff x="0" y="0"/>
            <a:chExt cx="29747243" cy="1524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747242" cy="1524000"/>
            </a:xfrm>
            <a:custGeom>
              <a:avLst/>
              <a:gdLst/>
              <a:ahLst/>
              <a:cxnLst/>
              <a:rect r="r" b="b" t="t" l="l"/>
              <a:pathLst>
                <a:path h="1524000" w="29747242">
                  <a:moveTo>
                    <a:pt x="0" y="0"/>
                  </a:moveTo>
                  <a:lnTo>
                    <a:pt x="29747242" y="0"/>
                  </a:lnTo>
                  <a:lnTo>
                    <a:pt x="29747242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E2E8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9747243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2042513" y="11329331"/>
            <a:ext cx="5983958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b="true" sz="4655" strike="noStrike" u="none">
                <a:solidFill>
                  <a:srgbClr val="1F2937"/>
                </a:solidFill>
                <a:latin typeface="Aileron Bold"/>
                <a:ea typeface="Aileron Bold"/>
                <a:cs typeface="Aileron Bold"/>
                <a:sym typeface="Aileron Bold"/>
              </a:rPr>
              <a:t>Total Cash Outflow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453896" y="11329331"/>
            <a:ext cx="4915394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b="true" sz="4655" strike="noStrike" u="none">
                <a:solidFill>
                  <a:srgbClr val="2271FF"/>
                </a:solidFill>
                <a:latin typeface="Aileron Bold"/>
                <a:ea typeface="Aileron Bold"/>
                <a:cs typeface="Aileron Bold"/>
                <a:sym typeface="Aileron Bold"/>
              </a:rPr>
              <a:t>₹34,528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96716" y="11329331"/>
            <a:ext cx="4915394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b="true" sz="4655" strike="noStrike" u="none">
                <a:solidFill>
                  <a:srgbClr val="2271FF"/>
                </a:solidFill>
                <a:latin typeface="Aileron Bold"/>
                <a:ea typeface="Aileron Bold"/>
                <a:cs typeface="Aileron Bold"/>
                <a:sym typeface="Aileron Bold"/>
              </a:rPr>
              <a:t>₹43,771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139535" y="11329331"/>
            <a:ext cx="4915394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b="true" sz="4655" strike="noStrike" u="none">
                <a:solidFill>
                  <a:srgbClr val="2271FF"/>
                </a:solidFill>
                <a:latin typeface="Aileron Bold"/>
                <a:ea typeface="Aileron Bold"/>
                <a:cs typeface="Aileron Bold"/>
                <a:sym typeface="Aileron Bold"/>
              </a:rPr>
              <a:t>₹8,247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4482354" y="11329331"/>
            <a:ext cx="5983958" cy="75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52"/>
              </a:lnSpc>
              <a:spcBef>
                <a:spcPct val="0"/>
              </a:spcBef>
            </a:pPr>
            <a:r>
              <a:rPr lang="en-US" b="true" sz="4655" strike="noStrike" u="none">
                <a:solidFill>
                  <a:srgbClr val="2271FF"/>
                </a:solidFill>
                <a:latin typeface="Aileron Bold"/>
                <a:ea typeface="Aileron Bold"/>
                <a:cs typeface="Aileron Bold"/>
                <a:sym typeface="Aileron Bold"/>
              </a:rPr>
              <a:t>₹86,546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256226" y="12861134"/>
            <a:ext cx="27996374" cy="1321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31"/>
              </a:lnSpc>
              <a:spcBef>
                <a:spcPct val="0"/>
              </a:spcBef>
            </a:pPr>
            <a:r>
              <a:rPr lang="en-US" sz="3620" strike="noStrike" u="none">
                <a:solidFill>
                  <a:srgbClr val="6B7280"/>
                </a:solidFill>
                <a:latin typeface="Aileron"/>
                <a:ea typeface="Aileron"/>
                <a:cs typeface="Aileron"/>
                <a:sym typeface="Aileron"/>
              </a:rPr>
              <a:t>* Note on Outflows: VdoCipher licenses are paid annually upfront in August (impacting FY 24-25 and FY 25-26). Server costs reflect the transition from USD to fixed INR billing (₹2,749/month) starting in July 2025.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00" y="3619500"/>
            <a:ext cx="16192500" cy="4000500"/>
            <a:chOff x="0" y="0"/>
            <a:chExt cx="21590000" cy="533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590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21590000">
                  <a:moveTo>
                    <a:pt x="533400" y="0"/>
                  </a:moveTo>
                  <a:lnTo>
                    <a:pt x="21056600" y="0"/>
                  </a:lnTo>
                  <a:cubicBezTo>
                    <a:pt x="21351188" y="0"/>
                    <a:pt x="21590000" y="238811"/>
                    <a:pt x="21590000" y="533400"/>
                  </a:cubicBezTo>
                  <a:lnTo>
                    <a:pt x="21590000" y="4800600"/>
                  </a:lnTo>
                  <a:cubicBezTo>
                    <a:pt x="21590000" y="5095189"/>
                    <a:pt x="21351188" y="5334000"/>
                    <a:pt x="21056600" y="5334000"/>
                  </a:cubicBezTo>
                  <a:lnTo>
                    <a:pt x="533400" y="5334000"/>
                  </a:lnTo>
                  <a:cubicBezTo>
                    <a:pt x="238811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590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05000" y="3619500"/>
            <a:ext cx="114300" cy="4000500"/>
            <a:chOff x="0" y="0"/>
            <a:chExt cx="152400" cy="533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152400">
                  <a:moveTo>
                    <a:pt x="76200" y="0"/>
                  </a:moveTo>
                  <a:lnTo>
                    <a:pt x="76200" y="0"/>
                  </a:lnTo>
                  <a:cubicBezTo>
                    <a:pt x="118284" y="0"/>
                    <a:pt x="152400" y="34116"/>
                    <a:pt x="152400" y="76200"/>
                  </a:cubicBezTo>
                  <a:lnTo>
                    <a:pt x="152400" y="5257800"/>
                  </a:lnTo>
                  <a:cubicBezTo>
                    <a:pt x="152400" y="5299884"/>
                    <a:pt x="118284" y="5334000"/>
                    <a:pt x="76200" y="5334000"/>
                  </a:cubicBezTo>
                  <a:lnTo>
                    <a:pt x="76200" y="5334000"/>
                  </a:lnTo>
                  <a:cubicBezTo>
                    <a:pt x="34116" y="5334000"/>
                    <a:pt x="0" y="5299884"/>
                    <a:pt x="0" y="5257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5245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24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905000" y="7869555"/>
            <a:ext cx="16192500" cy="4131945"/>
            <a:chOff x="0" y="0"/>
            <a:chExt cx="21590000" cy="55092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90000" cy="5509260"/>
            </a:xfrm>
            <a:custGeom>
              <a:avLst/>
              <a:gdLst/>
              <a:ahLst/>
              <a:cxnLst/>
              <a:rect r="r" b="b" t="t" l="l"/>
              <a:pathLst>
                <a:path h="5509260" w="21590000">
                  <a:moveTo>
                    <a:pt x="533400" y="0"/>
                  </a:moveTo>
                  <a:lnTo>
                    <a:pt x="21056600" y="0"/>
                  </a:lnTo>
                  <a:cubicBezTo>
                    <a:pt x="21351188" y="0"/>
                    <a:pt x="21590000" y="246658"/>
                    <a:pt x="21590000" y="550926"/>
                  </a:cubicBezTo>
                  <a:lnTo>
                    <a:pt x="21590000" y="4958334"/>
                  </a:lnTo>
                  <a:cubicBezTo>
                    <a:pt x="21590000" y="5262602"/>
                    <a:pt x="21351188" y="5509260"/>
                    <a:pt x="21056600" y="5509260"/>
                  </a:cubicBezTo>
                  <a:lnTo>
                    <a:pt x="533400" y="5509260"/>
                  </a:lnTo>
                  <a:cubicBezTo>
                    <a:pt x="238811" y="5509260"/>
                    <a:pt x="0" y="5262602"/>
                    <a:pt x="0" y="4958334"/>
                  </a:cubicBezTo>
                  <a:lnTo>
                    <a:pt x="0" y="550926"/>
                  </a:lnTo>
                  <a:cubicBezTo>
                    <a:pt x="0" y="246658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590000" cy="5547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928762" y="7869555"/>
            <a:ext cx="90538" cy="4131945"/>
            <a:chOff x="0" y="0"/>
            <a:chExt cx="120718" cy="55092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718" cy="5509260"/>
            </a:xfrm>
            <a:custGeom>
              <a:avLst/>
              <a:gdLst/>
              <a:ahLst/>
              <a:cxnLst/>
              <a:rect r="r" b="b" t="t" l="l"/>
              <a:pathLst>
                <a:path h="5509260" w="120718">
                  <a:moveTo>
                    <a:pt x="60359" y="0"/>
                  </a:moveTo>
                  <a:lnTo>
                    <a:pt x="60359" y="0"/>
                  </a:lnTo>
                  <a:cubicBezTo>
                    <a:pt x="76367" y="0"/>
                    <a:pt x="91719" y="6359"/>
                    <a:pt x="103039" y="17679"/>
                  </a:cubicBezTo>
                  <a:cubicBezTo>
                    <a:pt x="114358" y="28998"/>
                    <a:pt x="120718" y="44351"/>
                    <a:pt x="120718" y="60359"/>
                  </a:cubicBezTo>
                  <a:lnTo>
                    <a:pt x="120718" y="5448901"/>
                  </a:lnTo>
                  <a:cubicBezTo>
                    <a:pt x="120718" y="5464909"/>
                    <a:pt x="114358" y="5480262"/>
                    <a:pt x="103039" y="5491581"/>
                  </a:cubicBezTo>
                  <a:cubicBezTo>
                    <a:pt x="91719" y="5502901"/>
                    <a:pt x="76367" y="5509260"/>
                    <a:pt x="60359" y="5509260"/>
                  </a:cubicBezTo>
                  <a:lnTo>
                    <a:pt x="60359" y="5509260"/>
                  </a:lnTo>
                  <a:cubicBezTo>
                    <a:pt x="44351" y="5509260"/>
                    <a:pt x="28998" y="5502901"/>
                    <a:pt x="17679" y="5491581"/>
                  </a:cubicBezTo>
                  <a:cubicBezTo>
                    <a:pt x="6359" y="5480262"/>
                    <a:pt x="0" y="5464909"/>
                    <a:pt x="0" y="5448901"/>
                  </a:cubicBezTo>
                  <a:lnTo>
                    <a:pt x="0" y="60359"/>
                  </a:lnTo>
                  <a:cubicBezTo>
                    <a:pt x="0" y="44351"/>
                    <a:pt x="6359" y="28998"/>
                    <a:pt x="17679" y="17679"/>
                  </a:cubicBezTo>
                  <a:cubicBezTo>
                    <a:pt x="28998" y="6359"/>
                    <a:pt x="44351" y="0"/>
                    <a:pt x="60359" y="0"/>
                  </a:cubicBezTo>
                  <a:close/>
                </a:path>
              </a:pathLst>
            </a:custGeom>
            <a:solidFill>
              <a:srgbClr val="E524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0718" cy="5547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05000" y="12382500"/>
            <a:ext cx="16192500" cy="4000500"/>
            <a:chOff x="0" y="0"/>
            <a:chExt cx="21590000" cy="533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590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21590000">
                  <a:moveTo>
                    <a:pt x="533400" y="0"/>
                  </a:moveTo>
                  <a:lnTo>
                    <a:pt x="21056600" y="0"/>
                  </a:lnTo>
                  <a:cubicBezTo>
                    <a:pt x="21351188" y="0"/>
                    <a:pt x="21590000" y="238811"/>
                    <a:pt x="21590000" y="533400"/>
                  </a:cubicBezTo>
                  <a:lnTo>
                    <a:pt x="21590000" y="4800600"/>
                  </a:lnTo>
                  <a:cubicBezTo>
                    <a:pt x="21590000" y="5095189"/>
                    <a:pt x="21351188" y="5334000"/>
                    <a:pt x="21056600" y="5334000"/>
                  </a:cubicBezTo>
                  <a:lnTo>
                    <a:pt x="533400" y="5334000"/>
                  </a:lnTo>
                  <a:cubicBezTo>
                    <a:pt x="238811" y="5334000"/>
                    <a:pt x="0" y="5095189"/>
                    <a:pt x="0" y="4800600"/>
                  </a:cubicBezTo>
                  <a:lnTo>
                    <a:pt x="0" y="533400"/>
                  </a:lnTo>
                  <a:cubicBezTo>
                    <a:pt x="0" y="238811"/>
                    <a:pt x="238811" y="0"/>
                    <a:pt x="5334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5E7EB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590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05000" y="12382500"/>
            <a:ext cx="114300" cy="4000500"/>
            <a:chOff x="0" y="0"/>
            <a:chExt cx="152400" cy="533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24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152400">
                  <a:moveTo>
                    <a:pt x="76200" y="0"/>
                  </a:moveTo>
                  <a:lnTo>
                    <a:pt x="76200" y="0"/>
                  </a:lnTo>
                  <a:cubicBezTo>
                    <a:pt x="118284" y="0"/>
                    <a:pt x="152400" y="34116"/>
                    <a:pt x="152400" y="76200"/>
                  </a:cubicBezTo>
                  <a:lnTo>
                    <a:pt x="152400" y="5257800"/>
                  </a:lnTo>
                  <a:cubicBezTo>
                    <a:pt x="152400" y="5299884"/>
                    <a:pt x="118284" y="5334000"/>
                    <a:pt x="76200" y="5334000"/>
                  </a:cubicBezTo>
                  <a:lnTo>
                    <a:pt x="76200" y="5334000"/>
                  </a:lnTo>
                  <a:cubicBezTo>
                    <a:pt x="34116" y="5334000"/>
                    <a:pt x="0" y="5299884"/>
                    <a:pt x="0" y="5257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24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9526250" y="4000500"/>
            <a:ext cx="11049000" cy="9525000"/>
            <a:chOff x="0" y="0"/>
            <a:chExt cx="14732000" cy="1270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732000" cy="12700000"/>
            </a:xfrm>
            <a:custGeom>
              <a:avLst/>
              <a:gdLst/>
              <a:ahLst/>
              <a:cxnLst/>
              <a:rect r="r" b="b" t="t" l="l"/>
              <a:pathLst>
                <a:path h="12700000" w="14732000">
                  <a:moveTo>
                    <a:pt x="1270000" y="0"/>
                  </a:moveTo>
                  <a:lnTo>
                    <a:pt x="13462000" y="0"/>
                  </a:lnTo>
                  <a:cubicBezTo>
                    <a:pt x="14163402" y="0"/>
                    <a:pt x="14732000" y="568598"/>
                    <a:pt x="14732000" y="1270000"/>
                  </a:cubicBezTo>
                  <a:lnTo>
                    <a:pt x="14732000" y="11430000"/>
                  </a:lnTo>
                  <a:cubicBezTo>
                    <a:pt x="14732000" y="12131401"/>
                    <a:pt x="14163402" y="12700000"/>
                    <a:pt x="13462000" y="12700000"/>
                  </a:cubicBezTo>
                  <a:lnTo>
                    <a:pt x="1270000" y="12700000"/>
                  </a:lnTo>
                  <a:cubicBezTo>
                    <a:pt x="568598" y="12700000"/>
                    <a:pt x="0" y="12131401"/>
                    <a:pt x="0" y="11430000"/>
                  </a:cubicBezTo>
                  <a:lnTo>
                    <a:pt x="0" y="1270000"/>
                  </a:lnTo>
                  <a:cubicBezTo>
                    <a:pt x="0" y="568598"/>
                    <a:pt x="568598" y="0"/>
                    <a:pt x="1270000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3B82F6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732000" cy="1273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0288250" y="5961380"/>
            <a:ext cx="9525000" cy="1389380"/>
            <a:chOff x="0" y="0"/>
            <a:chExt cx="12700000" cy="185250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66675"/>
              <a:ext cx="12700000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Current: </a:t>
              </a:r>
              <a:r>
                <a:rPr lang="en-US" b="true" sz="3200" strike="noStrike" u="none">
                  <a:solidFill>
                    <a:srgbClr val="1F293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85 GB / 100 GB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0" y="963507"/>
              <a:ext cx="12700000" cy="889000"/>
              <a:chOff x="0" y="0"/>
              <a:chExt cx="12700000" cy="889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700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12700000">
                    <a:moveTo>
                      <a:pt x="88900" y="0"/>
                    </a:moveTo>
                    <a:lnTo>
                      <a:pt x="12611100" y="0"/>
                    </a:lnTo>
                    <a:cubicBezTo>
                      <a:pt x="12660198" y="0"/>
                      <a:pt x="12700000" y="39802"/>
                      <a:pt x="12700000" y="88900"/>
                    </a:cubicBezTo>
                    <a:lnTo>
                      <a:pt x="12700000" y="800100"/>
                    </a:lnTo>
                    <a:cubicBezTo>
                      <a:pt x="12700000" y="849198"/>
                      <a:pt x="12660198" y="889000"/>
                      <a:pt x="12611100" y="889000"/>
                    </a:cubicBezTo>
                    <a:lnTo>
                      <a:pt x="88900" y="889000"/>
                    </a:lnTo>
                    <a:cubicBezTo>
                      <a:pt x="39802" y="889000"/>
                      <a:pt x="0" y="849198"/>
                      <a:pt x="0" y="800100"/>
                    </a:cubicBezTo>
                    <a:lnTo>
                      <a:pt x="0" y="88900"/>
                    </a:lnTo>
                    <a:cubicBezTo>
                      <a:pt x="0" y="39802"/>
                      <a:pt x="39802" y="0"/>
                      <a:pt x="88900" y="0"/>
                    </a:cubicBezTo>
                    <a:close/>
                  </a:path>
                </a:pathLst>
              </a:custGeom>
              <a:solidFill>
                <a:srgbClr val="FEE2E2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700000" cy="92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963507"/>
              <a:ext cx="10795000" cy="889000"/>
              <a:chOff x="0" y="0"/>
              <a:chExt cx="10795000" cy="889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795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10795000">
                    <a:moveTo>
                      <a:pt x="88900" y="0"/>
                    </a:moveTo>
                    <a:lnTo>
                      <a:pt x="10706100" y="0"/>
                    </a:lnTo>
                    <a:cubicBezTo>
                      <a:pt x="10755198" y="0"/>
                      <a:pt x="10795000" y="39802"/>
                      <a:pt x="10795000" y="88900"/>
                    </a:cubicBezTo>
                    <a:lnTo>
                      <a:pt x="10795000" y="800100"/>
                    </a:lnTo>
                    <a:cubicBezTo>
                      <a:pt x="10795000" y="849198"/>
                      <a:pt x="10755198" y="889000"/>
                      <a:pt x="10706100" y="889000"/>
                    </a:cubicBezTo>
                    <a:lnTo>
                      <a:pt x="88900" y="889000"/>
                    </a:lnTo>
                    <a:cubicBezTo>
                      <a:pt x="39802" y="889000"/>
                      <a:pt x="0" y="849198"/>
                      <a:pt x="0" y="800100"/>
                    </a:cubicBezTo>
                    <a:lnTo>
                      <a:pt x="0" y="88900"/>
                    </a:lnTo>
                    <a:cubicBezTo>
                      <a:pt x="0" y="39802"/>
                      <a:pt x="39802" y="0"/>
                      <a:pt x="88900" y="0"/>
                    </a:cubicBezTo>
                    <a:close/>
                  </a:path>
                </a:pathLst>
              </a:custGeom>
              <a:solidFill>
                <a:srgbClr val="DC2626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0795000" cy="92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4127500" y="1036532"/>
              <a:ext cx="25400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85%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0288250" y="7869555"/>
            <a:ext cx="9525000" cy="1333500"/>
            <a:chOff x="0" y="0"/>
            <a:chExt cx="12700000" cy="1778000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66675"/>
              <a:ext cx="12700000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Required: </a:t>
              </a:r>
              <a:r>
                <a:rPr lang="en-US" b="true" sz="3200" strike="noStrike" u="none">
                  <a:solidFill>
                    <a:srgbClr val="1F293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 TB (1000 GB)</a:t>
              </a:r>
            </a:p>
          </p:txBody>
        </p:sp>
        <p:grpSp>
          <p:nvGrpSpPr>
            <p:cNvPr name="Group 34" id="34"/>
            <p:cNvGrpSpPr/>
            <p:nvPr/>
          </p:nvGrpSpPr>
          <p:grpSpPr>
            <a:xfrm rot="0">
              <a:off x="0" y="889000"/>
              <a:ext cx="12700000" cy="889000"/>
              <a:chOff x="0" y="0"/>
              <a:chExt cx="12700000" cy="889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2700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12700000">
                    <a:moveTo>
                      <a:pt x="88900" y="0"/>
                    </a:moveTo>
                    <a:lnTo>
                      <a:pt x="12611100" y="0"/>
                    </a:lnTo>
                    <a:cubicBezTo>
                      <a:pt x="12660198" y="0"/>
                      <a:pt x="12700000" y="39802"/>
                      <a:pt x="12700000" y="88900"/>
                    </a:cubicBezTo>
                    <a:lnTo>
                      <a:pt x="12700000" y="800100"/>
                    </a:lnTo>
                    <a:cubicBezTo>
                      <a:pt x="12700000" y="849198"/>
                      <a:pt x="12660198" y="889000"/>
                      <a:pt x="12611100" y="889000"/>
                    </a:cubicBezTo>
                    <a:lnTo>
                      <a:pt x="88900" y="889000"/>
                    </a:lnTo>
                    <a:cubicBezTo>
                      <a:pt x="39802" y="889000"/>
                      <a:pt x="0" y="849198"/>
                      <a:pt x="0" y="800100"/>
                    </a:cubicBezTo>
                    <a:lnTo>
                      <a:pt x="0" y="88900"/>
                    </a:lnTo>
                    <a:cubicBezTo>
                      <a:pt x="0" y="39802"/>
                      <a:pt x="39802" y="0"/>
                      <a:pt x="88900" y="0"/>
                    </a:cubicBezTo>
                    <a:close/>
                  </a:path>
                </a:pathLst>
              </a:custGeom>
              <a:solidFill>
                <a:srgbClr val="DCFCE7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2700000" cy="92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889000"/>
              <a:ext cx="1079500" cy="889000"/>
              <a:chOff x="0" y="0"/>
              <a:chExt cx="1079500" cy="889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795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1079500">
                    <a:moveTo>
                      <a:pt x="88900" y="0"/>
                    </a:moveTo>
                    <a:lnTo>
                      <a:pt x="990600" y="0"/>
                    </a:lnTo>
                    <a:cubicBezTo>
                      <a:pt x="1039698" y="0"/>
                      <a:pt x="1079500" y="39802"/>
                      <a:pt x="1079500" y="88900"/>
                    </a:cubicBezTo>
                    <a:lnTo>
                      <a:pt x="1079500" y="800100"/>
                    </a:lnTo>
                    <a:cubicBezTo>
                      <a:pt x="1079500" y="849198"/>
                      <a:pt x="1039698" y="889000"/>
                      <a:pt x="990600" y="889000"/>
                    </a:cubicBezTo>
                    <a:lnTo>
                      <a:pt x="88900" y="889000"/>
                    </a:lnTo>
                    <a:cubicBezTo>
                      <a:pt x="39802" y="889000"/>
                      <a:pt x="0" y="849198"/>
                      <a:pt x="0" y="800100"/>
                    </a:cubicBezTo>
                    <a:lnTo>
                      <a:pt x="0" y="88900"/>
                    </a:lnTo>
                    <a:cubicBezTo>
                      <a:pt x="0" y="39802"/>
                      <a:pt x="39802" y="0"/>
                      <a:pt x="88900" y="0"/>
                    </a:cubicBezTo>
                    <a:close/>
                  </a:path>
                </a:pathLst>
              </a:custGeom>
              <a:solidFill>
                <a:srgbClr val="16A34A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079500" cy="92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Freeform 40" id="40"/>
          <p:cNvSpPr/>
          <p:nvPr/>
        </p:nvSpPr>
        <p:spPr>
          <a:xfrm flipH="false" flipV="false" rot="0">
            <a:off x="2286000" y="4062216"/>
            <a:ext cx="748594" cy="414534"/>
          </a:xfrm>
          <a:custGeom>
            <a:avLst/>
            <a:gdLst/>
            <a:ahLst/>
            <a:cxnLst/>
            <a:rect r="r" b="b" t="t" l="l"/>
            <a:pathLst>
              <a:path h="414534" w="748594">
                <a:moveTo>
                  <a:pt x="0" y="0"/>
                </a:moveTo>
                <a:lnTo>
                  <a:pt x="748594" y="0"/>
                </a:lnTo>
                <a:lnTo>
                  <a:pt x="748594" y="414534"/>
                </a:lnTo>
                <a:lnTo>
                  <a:pt x="0" y="414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2914650" y="1133475"/>
            <a:ext cx="266700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1F2937"/>
                </a:solidFill>
                <a:latin typeface="Aileron Bold"/>
                <a:ea typeface="Aileron Bold"/>
                <a:cs typeface="Aileron Bold"/>
                <a:sym typeface="Aileron Bold"/>
              </a:rPr>
              <a:t>Scaling for Growth: Immediate Storage Requirements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582150" y="2377440"/>
            <a:ext cx="1333500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VdoCipher Storage Capacity Analysis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333750" y="3952875"/>
            <a:ext cx="14287500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1F2937"/>
                </a:solidFill>
                <a:latin typeface="Aileron Bold"/>
                <a:ea typeface="Aileron Bold"/>
                <a:cs typeface="Aileron Bold"/>
                <a:sym typeface="Aileron Bold"/>
              </a:rPr>
              <a:t>Current Capacity Exhausted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333750" y="5135245"/>
            <a:ext cx="14097000" cy="134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3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Our VdoCipher plan has a strict 100 GB limit. Currently, </a:t>
            </a:r>
            <a:r>
              <a:rPr lang="en-US" b="true" sz="3399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85 GB (85%)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is already consumed by existing TIH course videos.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286000" y="8382000"/>
            <a:ext cx="7620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sz="4800" strike="noStrike" u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📦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333750" y="8334375"/>
            <a:ext cx="14287500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1F2937"/>
                </a:solidFill>
                <a:latin typeface="Aileron Bold"/>
                <a:ea typeface="Aileron Bold"/>
                <a:cs typeface="Aileron Bold"/>
                <a:sym typeface="Aileron Bold"/>
              </a:rPr>
              <a:t>The Transcoding Multiplier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286000" y="12763500"/>
            <a:ext cx="762000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19"/>
              </a:lnSpc>
              <a:spcBef>
                <a:spcPct val="0"/>
              </a:spcBef>
            </a:pPr>
            <a:r>
              <a:rPr lang="en-US" sz="4800" strike="noStrike" u="non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⚡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333750" y="12715875"/>
            <a:ext cx="14287500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1F2937"/>
                </a:solidFill>
                <a:latin typeface="Aileron Bold"/>
                <a:ea typeface="Aileron Bold"/>
                <a:cs typeface="Aileron Bold"/>
                <a:sym typeface="Aileron Bold"/>
              </a:rPr>
              <a:t>Action Required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095625" y="13538835"/>
            <a:ext cx="14763750" cy="210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97"/>
              </a:lnSpc>
              <a:spcBef>
                <a:spcPct val="0"/>
              </a:spcBef>
            </a:pPr>
            <a:r>
              <a:rPr lang="en-US" sz="3560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To launch the two pending courses and maintain a buffer for future revenue-generating programs, an immediate upgrade to a </a:t>
            </a:r>
            <a:r>
              <a:rPr lang="en-US" b="true" sz="3560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minimum 1 TB storage capacity</a:t>
            </a:r>
            <a:r>
              <a:rPr lang="en-US" sz="3560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is strictly required.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9907250" y="4429125"/>
            <a:ext cx="10287000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6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1F2937"/>
                </a:solidFill>
                <a:latin typeface="Aileron Bold"/>
                <a:ea typeface="Aileron Bold"/>
                <a:cs typeface="Aileron Bold"/>
                <a:sym typeface="Aileron Bold"/>
              </a:rPr>
              <a:t>Storage Status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22193250" y="9935528"/>
            <a:ext cx="5715000" cy="1814195"/>
            <a:chOff x="0" y="0"/>
            <a:chExt cx="7620000" cy="2418927"/>
          </a:xfrm>
        </p:grpSpPr>
        <p:sp>
          <p:nvSpPr>
            <p:cNvPr name="TextBox 52" id="52"/>
            <p:cNvSpPr txBox="true"/>
            <p:nvPr/>
          </p:nvSpPr>
          <p:spPr>
            <a:xfrm rot="0">
              <a:off x="1905000" y="-180975"/>
              <a:ext cx="3810000" cy="2129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3439"/>
                </a:lnSpc>
                <a:spcBef>
                  <a:spcPct val="0"/>
                </a:spcBef>
              </a:pPr>
              <a:r>
                <a:rPr lang="en-US" b="true" sz="9600" strike="noStrike" u="none">
                  <a:solidFill>
                    <a:srgbClr val="3B82F6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10x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0" y="1711325"/>
              <a:ext cx="7620000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capacity increase needed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22193250" y="12032932"/>
            <a:ext cx="571500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16A34A"/>
                </a:solidFill>
                <a:latin typeface="Inter Bold"/>
                <a:ea typeface="Inter Bold"/>
                <a:cs typeface="Inter Bold"/>
                <a:sym typeface="Inter Bold"/>
              </a:rPr>
              <a:t>Upgrade: 100 GB → 1 TB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048000" y="9150826"/>
            <a:ext cx="14097000" cy="271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39"/>
              </a:lnSpc>
              <a:spcBef>
                <a:spcPct val="0"/>
              </a:spcBef>
            </a:pPr>
            <a:r>
              <a:rPr lang="en-US" sz="3399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We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h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av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 </a:t>
            </a:r>
            <a:r>
              <a:rPr lang="en-US" b="true" sz="3399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2 n</a:t>
            </a:r>
            <a:r>
              <a:rPr lang="en-US" b="true" sz="3399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ew</a:t>
            </a:r>
            <a:r>
              <a:rPr lang="en-US" b="true" sz="3399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 courses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re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ad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t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 publ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sh (~100-150 GB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compressed).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Howev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er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Vd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Ciphe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 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ut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omatically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generat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es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m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ult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pl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ev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-s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pe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cific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pies,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infl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tin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g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the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server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storage 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foot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to </a:t>
            </a:r>
            <a:r>
              <a:rPr lang="en-US" b="true" sz="3399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200-250</a:t>
            </a:r>
            <a:r>
              <a:rPr lang="en-US" b="true" sz="3399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3399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GB</a:t>
            </a:r>
            <a:r>
              <a:rPr lang="en-US" b="true" sz="3399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3399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pe</a:t>
            </a:r>
            <a:r>
              <a:rPr lang="en-US" b="true" sz="3399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r</a:t>
            </a:r>
            <a:r>
              <a:rPr lang="en-US" b="true" sz="3399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3399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3399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o</a:t>
            </a:r>
            <a:r>
              <a:rPr lang="en-US" b="true" sz="3399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ur</a:t>
            </a:r>
            <a:r>
              <a:rPr lang="en-US" b="true" sz="3399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3399" strike="noStrike" u="none">
                <a:solidFill>
                  <a:srgbClr val="6B7280"/>
                </a:solidFill>
                <a:latin typeface="Inter Bold"/>
                <a:ea typeface="Inter Bold"/>
                <a:cs typeface="Inter Bold"/>
                <a:sym typeface="Inter Bold"/>
              </a:rPr>
              <a:t>e</a:t>
            </a:r>
            <a:r>
              <a:rPr lang="en-US" sz="3399" strike="noStrike" u="non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19412" y="1819275"/>
            <a:ext cx="26670000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40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1F2937"/>
                </a:solidFill>
                <a:latin typeface="Aileron Bold"/>
                <a:ea typeface="Aileron Bold"/>
                <a:cs typeface="Aileron Bold"/>
                <a:sym typeface="Aileron Bold"/>
              </a:rPr>
              <a:t>Future Roadmap: Video Hosting Upgrades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09762" y="4075979"/>
            <a:ext cx="28689300" cy="10963725"/>
            <a:chOff x="0" y="0"/>
            <a:chExt cx="38252400" cy="146183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431800"/>
              <a:ext cx="18618200" cy="14186500"/>
              <a:chOff x="0" y="0"/>
              <a:chExt cx="18618200" cy="141865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8618200" cy="14186500"/>
              </a:xfrm>
              <a:custGeom>
                <a:avLst/>
                <a:gdLst/>
                <a:ahLst/>
                <a:cxnLst/>
                <a:rect r="r" b="b" t="t" l="l"/>
                <a:pathLst>
                  <a:path h="14186500" w="18618200">
                    <a:moveTo>
                      <a:pt x="1651000" y="0"/>
                    </a:moveTo>
                    <a:lnTo>
                      <a:pt x="16967200" y="0"/>
                    </a:lnTo>
                    <a:cubicBezTo>
                      <a:pt x="17879022" y="0"/>
                      <a:pt x="18618200" y="635151"/>
                      <a:pt x="18618200" y="1418650"/>
                    </a:cubicBezTo>
                    <a:lnTo>
                      <a:pt x="18618200" y="12767850"/>
                    </a:lnTo>
                    <a:cubicBezTo>
                      <a:pt x="18618200" y="13551350"/>
                      <a:pt x="17879022" y="14186500"/>
                      <a:pt x="16967200" y="14186500"/>
                    </a:cubicBezTo>
                    <a:lnTo>
                      <a:pt x="1651000" y="14186500"/>
                    </a:lnTo>
                    <a:cubicBezTo>
                      <a:pt x="739178" y="14186500"/>
                      <a:pt x="0" y="13551350"/>
                      <a:pt x="0" y="12767850"/>
                    </a:cubicBezTo>
                    <a:lnTo>
                      <a:pt x="0" y="1418650"/>
                    </a:lnTo>
                    <a:cubicBezTo>
                      <a:pt x="0" y="635151"/>
                      <a:pt x="739178" y="0"/>
                      <a:pt x="1651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0E2E8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8618200" cy="14224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9634200" y="0"/>
              <a:ext cx="18618200" cy="14618300"/>
              <a:chOff x="0" y="0"/>
              <a:chExt cx="18618200" cy="146183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8618200" cy="14618300"/>
              </a:xfrm>
              <a:custGeom>
                <a:avLst/>
                <a:gdLst/>
                <a:ahLst/>
                <a:cxnLst/>
                <a:rect r="r" b="b" t="t" l="l"/>
                <a:pathLst>
                  <a:path h="14618300" w="18618200">
                    <a:moveTo>
                      <a:pt x="1651000" y="0"/>
                    </a:moveTo>
                    <a:lnTo>
                      <a:pt x="16967200" y="0"/>
                    </a:lnTo>
                    <a:cubicBezTo>
                      <a:pt x="17879022" y="0"/>
                      <a:pt x="18618200" y="654484"/>
                      <a:pt x="18618200" y="1461830"/>
                    </a:cubicBezTo>
                    <a:lnTo>
                      <a:pt x="18618200" y="13156470"/>
                    </a:lnTo>
                    <a:cubicBezTo>
                      <a:pt x="18618200" y="13963816"/>
                      <a:pt x="17879022" y="14618300"/>
                      <a:pt x="16967200" y="14618300"/>
                    </a:cubicBezTo>
                    <a:lnTo>
                      <a:pt x="1651000" y="14618300"/>
                    </a:lnTo>
                    <a:cubicBezTo>
                      <a:pt x="739178" y="14618300"/>
                      <a:pt x="0" y="13963816"/>
                      <a:pt x="0" y="13156470"/>
                    </a:cubicBezTo>
                    <a:lnTo>
                      <a:pt x="0" y="1461830"/>
                    </a:lnTo>
                    <a:cubicBezTo>
                      <a:pt x="0" y="654484"/>
                      <a:pt x="739178" y="0"/>
                      <a:pt x="16510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B82F6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8618200" cy="14656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820154" y="5759794"/>
              <a:ext cx="645691" cy="740047"/>
            </a:xfrm>
            <a:custGeom>
              <a:avLst/>
              <a:gdLst/>
              <a:ahLst/>
              <a:cxnLst/>
              <a:rect r="r" b="b" t="t" l="l"/>
              <a:pathLst>
                <a:path h="740047" w="645691">
                  <a:moveTo>
                    <a:pt x="0" y="0"/>
                  </a:moveTo>
                  <a:lnTo>
                    <a:pt x="645692" y="0"/>
                  </a:lnTo>
                  <a:lnTo>
                    <a:pt x="645692" y="740047"/>
                  </a:lnTo>
                  <a:lnTo>
                    <a:pt x="0" y="740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0457001" y="10863183"/>
              <a:ext cx="640399" cy="514720"/>
            </a:xfrm>
            <a:custGeom>
              <a:avLst/>
              <a:gdLst/>
              <a:ahLst/>
              <a:cxnLst/>
              <a:rect r="r" b="b" t="t" l="l"/>
              <a:pathLst>
                <a:path h="514720" w="640399">
                  <a:moveTo>
                    <a:pt x="0" y="0"/>
                  </a:moveTo>
                  <a:lnTo>
                    <a:pt x="640398" y="0"/>
                  </a:lnTo>
                  <a:lnTo>
                    <a:pt x="640398" y="514721"/>
                  </a:lnTo>
                  <a:lnTo>
                    <a:pt x="0" y="5147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20154" y="11120543"/>
              <a:ext cx="645691" cy="393603"/>
            </a:xfrm>
            <a:custGeom>
              <a:avLst/>
              <a:gdLst/>
              <a:ahLst/>
              <a:cxnLst/>
              <a:rect r="r" b="b" t="t" l="l"/>
              <a:pathLst>
                <a:path h="393603" w="645691">
                  <a:moveTo>
                    <a:pt x="0" y="0"/>
                  </a:moveTo>
                  <a:lnTo>
                    <a:pt x="645692" y="0"/>
                  </a:lnTo>
                  <a:lnTo>
                    <a:pt x="645692" y="393603"/>
                  </a:lnTo>
                  <a:lnTo>
                    <a:pt x="0" y="393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016000" y="930275"/>
              <a:ext cx="16586200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  <a:spcBef>
                  <a:spcPct val="0"/>
                </a:spcBef>
              </a:pPr>
              <a:r>
                <a:rPr lang="en-US" b="true" sz="4200" strike="noStrike" u="none">
                  <a:solidFill>
                    <a:srgbClr val="1F2937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Option A: High Security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016000" y="2059710"/>
              <a:ext cx="16586200" cy="1783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200"/>
                </a:lnSpc>
                <a:spcBef>
                  <a:spcPct val="0"/>
                </a:spcBef>
              </a:pPr>
              <a:r>
                <a:rPr lang="en-US" b="true" sz="8000" strike="noStrike" u="none">
                  <a:solidFill>
                    <a:srgbClr val="3B82F6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₹1.5 Lakh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016000" y="3670723"/>
              <a:ext cx="16586200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6B7280"/>
                  </a:solidFill>
                  <a:latin typeface="Aileron"/>
                  <a:ea typeface="Aileron"/>
                  <a:cs typeface="Aileron"/>
                  <a:sym typeface="Aileron"/>
                </a:rPr>
                <a:t>per year (VdoCipher)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651000" y="5630526"/>
              <a:ext cx="15951200" cy="1633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99"/>
                </a:lnSpc>
                <a:spcBef>
                  <a:spcPct val="0"/>
                </a:spcBef>
              </a:pPr>
              <a:r>
                <a:rPr lang="en-US" b="true" sz="3399" strike="noStrike" u="none">
                  <a:solidFill>
                    <a:srgbClr val="1F2937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DRM Security:</a:t>
              </a:r>
              <a:r>
                <a:rPr lang="en-US" sz="3399" strike="noStrike" u="none">
                  <a:solidFill>
                    <a:srgbClr val="1F2937"/>
                  </a:solidFill>
                  <a:latin typeface="Aileron"/>
                  <a:ea typeface="Aileron"/>
                  <a:cs typeface="Aileron"/>
                  <a:sym typeface="Aileron"/>
                </a:rPr>
                <a:t> High (Prevents piracy, downloads, and screen recording apps)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651000" y="8446135"/>
              <a:ext cx="15951200" cy="78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99"/>
                </a:lnSpc>
                <a:spcBef>
                  <a:spcPct val="0"/>
                </a:spcBef>
              </a:pPr>
              <a:r>
                <a:rPr lang="en-US" b="true" sz="3399" strike="noStrike" u="none">
                  <a:solidFill>
                    <a:srgbClr val="1F2937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Storage Capacity:</a:t>
              </a:r>
              <a:r>
                <a:rPr lang="en-US" sz="3399" strike="noStrike" u="none">
                  <a:solidFill>
                    <a:srgbClr val="1F2937"/>
                  </a:solidFill>
                  <a:latin typeface="Aileron"/>
                  <a:ea typeface="Aileron"/>
                  <a:cs typeface="Aileron"/>
                  <a:sym typeface="Aileron"/>
                </a:rPr>
                <a:t> 1 TB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762000" y="8465185"/>
              <a:ext cx="762000" cy="846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20"/>
                </a:lnSpc>
                <a:spcBef>
                  <a:spcPct val="0"/>
                </a:spcBef>
              </a:pPr>
              <a:r>
                <a:rPr lang="en-US" sz="3800" strike="noStrike" u="none">
                  <a:solidFill>
                    <a:srgbClr val="3B82F6"/>
                  </a:solidFill>
                  <a:latin typeface="Aileron"/>
                  <a:ea typeface="Aileron"/>
                  <a:cs typeface="Aileron"/>
                  <a:sym typeface="Aileron"/>
                </a:rPr>
                <a:t>💾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651000" y="10822305"/>
              <a:ext cx="15951200" cy="1633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99"/>
                </a:lnSpc>
                <a:spcBef>
                  <a:spcPct val="0"/>
                </a:spcBef>
              </a:pPr>
              <a:r>
                <a:rPr lang="en-US" b="true" sz="3399" strike="noStrike" u="none">
                  <a:solidFill>
                    <a:srgbClr val="1F2937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Financial Impact:</a:t>
              </a:r>
              <a:r>
                <a:rPr lang="en-US" sz="3399" strike="noStrike" u="none">
                  <a:solidFill>
                    <a:srgbClr val="1F2937"/>
                  </a:solidFill>
                  <a:latin typeface="Aileron"/>
                  <a:ea typeface="Aileron"/>
                  <a:cs typeface="Aileron"/>
                  <a:sym typeface="Aileron"/>
                </a:rPr>
                <a:t> Significant increase in operational expenditure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0650200" y="930275"/>
              <a:ext cx="16586200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  <a:spcBef>
                  <a:spcPct val="0"/>
                </a:spcBef>
              </a:pPr>
              <a:r>
                <a:rPr lang="en-US" b="true" sz="4200" strike="noStrike" u="none">
                  <a:solidFill>
                    <a:srgbClr val="1F2937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Option B: Cost Optimization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0650200" y="1870075"/>
              <a:ext cx="16586200" cy="1783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200"/>
                </a:lnSpc>
                <a:spcBef>
                  <a:spcPct val="0"/>
                </a:spcBef>
              </a:pPr>
              <a:r>
                <a:rPr lang="en-US" b="true" sz="8000" strike="noStrike" u="none">
                  <a:solidFill>
                    <a:srgbClr val="0F8D74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₹18,000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650200" y="3670723"/>
              <a:ext cx="16586200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6B7280"/>
                  </a:solidFill>
                  <a:latin typeface="Aileron"/>
                  <a:ea typeface="Aileron"/>
                  <a:cs typeface="Aileron"/>
                  <a:sym typeface="Aileron"/>
                </a:rPr>
                <a:t>per year (Vimeo)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1285200" y="5432425"/>
              <a:ext cx="15951200" cy="1633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99"/>
                </a:lnSpc>
                <a:spcBef>
                  <a:spcPct val="0"/>
                </a:spcBef>
              </a:pPr>
              <a:r>
                <a:rPr lang="en-US" b="true" sz="3399" strike="noStrike" u="none">
                  <a:solidFill>
                    <a:srgbClr val="1F2937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Security:</a:t>
              </a:r>
              <a:r>
                <a:rPr lang="en-US" sz="3399" strike="noStrike" u="none">
                  <a:solidFill>
                    <a:srgbClr val="1F2937"/>
                  </a:solidFill>
                  <a:latin typeface="Aileron"/>
                  <a:ea typeface="Aileron"/>
                  <a:cs typeface="Aileron"/>
                  <a:sym typeface="Aileron"/>
                </a:rPr>
                <a:t> Basic (No DRM; vulnerable to scraping and screen recording)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0396200" y="5451475"/>
              <a:ext cx="762000" cy="846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20"/>
                </a:lnSpc>
                <a:spcBef>
                  <a:spcPct val="0"/>
                </a:spcBef>
              </a:pPr>
              <a:r>
                <a:rPr lang="en-US" sz="3800" strike="noStrike" u="none">
                  <a:solidFill>
                    <a:srgbClr val="3B82F6"/>
                  </a:solidFill>
                  <a:latin typeface="Aileron"/>
                  <a:ea typeface="Aileron"/>
                  <a:cs typeface="Aileron"/>
                  <a:sym typeface="Aileron"/>
                </a:rPr>
                <a:t>🔓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1285200" y="8242935"/>
              <a:ext cx="15951200" cy="7829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99"/>
                </a:lnSpc>
                <a:spcBef>
                  <a:spcPct val="0"/>
                </a:spcBef>
              </a:pPr>
              <a:r>
                <a:rPr lang="en-US" b="true" sz="3399" strike="noStrike" u="none">
                  <a:solidFill>
                    <a:srgbClr val="1F2937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Storage Capacity:</a:t>
              </a:r>
              <a:r>
                <a:rPr lang="en-US" sz="3399" strike="noStrike" u="none">
                  <a:solidFill>
                    <a:srgbClr val="1F2937"/>
                  </a:solidFill>
                  <a:latin typeface="Aileron"/>
                  <a:ea typeface="Aileron"/>
                  <a:cs typeface="Aileron"/>
                  <a:sym typeface="Aileron"/>
                </a:rPr>
                <a:t> 4 TB (4x more storage)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0396200" y="8383058"/>
              <a:ext cx="762000" cy="846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20"/>
                </a:lnSpc>
                <a:spcBef>
                  <a:spcPct val="0"/>
                </a:spcBef>
              </a:pPr>
              <a:r>
                <a:rPr lang="en-US" sz="3800" strike="noStrike" u="none">
                  <a:solidFill>
                    <a:srgbClr val="3B82F6"/>
                  </a:solidFill>
                  <a:latin typeface="Aileron"/>
                  <a:ea typeface="Aileron"/>
                  <a:cs typeface="Aileron"/>
                  <a:sym typeface="Aileron"/>
                </a:rPr>
                <a:t>💾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1285200" y="10644831"/>
              <a:ext cx="15951200" cy="16338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99"/>
                </a:lnSpc>
                <a:spcBef>
                  <a:spcPct val="0"/>
                </a:spcBef>
              </a:pPr>
              <a:r>
                <a:rPr lang="en-US" b="true" sz="3399" strike="noStrike" u="none">
                  <a:solidFill>
                    <a:srgbClr val="1F2937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Financial Impact:</a:t>
              </a:r>
              <a:r>
                <a:rPr lang="en-US" sz="3399" strike="noStrike" u="none">
                  <a:solidFill>
                    <a:srgbClr val="1F2937"/>
                  </a:solidFill>
                  <a:latin typeface="Aileron"/>
                  <a:ea typeface="Aileron"/>
                  <a:cs typeface="Aileron"/>
                  <a:sym typeface="Aileron"/>
                </a:rPr>
                <a:t> Drastic 88% cost reduction compared to Option A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23067" y="6229894"/>
            <a:ext cx="14062692" cy="6313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7"/>
              </a:lnSpc>
            </a:pPr>
            <a:r>
              <a:rPr lang="en-US" b="true" sz="25597">
                <a:solidFill>
                  <a:srgbClr val="125D6B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DAHOs8fT7t4</dc:identifier>
  <dcterms:modified xsi:type="dcterms:W3CDTF">2011-08-01T06:04:30Z</dcterms:modified>
  <cp:revision>1</cp:revision>
  <dc:title>Financial Performance Report.pdf</dc:title>
</cp:coreProperties>
</file>