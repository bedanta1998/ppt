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67467"/>
            <a:ext cx="9142095" cy="4611370"/>
          </a:xfrm>
          <a:custGeom>
            <a:avLst/>
            <a:gdLst/>
            <a:ahLst/>
            <a:cxnLst/>
            <a:rect l="l" t="t" r="r" b="b"/>
            <a:pathLst>
              <a:path w="9142095" h="4611370">
                <a:moveTo>
                  <a:pt x="9141713" y="4611290"/>
                </a:moveTo>
                <a:lnTo>
                  <a:pt x="0" y="4611290"/>
                </a:lnTo>
                <a:lnTo>
                  <a:pt x="0" y="0"/>
                </a:lnTo>
                <a:lnTo>
                  <a:pt x="9141713" y="0"/>
                </a:lnTo>
                <a:lnTo>
                  <a:pt x="9141713" y="4611290"/>
                </a:lnTo>
                <a:close/>
              </a:path>
            </a:pathLst>
          </a:custGeom>
          <a:solidFill>
            <a:srgbClr val="C96329">
              <a:alpha val="16862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404658"/>
            <a:ext cx="5243830" cy="62865"/>
          </a:xfrm>
          <a:custGeom>
            <a:avLst/>
            <a:gdLst/>
            <a:ahLst/>
            <a:cxnLst/>
            <a:rect l="l" t="t" r="r" b="b"/>
            <a:pathLst>
              <a:path w="5243830" h="62865">
                <a:moveTo>
                  <a:pt x="5243369" y="62807"/>
                </a:moveTo>
                <a:lnTo>
                  <a:pt x="0" y="62807"/>
                </a:lnTo>
                <a:lnTo>
                  <a:pt x="0" y="0"/>
                </a:lnTo>
                <a:lnTo>
                  <a:pt x="5243369" y="0"/>
                </a:lnTo>
                <a:lnTo>
                  <a:pt x="5243369" y="62807"/>
                </a:lnTo>
                <a:close/>
              </a:path>
            </a:pathLst>
          </a:custGeom>
          <a:solidFill>
            <a:srgbClr val="ABD1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5243369" y="404658"/>
            <a:ext cx="3898900" cy="62865"/>
          </a:xfrm>
          <a:custGeom>
            <a:avLst/>
            <a:gdLst/>
            <a:ahLst/>
            <a:cxnLst/>
            <a:rect l="l" t="t" r="r" b="b"/>
            <a:pathLst>
              <a:path w="3898900" h="62865">
                <a:moveTo>
                  <a:pt x="3898343" y="62807"/>
                </a:moveTo>
                <a:lnTo>
                  <a:pt x="0" y="62807"/>
                </a:lnTo>
                <a:lnTo>
                  <a:pt x="0" y="0"/>
                </a:lnTo>
                <a:lnTo>
                  <a:pt x="3898343" y="0"/>
                </a:lnTo>
                <a:lnTo>
                  <a:pt x="3898343" y="62807"/>
                </a:lnTo>
                <a:close/>
              </a:path>
            </a:pathLst>
          </a:custGeom>
          <a:solidFill>
            <a:srgbClr val="46A7B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7" cy="201186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43243" y="2701417"/>
            <a:ext cx="7057512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7F091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43243" y="2701417"/>
            <a:ext cx="7057512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7F091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7F091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67467"/>
            <a:ext cx="9142095" cy="4611370"/>
          </a:xfrm>
          <a:custGeom>
            <a:avLst/>
            <a:gdLst/>
            <a:ahLst/>
            <a:cxnLst/>
            <a:rect l="l" t="t" r="r" b="b"/>
            <a:pathLst>
              <a:path w="9142095" h="4611370">
                <a:moveTo>
                  <a:pt x="9141713" y="4611290"/>
                </a:moveTo>
                <a:lnTo>
                  <a:pt x="0" y="4611290"/>
                </a:lnTo>
                <a:lnTo>
                  <a:pt x="0" y="0"/>
                </a:lnTo>
                <a:lnTo>
                  <a:pt x="9141713" y="0"/>
                </a:lnTo>
                <a:lnTo>
                  <a:pt x="9141713" y="4611290"/>
                </a:lnTo>
                <a:close/>
              </a:path>
            </a:pathLst>
          </a:custGeom>
          <a:solidFill>
            <a:srgbClr val="C96329">
              <a:alpha val="16862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404658"/>
            <a:ext cx="5243830" cy="62865"/>
          </a:xfrm>
          <a:custGeom>
            <a:avLst/>
            <a:gdLst/>
            <a:ahLst/>
            <a:cxnLst/>
            <a:rect l="l" t="t" r="r" b="b"/>
            <a:pathLst>
              <a:path w="5243830" h="62865">
                <a:moveTo>
                  <a:pt x="5243369" y="62807"/>
                </a:moveTo>
                <a:lnTo>
                  <a:pt x="0" y="62807"/>
                </a:lnTo>
                <a:lnTo>
                  <a:pt x="0" y="0"/>
                </a:lnTo>
                <a:lnTo>
                  <a:pt x="5243369" y="0"/>
                </a:lnTo>
                <a:lnTo>
                  <a:pt x="5243369" y="62807"/>
                </a:lnTo>
                <a:close/>
              </a:path>
            </a:pathLst>
          </a:custGeom>
          <a:solidFill>
            <a:srgbClr val="ABD1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5243369" y="404658"/>
            <a:ext cx="3898900" cy="62865"/>
          </a:xfrm>
          <a:custGeom>
            <a:avLst/>
            <a:gdLst/>
            <a:ahLst/>
            <a:cxnLst/>
            <a:rect l="l" t="t" r="r" b="b"/>
            <a:pathLst>
              <a:path w="3898900" h="62865">
                <a:moveTo>
                  <a:pt x="3898343" y="62807"/>
                </a:moveTo>
                <a:lnTo>
                  <a:pt x="0" y="62807"/>
                </a:lnTo>
                <a:lnTo>
                  <a:pt x="0" y="0"/>
                </a:lnTo>
                <a:lnTo>
                  <a:pt x="3898343" y="0"/>
                </a:lnTo>
                <a:lnTo>
                  <a:pt x="3898343" y="62807"/>
                </a:lnTo>
                <a:close/>
              </a:path>
            </a:pathLst>
          </a:custGeom>
          <a:solidFill>
            <a:srgbClr val="46A7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7F091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398780"/>
          </a:xfrm>
          <a:custGeom>
            <a:avLst/>
            <a:gdLst/>
            <a:ahLst/>
            <a:cxnLst/>
            <a:rect l="l" t="t" r="r" b="b"/>
            <a:pathLst>
              <a:path w="9144000" h="398780">
                <a:moveTo>
                  <a:pt x="0" y="398171"/>
                </a:moveTo>
                <a:lnTo>
                  <a:pt x="9143999" y="398171"/>
                </a:lnTo>
                <a:lnTo>
                  <a:pt x="9143999" y="0"/>
                </a:lnTo>
                <a:lnTo>
                  <a:pt x="0" y="0"/>
                </a:lnTo>
                <a:lnTo>
                  <a:pt x="0" y="398171"/>
                </a:lnTo>
                <a:close/>
              </a:path>
            </a:pathLst>
          </a:custGeom>
          <a:solidFill>
            <a:srgbClr val="98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67467"/>
            <a:ext cx="9142095" cy="4611370"/>
          </a:xfrm>
          <a:custGeom>
            <a:avLst/>
            <a:gdLst/>
            <a:ahLst/>
            <a:cxnLst/>
            <a:rect l="l" t="t" r="r" b="b"/>
            <a:pathLst>
              <a:path w="9142095" h="4611370">
                <a:moveTo>
                  <a:pt x="9141713" y="4611290"/>
                </a:moveTo>
                <a:lnTo>
                  <a:pt x="0" y="4611290"/>
                </a:lnTo>
                <a:lnTo>
                  <a:pt x="0" y="0"/>
                </a:lnTo>
                <a:lnTo>
                  <a:pt x="9141713" y="0"/>
                </a:lnTo>
                <a:lnTo>
                  <a:pt x="9141713" y="4611290"/>
                </a:lnTo>
                <a:close/>
              </a:path>
            </a:pathLst>
          </a:custGeom>
          <a:solidFill>
            <a:srgbClr val="C96329">
              <a:alpha val="168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243369" y="404658"/>
            <a:ext cx="3898900" cy="62865"/>
          </a:xfrm>
          <a:custGeom>
            <a:avLst/>
            <a:gdLst/>
            <a:ahLst/>
            <a:cxnLst/>
            <a:rect l="l" t="t" r="r" b="b"/>
            <a:pathLst>
              <a:path w="3898900" h="62865">
                <a:moveTo>
                  <a:pt x="3898343" y="62807"/>
                </a:moveTo>
                <a:lnTo>
                  <a:pt x="0" y="62807"/>
                </a:lnTo>
                <a:lnTo>
                  <a:pt x="0" y="0"/>
                </a:lnTo>
                <a:lnTo>
                  <a:pt x="3898343" y="0"/>
                </a:lnTo>
                <a:lnTo>
                  <a:pt x="3898343" y="62807"/>
                </a:lnTo>
                <a:close/>
              </a:path>
            </a:pathLst>
          </a:custGeom>
          <a:solidFill>
            <a:srgbClr val="46A7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404658"/>
            <a:ext cx="5243830" cy="62865"/>
          </a:xfrm>
          <a:custGeom>
            <a:avLst/>
            <a:gdLst/>
            <a:ahLst/>
            <a:cxnLst/>
            <a:rect l="l" t="t" r="r" b="b"/>
            <a:pathLst>
              <a:path w="5243830" h="62865">
                <a:moveTo>
                  <a:pt x="5243369" y="62807"/>
                </a:moveTo>
                <a:lnTo>
                  <a:pt x="0" y="62807"/>
                </a:lnTo>
                <a:lnTo>
                  <a:pt x="0" y="0"/>
                </a:lnTo>
                <a:lnTo>
                  <a:pt x="5243369" y="0"/>
                </a:lnTo>
                <a:lnTo>
                  <a:pt x="5243369" y="62807"/>
                </a:lnTo>
                <a:close/>
              </a:path>
            </a:pathLst>
          </a:custGeom>
          <a:solidFill>
            <a:srgbClr val="ABD1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025" y="-51691"/>
            <a:ext cx="8882981" cy="520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7F091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0742" y="940815"/>
            <a:ext cx="8022515" cy="276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jpg"/><Relationship Id="rId9" Type="http://schemas.openxmlformats.org/officeDocument/2006/relationships/image" Target="../media/image9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hyperlink" Target="https://nptel.ac.in/internship" TargetMode="External"/><Relationship Id="rId10" Type="http://schemas.openxmlformats.org/officeDocument/2006/relationships/image" Target="../media/image1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nkaisare@nptel.iitm.ac.in" TargetMode="Externa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 b="1">
                <a:solidFill>
                  <a:srgbClr val="7F091B"/>
                </a:solidFill>
                <a:latin typeface="Roboto"/>
                <a:cs typeface="Roboto"/>
              </a:rPr>
              <a:t>Faculty</a:t>
            </a:r>
            <a:r>
              <a:rPr dirty="0" sz="3600" spc="-90" b="1">
                <a:solidFill>
                  <a:srgbClr val="7F091B"/>
                </a:solidFill>
                <a:latin typeface="Roboto"/>
                <a:cs typeface="Roboto"/>
              </a:rPr>
              <a:t> </a:t>
            </a:r>
            <a:r>
              <a:rPr dirty="0" sz="3600" b="1">
                <a:solidFill>
                  <a:srgbClr val="7F091B"/>
                </a:solidFill>
                <a:latin typeface="Roboto"/>
                <a:cs typeface="Roboto"/>
              </a:rPr>
              <a:t>/</a:t>
            </a:r>
            <a:r>
              <a:rPr dirty="0" sz="3600" spc="-170" b="1">
                <a:solidFill>
                  <a:srgbClr val="7F091B"/>
                </a:solidFill>
                <a:latin typeface="Roboto"/>
                <a:cs typeface="Roboto"/>
              </a:rPr>
              <a:t> </a:t>
            </a:r>
            <a:r>
              <a:rPr dirty="0" sz="3600" b="1">
                <a:solidFill>
                  <a:srgbClr val="7F091B"/>
                </a:solidFill>
                <a:latin typeface="Roboto"/>
                <a:cs typeface="Roboto"/>
              </a:rPr>
              <a:t>TA</a:t>
            </a:r>
            <a:r>
              <a:rPr dirty="0" sz="3600" spc="-90" b="1">
                <a:solidFill>
                  <a:srgbClr val="7F091B"/>
                </a:solidFill>
                <a:latin typeface="Roboto"/>
                <a:cs typeface="Roboto"/>
              </a:rPr>
              <a:t> </a:t>
            </a:r>
            <a:r>
              <a:rPr dirty="0" sz="3600" spc="-10" b="1">
                <a:solidFill>
                  <a:srgbClr val="7F091B"/>
                </a:solidFill>
                <a:latin typeface="Roboto"/>
                <a:cs typeface="Roboto"/>
              </a:rPr>
              <a:t>Orientation</a:t>
            </a:r>
            <a:r>
              <a:rPr dirty="0" sz="3600" spc="-90" b="1">
                <a:solidFill>
                  <a:srgbClr val="7F091B"/>
                </a:solidFill>
                <a:latin typeface="Roboto"/>
                <a:cs typeface="Roboto"/>
              </a:rPr>
              <a:t> </a:t>
            </a:r>
            <a:r>
              <a:rPr dirty="0" sz="3600" spc="-10" b="1">
                <a:solidFill>
                  <a:srgbClr val="7F091B"/>
                </a:solidFill>
                <a:latin typeface="Roboto"/>
                <a:cs typeface="Roboto"/>
              </a:rPr>
              <a:t>Workshop</a:t>
            </a:r>
            <a:endParaRPr sz="36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46570" y="3798697"/>
            <a:ext cx="204914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7F091B"/>
                </a:solidFill>
                <a:latin typeface="Roboto"/>
                <a:cs typeface="Roboto"/>
              </a:rPr>
              <a:t>July</a:t>
            </a:r>
            <a:r>
              <a:rPr dirty="0" sz="3600" spc="-95" b="1">
                <a:solidFill>
                  <a:srgbClr val="7F091B"/>
                </a:solidFill>
                <a:latin typeface="Roboto"/>
                <a:cs typeface="Roboto"/>
              </a:rPr>
              <a:t> </a:t>
            </a:r>
            <a:r>
              <a:rPr dirty="0" sz="3600" spc="-20" b="1">
                <a:solidFill>
                  <a:srgbClr val="7F091B"/>
                </a:solidFill>
                <a:latin typeface="Roboto"/>
                <a:cs typeface="Roboto"/>
              </a:rPr>
              <a:t>2026</a:t>
            </a:r>
            <a:endParaRPr sz="3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810" y="0"/>
            <a:ext cx="9151620" cy="5147310"/>
            <a:chOff x="-3810" y="0"/>
            <a:chExt cx="9151620" cy="51473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078556"/>
              <a:ext cx="9131949" cy="328465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37978" y="1422643"/>
              <a:ext cx="1597199" cy="11727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4714875"/>
              <a:ext cx="9144000" cy="428625"/>
            </a:xfrm>
            <a:custGeom>
              <a:avLst/>
              <a:gdLst/>
              <a:ahLst/>
              <a:cxnLst/>
              <a:rect l="l" t="t" r="r" b="b"/>
              <a:pathLst>
                <a:path w="9144000" h="428625">
                  <a:moveTo>
                    <a:pt x="9143678" y="428625"/>
                  </a:moveTo>
                  <a:lnTo>
                    <a:pt x="0" y="428624"/>
                  </a:lnTo>
                  <a:lnTo>
                    <a:pt x="0" y="0"/>
                  </a:lnTo>
                  <a:lnTo>
                    <a:pt x="9143678" y="0"/>
                  </a:lnTo>
                  <a:lnTo>
                    <a:pt x="9143678" y="4286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4714875"/>
              <a:ext cx="9144000" cy="428625"/>
            </a:xfrm>
            <a:custGeom>
              <a:avLst/>
              <a:gdLst/>
              <a:ahLst/>
              <a:cxnLst/>
              <a:rect l="l" t="t" r="r" b="b"/>
              <a:pathLst>
                <a:path w="9144000" h="428625">
                  <a:moveTo>
                    <a:pt x="0" y="0"/>
                  </a:moveTo>
                  <a:lnTo>
                    <a:pt x="9143678" y="0"/>
                  </a:lnTo>
                  <a:lnTo>
                    <a:pt x="9143678" y="428625"/>
                  </a:lnTo>
                  <a:lnTo>
                    <a:pt x="0" y="428624"/>
                  </a:lnTo>
                </a:path>
              </a:pathLst>
            </a:custGeom>
            <a:ln w="7149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6974" y="4857750"/>
              <a:ext cx="144037" cy="14287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610330" y="4835207"/>
            <a:ext cx="184658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666666"/>
                </a:solidFill>
                <a:latin typeface="Roboto"/>
                <a:cs typeface="Roboto"/>
              </a:rPr>
              <a:t>httpз://оnlineсоurзeз.nptel.aс.in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0"/>
            <a:ext cx="9143365" cy="571500"/>
          </a:xfrm>
          <a:custGeom>
            <a:avLst/>
            <a:gdLst/>
            <a:ahLst/>
            <a:cxnLst/>
            <a:rect l="l" t="t" r="r" b="b"/>
            <a:pathLst>
              <a:path w="9143365" h="571500">
                <a:moveTo>
                  <a:pt x="9143125" y="0"/>
                </a:moveTo>
                <a:lnTo>
                  <a:pt x="9143125" y="571499"/>
                </a:lnTo>
                <a:lnTo>
                  <a:pt x="0" y="571499"/>
                </a:lnTo>
                <a:lnTo>
                  <a:pt x="0" y="0"/>
                </a:lnTo>
                <a:lnTo>
                  <a:pt x="9143125" y="0"/>
                </a:lnTo>
                <a:close/>
              </a:path>
            </a:pathLst>
          </a:custGeom>
          <a:solidFill>
            <a:srgbClr val="98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2369" rIns="0" bIns="0" rtlCol="0" vert="horz">
            <a:spAutoFit/>
          </a:bodyPr>
          <a:lstStyle/>
          <a:p>
            <a:pPr marL="7239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</a:rPr>
              <a:t>NPTEL</a:t>
            </a:r>
            <a:r>
              <a:rPr dirty="0" sz="2400" spc="-120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ONLINE</a:t>
            </a:r>
            <a:r>
              <a:rPr dirty="0" sz="2400" spc="-80">
                <a:solidFill>
                  <a:srgbClr val="FFFFFF"/>
                </a:solidFill>
              </a:rPr>
              <a:t> </a:t>
            </a:r>
            <a:r>
              <a:rPr dirty="0" sz="2400" spc="-10">
                <a:solidFill>
                  <a:srgbClr val="FFFFFF"/>
                </a:solidFill>
              </a:rPr>
              <a:t>CERTIFICATION</a:t>
            </a:r>
            <a:r>
              <a:rPr dirty="0" sz="2400" spc="-75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(NOC),</a:t>
            </a:r>
            <a:r>
              <a:rPr dirty="0" sz="2400" spc="-80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SINCE</a:t>
            </a:r>
            <a:r>
              <a:rPr dirty="0" sz="2400" spc="-80">
                <a:solidFill>
                  <a:srgbClr val="FFFFFF"/>
                </a:solidFill>
              </a:rPr>
              <a:t> </a:t>
            </a:r>
            <a:r>
              <a:rPr dirty="0" sz="2400" spc="-20">
                <a:solidFill>
                  <a:srgbClr val="FFFFFF"/>
                </a:solidFill>
              </a:rPr>
              <a:t>2014</a:t>
            </a:r>
            <a:endParaRPr sz="2400"/>
          </a:p>
        </p:txBody>
      </p:sp>
      <p:grpSp>
        <p:nvGrpSpPr>
          <p:cNvPr id="12" name="object 12"/>
          <p:cNvGrpSpPr/>
          <p:nvPr/>
        </p:nvGrpSpPr>
        <p:grpSpPr>
          <a:xfrm>
            <a:off x="2544970" y="1254975"/>
            <a:ext cx="3884295" cy="1259205"/>
            <a:chOff x="2544970" y="1254975"/>
            <a:chExt cx="3884295" cy="125920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44970" y="1254975"/>
              <a:ext cx="1843450" cy="35823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15986" y="1402736"/>
              <a:ext cx="1513199" cy="111119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66170" y="2384173"/>
            <a:ext cx="1290320" cy="1035050"/>
          </a:xfrm>
          <a:prstGeom prst="rect">
            <a:avLst/>
          </a:prstGeom>
        </p:spPr>
        <p:txBody>
          <a:bodyPr wrap="square" lIns="0" tIns="187325" rIns="0" bIns="0" rtlCol="0" vert="horz">
            <a:spAutoFit/>
          </a:bodyPr>
          <a:lstStyle/>
          <a:p>
            <a:pPr algn="ctr" marR="6350">
              <a:lnSpc>
                <a:spcPct val="100000"/>
              </a:lnSpc>
              <a:spcBef>
                <a:spcPts val="1475"/>
              </a:spcBef>
            </a:pPr>
            <a:r>
              <a:rPr dirty="0" sz="2200" spc="-10" b="1">
                <a:solidFill>
                  <a:srgbClr val="7F091B"/>
                </a:solidFill>
                <a:latin typeface="Arial"/>
                <a:cs typeface="Arial"/>
              </a:rPr>
              <a:t>10,286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10"/>
              </a:spcBef>
            </a:pPr>
            <a:r>
              <a:rPr dirty="0" sz="1300" b="1">
                <a:solidFill>
                  <a:srgbClr val="333333"/>
                </a:solidFill>
                <a:latin typeface="Arial"/>
                <a:cs typeface="Arial"/>
              </a:rPr>
              <a:t>Courses</a:t>
            </a:r>
            <a:r>
              <a:rPr dirty="0" sz="1300" spc="-9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333333"/>
                </a:solidFill>
                <a:latin typeface="Arial"/>
                <a:cs typeface="Arial"/>
              </a:rPr>
              <a:t>offered</a:t>
            </a:r>
            <a:endParaRPr sz="13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1300">
                <a:solidFill>
                  <a:srgbClr val="666666"/>
                </a:solidFill>
                <a:latin typeface="Arial MT"/>
                <a:cs typeface="Arial MT"/>
              </a:rPr>
              <a:t>on</a:t>
            </a:r>
            <a:r>
              <a:rPr dirty="0" sz="1300" spc="-2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666666"/>
                </a:solidFill>
                <a:latin typeface="Arial MT"/>
                <a:cs typeface="Arial MT"/>
              </a:rPr>
              <a:t>Swayam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40570" y="2380753"/>
            <a:ext cx="1391920" cy="1064260"/>
          </a:xfrm>
          <a:prstGeom prst="rect">
            <a:avLst/>
          </a:prstGeom>
        </p:spPr>
        <p:txBody>
          <a:bodyPr wrap="square" lIns="0" tIns="2051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dirty="0" sz="2200" b="1">
                <a:solidFill>
                  <a:srgbClr val="7F091B"/>
                </a:solidFill>
                <a:latin typeface="Arial"/>
                <a:cs typeface="Arial"/>
              </a:rPr>
              <a:t>4.16</a:t>
            </a:r>
            <a:r>
              <a:rPr dirty="0" sz="2200" spc="-65" b="1">
                <a:solidFill>
                  <a:srgbClr val="7F091B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7F091B"/>
                </a:solidFill>
                <a:latin typeface="Arial"/>
                <a:cs typeface="Arial"/>
              </a:rPr>
              <a:t>Crore</a:t>
            </a:r>
            <a:endParaRPr sz="2200">
              <a:latin typeface="Arial"/>
              <a:cs typeface="Arial"/>
            </a:endParaRPr>
          </a:p>
          <a:p>
            <a:pPr algn="ctr" marR="20955">
              <a:lnSpc>
                <a:spcPct val="100000"/>
              </a:lnSpc>
              <a:spcBef>
                <a:spcPts val="900"/>
              </a:spcBef>
            </a:pPr>
            <a:r>
              <a:rPr dirty="0" sz="1300" spc="-10" b="1">
                <a:solidFill>
                  <a:srgbClr val="333333"/>
                </a:solidFill>
                <a:latin typeface="Arial"/>
                <a:cs typeface="Arial"/>
              </a:rPr>
              <a:t>Enrollments</a:t>
            </a:r>
            <a:endParaRPr sz="1300">
              <a:latin typeface="Arial"/>
              <a:cs typeface="Arial"/>
            </a:endParaRPr>
          </a:p>
          <a:p>
            <a:pPr algn="ctr" marR="20955">
              <a:lnSpc>
                <a:spcPct val="100000"/>
              </a:lnSpc>
            </a:pPr>
            <a:r>
              <a:rPr dirty="0" sz="1300">
                <a:solidFill>
                  <a:srgbClr val="666666"/>
                </a:solidFill>
                <a:latin typeface="Arial MT"/>
                <a:cs typeface="Arial MT"/>
              </a:rPr>
              <a:t>(No</a:t>
            </a:r>
            <a:r>
              <a:rPr dirty="0" sz="1300" spc="-4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300" spc="-20">
                <a:solidFill>
                  <a:srgbClr val="666666"/>
                </a:solidFill>
                <a:latin typeface="Arial MT"/>
                <a:cs typeface="Arial MT"/>
              </a:rPr>
              <a:t>fee)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34692" y="2568638"/>
            <a:ext cx="1543685" cy="821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7F091B"/>
                </a:solidFill>
                <a:latin typeface="Arial"/>
                <a:cs typeface="Arial"/>
              </a:rPr>
              <a:t>88.27</a:t>
            </a:r>
            <a:r>
              <a:rPr dirty="0" sz="2100" spc="-25" b="1">
                <a:solidFill>
                  <a:srgbClr val="7F091B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7F091B"/>
                </a:solidFill>
                <a:latin typeface="Arial"/>
                <a:cs typeface="Arial"/>
              </a:rPr>
              <a:t>Lakhs</a:t>
            </a:r>
            <a:endParaRPr sz="2100">
              <a:latin typeface="Arial"/>
              <a:cs typeface="Arial"/>
            </a:endParaRPr>
          </a:p>
          <a:p>
            <a:pPr marL="35560">
              <a:lnSpc>
                <a:spcPct val="100000"/>
              </a:lnSpc>
              <a:spcBef>
                <a:spcPts val="969"/>
              </a:spcBef>
            </a:pPr>
            <a:r>
              <a:rPr dirty="0" sz="1300" b="1">
                <a:solidFill>
                  <a:srgbClr val="333333"/>
                </a:solidFill>
                <a:latin typeface="Arial"/>
                <a:cs typeface="Arial"/>
              </a:rPr>
              <a:t>Exam</a:t>
            </a:r>
            <a:r>
              <a:rPr dirty="0" sz="1300" spc="-2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333333"/>
                </a:solidFill>
                <a:latin typeface="Arial"/>
                <a:cs typeface="Arial"/>
              </a:rPr>
              <a:t>registrations</a:t>
            </a:r>
            <a:endParaRPr sz="130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15"/>
              </a:spcBef>
            </a:pPr>
            <a:r>
              <a:rPr dirty="0" sz="1000">
                <a:solidFill>
                  <a:srgbClr val="666666"/>
                </a:solidFill>
                <a:latin typeface="Arial MT"/>
                <a:cs typeface="Arial MT"/>
              </a:rPr>
              <a:t>Proctored</a:t>
            </a:r>
            <a:r>
              <a:rPr dirty="0" sz="1000" spc="-2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66666"/>
                </a:solidFill>
                <a:latin typeface="Arial MT"/>
                <a:cs typeface="Arial MT"/>
              </a:rPr>
              <a:t>Exam</a:t>
            </a:r>
            <a:r>
              <a:rPr dirty="0" sz="1000" spc="-2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66666"/>
                </a:solidFill>
                <a:latin typeface="Arial MT"/>
                <a:cs typeface="Arial MT"/>
              </a:rPr>
              <a:t>(Optional)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15916" y="2377205"/>
            <a:ext cx="1459865" cy="1011555"/>
          </a:xfrm>
          <a:prstGeom prst="rect">
            <a:avLst/>
          </a:prstGeom>
        </p:spPr>
        <p:txBody>
          <a:bodyPr wrap="square" lIns="0" tIns="191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2200" b="1">
                <a:solidFill>
                  <a:srgbClr val="7F091B"/>
                </a:solidFill>
                <a:latin typeface="Arial"/>
                <a:cs typeface="Arial"/>
              </a:rPr>
              <a:t>57.2</a:t>
            </a:r>
            <a:r>
              <a:rPr dirty="0" sz="2200" spc="-65" b="1">
                <a:solidFill>
                  <a:srgbClr val="7F091B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7F091B"/>
                </a:solidFill>
                <a:latin typeface="Arial"/>
                <a:cs typeface="Arial"/>
              </a:rPr>
              <a:t>Lakhs</a:t>
            </a:r>
            <a:endParaRPr sz="2200">
              <a:latin typeface="Arial"/>
              <a:cs typeface="Arial"/>
            </a:endParaRPr>
          </a:p>
          <a:p>
            <a:pPr algn="ctr" marL="12065">
              <a:lnSpc>
                <a:spcPct val="100000"/>
              </a:lnSpc>
              <a:spcBef>
                <a:spcPts val="830"/>
              </a:spcBef>
            </a:pPr>
            <a:r>
              <a:rPr dirty="0" sz="1300" spc="-10" b="1">
                <a:solidFill>
                  <a:srgbClr val="333333"/>
                </a:solidFill>
                <a:latin typeface="Arial"/>
                <a:cs typeface="Arial"/>
              </a:rPr>
              <a:t>Certified</a:t>
            </a:r>
            <a:endParaRPr sz="1300">
              <a:latin typeface="Arial"/>
              <a:cs typeface="Arial"/>
            </a:endParaRPr>
          </a:p>
          <a:p>
            <a:pPr algn="ctr" marL="13335">
              <a:lnSpc>
                <a:spcPct val="100000"/>
              </a:lnSpc>
              <a:spcBef>
                <a:spcPts val="5"/>
              </a:spcBef>
            </a:pPr>
            <a:r>
              <a:rPr dirty="0" sz="1100" spc="-10">
                <a:solidFill>
                  <a:srgbClr val="666666"/>
                </a:solidFill>
                <a:latin typeface="Arial MT"/>
                <a:cs typeface="Arial MT"/>
              </a:rPr>
              <a:t>e-verifiable</a:t>
            </a:r>
            <a:r>
              <a:rPr dirty="0" sz="1100" spc="1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66666"/>
                </a:solidFill>
                <a:latin typeface="Arial MT"/>
                <a:cs typeface="Arial MT"/>
              </a:rPr>
              <a:t>Certificates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62600" y="1254975"/>
            <a:ext cx="3931920" cy="1259205"/>
            <a:chOff x="362600" y="1254975"/>
            <a:chExt cx="3931920" cy="1259205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2600" y="1254975"/>
              <a:ext cx="1654800" cy="12589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39287" y="1673600"/>
              <a:ext cx="1654799" cy="8403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42832" y="1346100"/>
            <a:ext cx="424815" cy="2912110"/>
          </a:xfrm>
          <a:custGeom>
            <a:avLst/>
            <a:gdLst/>
            <a:ahLst/>
            <a:cxnLst/>
            <a:rect l="l" t="t" r="r" b="b"/>
            <a:pathLst>
              <a:path w="424815" h="2912110">
                <a:moveTo>
                  <a:pt x="424199" y="2911499"/>
                </a:moveTo>
                <a:lnTo>
                  <a:pt x="0" y="2911499"/>
                </a:lnTo>
                <a:lnTo>
                  <a:pt x="0" y="0"/>
                </a:lnTo>
                <a:lnTo>
                  <a:pt x="424199" y="0"/>
                </a:lnTo>
                <a:lnTo>
                  <a:pt x="424199" y="2911499"/>
                </a:lnTo>
                <a:close/>
              </a:path>
            </a:pathLst>
          </a:custGeom>
          <a:solidFill>
            <a:srgbClr val="EC5F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547557" y="3860531"/>
            <a:ext cx="424815" cy="403225"/>
          </a:xfrm>
          <a:custGeom>
            <a:avLst/>
            <a:gdLst/>
            <a:ahLst/>
            <a:cxnLst/>
            <a:rect l="l" t="t" r="r" b="b"/>
            <a:pathLst>
              <a:path w="424815" h="403225">
                <a:moveTo>
                  <a:pt x="424199" y="402599"/>
                </a:moveTo>
                <a:lnTo>
                  <a:pt x="0" y="402599"/>
                </a:lnTo>
                <a:lnTo>
                  <a:pt x="0" y="0"/>
                </a:lnTo>
                <a:lnTo>
                  <a:pt x="424199" y="0"/>
                </a:lnTo>
                <a:lnTo>
                  <a:pt x="424199" y="402599"/>
                </a:lnTo>
                <a:close/>
              </a:path>
            </a:pathLst>
          </a:custGeom>
          <a:solidFill>
            <a:srgbClr val="EA999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0690" y="1035816"/>
            <a:ext cx="639931" cy="63993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0"/>
            <a:ext cx="9143365" cy="394970"/>
          </a:xfrm>
          <a:custGeom>
            <a:avLst/>
            <a:gdLst/>
            <a:ahLst/>
            <a:cxnLst/>
            <a:rect l="l" t="t" r="r" b="b"/>
            <a:pathLst>
              <a:path w="9143365" h="394970">
                <a:moveTo>
                  <a:pt x="9143051" y="0"/>
                </a:moveTo>
                <a:lnTo>
                  <a:pt x="9143051" y="394847"/>
                </a:lnTo>
                <a:lnTo>
                  <a:pt x="0" y="394847"/>
                </a:lnTo>
                <a:lnTo>
                  <a:pt x="0" y="0"/>
                </a:lnTo>
                <a:lnTo>
                  <a:pt x="9143051" y="0"/>
                </a:lnTo>
                <a:close/>
              </a:path>
            </a:pathLst>
          </a:custGeom>
          <a:solidFill>
            <a:srgbClr val="98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7885" rIns="0" bIns="0" rtlCol="0" vert="horz">
            <a:spAutoFit/>
          </a:bodyPr>
          <a:lstStyle/>
          <a:p>
            <a:pPr marL="293243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Roboto"/>
                <a:cs typeface="Roboto"/>
              </a:rPr>
              <a:t>FROM</a:t>
            </a:r>
            <a:r>
              <a:rPr dirty="0" sz="1800" spc="-4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FFFFFF"/>
                </a:solidFill>
                <a:latin typeface="Roboto"/>
                <a:cs typeface="Roboto"/>
              </a:rPr>
              <a:t>MAR</a:t>
            </a:r>
            <a:r>
              <a:rPr dirty="0" sz="18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FFFFFF"/>
                </a:solidFill>
                <a:latin typeface="Roboto"/>
                <a:cs typeface="Roboto"/>
              </a:rPr>
              <a:t>2014</a:t>
            </a:r>
            <a:r>
              <a:rPr dirty="0" sz="18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800" spc="-120">
                <a:solidFill>
                  <a:srgbClr val="FFFFFF"/>
                </a:solidFill>
                <a:latin typeface="Roboto"/>
                <a:cs typeface="Roboto"/>
              </a:rPr>
              <a:t>–</a:t>
            </a:r>
            <a:r>
              <a:rPr dirty="0" sz="1800" spc="-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FFFFFF"/>
                </a:solidFill>
                <a:latin typeface="Roboto"/>
                <a:cs typeface="Roboto"/>
              </a:rPr>
              <a:t>JUN</a:t>
            </a:r>
            <a:r>
              <a:rPr dirty="0" sz="18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Roboto"/>
                <a:cs typeface="Roboto"/>
              </a:rPr>
              <a:t>2026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54103" y="636046"/>
            <a:ext cx="43218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Jan</a:t>
            </a:r>
            <a:r>
              <a:rPr dirty="0" sz="1800" spc="-3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2026</a:t>
            </a:r>
            <a:r>
              <a:rPr dirty="0" sz="1800" spc="-2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Sem:</a:t>
            </a:r>
            <a:r>
              <a:rPr dirty="0" sz="1800" spc="-1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36.8+</a:t>
            </a:r>
            <a:r>
              <a:rPr dirty="0" sz="1800" spc="-2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lakhs</a:t>
            </a:r>
            <a:r>
              <a:rPr dirty="0" sz="1800" spc="-1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00FF"/>
                </a:solidFill>
                <a:latin typeface="Arial"/>
                <a:cs typeface="Arial"/>
              </a:rPr>
              <a:t>enrollments,</a:t>
            </a:r>
            <a:endParaRPr sz="1800">
              <a:latin typeface="Arial"/>
              <a:cs typeface="Arial"/>
            </a:endParaRPr>
          </a:p>
          <a:p>
            <a:pPr algn="ctr" marL="2540">
              <a:lnSpc>
                <a:spcPct val="100000"/>
              </a:lnSpc>
            </a:pP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12.6+</a:t>
            </a:r>
            <a:r>
              <a:rPr dirty="0" sz="1800" spc="-3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lakhs</a:t>
            </a:r>
            <a:r>
              <a:rPr dirty="0" sz="1800" spc="-2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exam</a:t>
            </a:r>
            <a:r>
              <a:rPr dirty="0" sz="1800" spc="-2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00FF"/>
                </a:solidFill>
                <a:latin typeface="Arial"/>
                <a:cs typeface="Arial"/>
              </a:rPr>
              <a:t>registrations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72678" y="2830387"/>
            <a:ext cx="640080" cy="1433195"/>
            <a:chOff x="1172678" y="2830387"/>
            <a:chExt cx="640080" cy="1433195"/>
          </a:xfrm>
        </p:grpSpPr>
        <p:sp>
          <p:nvSpPr>
            <p:cNvPr id="9" name="object 9"/>
            <p:cNvSpPr/>
            <p:nvPr/>
          </p:nvSpPr>
          <p:spPr>
            <a:xfrm>
              <a:off x="1350907" y="3156281"/>
              <a:ext cx="424815" cy="704850"/>
            </a:xfrm>
            <a:custGeom>
              <a:avLst/>
              <a:gdLst/>
              <a:ahLst/>
              <a:cxnLst/>
              <a:rect l="l" t="t" r="r" b="b"/>
              <a:pathLst>
                <a:path w="424814" h="704850">
                  <a:moveTo>
                    <a:pt x="0" y="704249"/>
                  </a:moveTo>
                  <a:lnTo>
                    <a:pt x="424199" y="704249"/>
                  </a:lnTo>
                  <a:lnTo>
                    <a:pt x="424199" y="0"/>
                  </a:lnTo>
                  <a:lnTo>
                    <a:pt x="0" y="0"/>
                  </a:lnTo>
                  <a:lnTo>
                    <a:pt x="0" y="704249"/>
                  </a:lnTo>
                  <a:close/>
                </a:path>
              </a:pathLst>
            </a:custGeom>
            <a:solidFill>
              <a:srgbClr val="EC5F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51038" y="3860531"/>
              <a:ext cx="424815" cy="403225"/>
            </a:xfrm>
            <a:custGeom>
              <a:avLst/>
              <a:gdLst/>
              <a:ahLst/>
              <a:cxnLst/>
              <a:rect l="l" t="t" r="r" b="b"/>
              <a:pathLst>
                <a:path w="424814" h="403225">
                  <a:moveTo>
                    <a:pt x="424199" y="402599"/>
                  </a:moveTo>
                  <a:lnTo>
                    <a:pt x="0" y="402599"/>
                  </a:lnTo>
                  <a:lnTo>
                    <a:pt x="0" y="0"/>
                  </a:lnTo>
                  <a:lnTo>
                    <a:pt x="424199" y="0"/>
                  </a:lnTo>
                  <a:lnTo>
                    <a:pt x="424199" y="402599"/>
                  </a:lnTo>
                  <a:close/>
                </a:path>
              </a:pathLst>
            </a:custGeom>
            <a:solidFill>
              <a:srgbClr val="EA99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2678" y="2830387"/>
              <a:ext cx="639932" cy="63993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398490" y="2989060"/>
            <a:ext cx="331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EC5F55"/>
                </a:solidFill>
                <a:latin typeface="Roboto"/>
                <a:cs typeface="Roboto"/>
              </a:rPr>
              <a:t>0.03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01673" y="3341895"/>
            <a:ext cx="278765" cy="476250"/>
          </a:xfrm>
          <a:prstGeom prst="rect">
            <a:avLst/>
          </a:prstGeom>
        </p:spPr>
        <p:txBody>
          <a:bodyPr wrap="square" lIns="0" tIns="508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800" spc="-50" b="1">
                <a:solidFill>
                  <a:srgbClr val="FFFFFF"/>
                </a:solidFill>
                <a:latin typeface="Roboto"/>
                <a:cs typeface="Roboto"/>
              </a:rPr>
              <a:t>3</a:t>
            </a:r>
            <a:endParaRPr sz="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solidFill>
                  <a:srgbClr val="FFFFFF"/>
                </a:solidFill>
                <a:latin typeface="Roboto"/>
                <a:cs typeface="Roboto"/>
              </a:rPr>
              <a:t>COURSES</a:t>
            </a:r>
            <a:endParaRPr sz="80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691036" y="2805835"/>
            <a:ext cx="640080" cy="1452245"/>
            <a:chOff x="1691036" y="2805835"/>
            <a:chExt cx="640080" cy="1452245"/>
          </a:xfrm>
        </p:grpSpPr>
        <p:sp>
          <p:nvSpPr>
            <p:cNvPr id="15" name="object 15"/>
            <p:cNvSpPr/>
            <p:nvPr/>
          </p:nvSpPr>
          <p:spPr>
            <a:xfrm>
              <a:off x="1869275" y="3156496"/>
              <a:ext cx="424815" cy="1101725"/>
            </a:xfrm>
            <a:custGeom>
              <a:avLst/>
              <a:gdLst/>
              <a:ahLst/>
              <a:cxnLst/>
              <a:rect l="l" t="t" r="r" b="b"/>
              <a:pathLst>
                <a:path w="424814" h="1101725">
                  <a:moveTo>
                    <a:pt x="424192" y="1097686"/>
                  </a:moveTo>
                  <a:lnTo>
                    <a:pt x="0" y="1097686"/>
                  </a:lnTo>
                  <a:lnTo>
                    <a:pt x="0" y="1101293"/>
                  </a:lnTo>
                  <a:lnTo>
                    <a:pt x="424192" y="1101293"/>
                  </a:lnTo>
                  <a:lnTo>
                    <a:pt x="424192" y="1097686"/>
                  </a:lnTo>
                  <a:close/>
                </a:path>
                <a:path w="424814" h="1101725">
                  <a:moveTo>
                    <a:pt x="424192" y="0"/>
                  </a:moveTo>
                  <a:lnTo>
                    <a:pt x="0" y="0"/>
                  </a:lnTo>
                  <a:lnTo>
                    <a:pt x="0" y="720585"/>
                  </a:lnTo>
                  <a:lnTo>
                    <a:pt x="424192" y="720585"/>
                  </a:lnTo>
                  <a:lnTo>
                    <a:pt x="424192" y="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1036" y="2805835"/>
              <a:ext cx="639932" cy="63993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916858" y="2937404"/>
            <a:ext cx="331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EC5F55"/>
                </a:solidFill>
                <a:latin typeface="Roboto"/>
                <a:cs typeface="Roboto"/>
              </a:rPr>
              <a:t>0.09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99838" y="3328503"/>
            <a:ext cx="310515" cy="532130"/>
          </a:xfrm>
          <a:prstGeom prst="rect">
            <a:avLst/>
          </a:prstGeom>
        </p:spPr>
        <p:txBody>
          <a:bodyPr wrap="square" lIns="0" tIns="44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900" spc="-25" b="1">
                <a:solidFill>
                  <a:srgbClr val="FFFFFF"/>
                </a:solidFill>
                <a:latin typeface="Roboto"/>
                <a:cs typeface="Roboto"/>
              </a:rPr>
              <a:t>54</a:t>
            </a:r>
            <a:endParaRPr sz="9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10" b="1">
                <a:solidFill>
                  <a:srgbClr val="FFFFFF"/>
                </a:solidFill>
                <a:latin typeface="Roboto"/>
                <a:cs typeface="Roboto"/>
              </a:rPr>
              <a:t>COURSES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869400" y="2716566"/>
            <a:ext cx="980440" cy="1546860"/>
            <a:chOff x="1869400" y="2716566"/>
            <a:chExt cx="980440" cy="1546860"/>
          </a:xfrm>
        </p:grpSpPr>
        <p:sp>
          <p:nvSpPr>
            <p:cNvPr id="20" name="object 20"/>
            <p:cNvSpPr/>
            <p:nvPr/>
          </p:nvSpPr>
          <p:spPr>
            <a:xfrm>
              <a:off x="1869389" y="2988170"/>
              <a:ext cx="942975" cy="1266190"/>
            </a:xfrm>
            <a:custGeom>
              <a:avLst/>
              <a:gdLst/>
              <a:ahLst/>
              <a:cxnLst/>
              <a:rect l="l" t="t" r="r" b="b"/>
              <a:pathLst>
                <a:path w="942975" h="1266189">
                  <a:moveTo>
                    <a:pt x="456311" y="888911"/>
                  </a:moveTo>
                  <a:lnTo>
                    <a:pt x="0" y="888911"/>
                  </a:lnTo>
                  <a:lnTo>
                    <a:pt x="0" y="1266012"/>
                  </a:lnTo>
                  <a:lnTo>
                    <a:pt x="456311" y="1266012"/>
                  </a:lnTo>
                  <a:lnTo>
                    <a:pt x="456311" y="888911"/>
                  </a:lnTo>
                  <a:close/>
                </a:path>
                <a:path w="942975" h="1266189">
                  <a:moveTo>
                    <a:pt x="942428" y="0"/>
                  </a:moveTo>
                  <a:lnTo>
                    <a:pt x="518223" y="0"/>
                  </a:lnTo>
                  <a:lnTo>
                    <a:pt x="518223" y="872363"/>
                  </a:lnTo>
                  <a:lnTo>
                    <a:pt x="942428" y="872363"/>
                  </a:lnTo>
                  <a:lnTo>
                    <a:pt x="942428" y="0"/>
                  </a:lnTo>
                  <a:close/>
                </a:path>
              </a:pathLst>
            </a:custGeom>
            <a:solidFill>
              <a:srgbClr val="EC5F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387755" y="3860531"/>
              <a:ext cx="424815" cy="403225"/>
            </a:xfrm>
            <a:custGeom>
              <a:avLst/>
              <a:gdLst/>
              <a:ahLst/>
              <a:cxnLst/>
              <a:rect l="l" t="t" r="r" b="b"/>
              <a:pathLst>
                <a:path w="424814" h="403225">
                  <a:moveTo>
                    <a:pt x="424199" y="402599"/>
                  </a:moveTo>
                  <a:lnTo>
                    <a:pt x="0" y="402599"/>
                  </a:lnTo>
                  <a:lnTo>
                    <a:pt x="0" y="0"/>
                  </a:lnTo>
                  <a:lnTo>
                    <a:pt x="424199" y="0"/>
                  </a:lnTo>
                  <a:lnTo>
                    <a:pt x="424199" y="402599"/>
                  </a:lnTo>
                  <a:close/>
                </a:path>
              </a:pathLst>
            </a:custGeom>
            <a:solidFill>
              <a:srgbClr val="EA99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9395" y="2716566"/>
              <a:ext cx="639932" cy="63993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435207" y="2848145"/>
            <a:ext cx="331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EC5F55"/>
                </a:solidFill>
                <a:latin typeface="Roboto"/>
                <a:cs typeface="Roboto"/>
              </a:rPr>
              <a:t>0.48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67722" y="3277288"/>
            <a:ext cx="310515" cy="532130"/>
          </a:xfrm>
          <a:prstGeom prst="rect">
            <a:avLst/>
          </a:prstGeom>
        </p:spPr>
        <p:txBody>
          <a:bodyPr wrap="square" lIns="0" tIns="44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900" spc="-25" b="1">
                <a:solidFill>
                  <a:srgbClr val="FFFFFF"/>
                </a:solidFill>
                <a:latin typeface="Roboto"/>
                <a:cs typeface="Roboto"/>
              </a:rPr>
              <a:t>168</a:t>
            </a:r>
            <a:endParaRPr sz="9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10" b="1">
                <a:solidFill>
                  <a:srgbClr val="FFFFFF"/>
                </a:solidFill>
                <a:latin typeface="Roboto"/>
                <a:cs typeface="Roboto"/>
              </a:rPr>
              <a:t>COURSES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727753" y="2575668"/>
            <a:ext cx="640080" cy="1687830"/>
            <a:chOff x="2727753" y="2575668"/>
            <a:chExt cx="640080" cy="1687830"/>
          </a:xfrm>
        </p:grpSpPr>
        <p:sp>
          <p:nvSpPr>
            <p:cNvPr id="26" name="object 26"/>
            <p:cNvSpPr/>
            <p:nvPr/>
          </p:nvSpPr>
          <p:spPr>
            <a:xfrm>
              <a:off x="2905992" y="2787131"/>
              <a:ext cx="424815" cy="1073785"/>
            </a:xfrm>
            <a:custGeom>
              <a:avLst/>
              <a:gdLst/>
              <a:ahLst/>
              <a:cxnLst/>
              <a:rect l="l" t="t" r="r" b="b"/>
              <a:pathLst>
                <a:path w="424814" h="1073785">
                  <a:moveTo>
                    <a:pt x="0" y="1073399"/>
                  </a:moveTo>
                  <a:lnTo>
                    <a:pt x="424199" y="1073399"/>
                  </a:lnTo>
                  <a:lnTo>
                    <a:pt x="424199" y="0"/>
                  </a:lnTo>
                  <a:lnTo>
                    <a:pt x="0" y="0"/>
                  </a:lnTo>
                  <a:lnTo>
                    <a:pt x="0" y="1073399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906115" y="3860533"/>
              <a:ext cx="424815" cy="403225"/>
            </a:xfrm>
            <a:custGeom>
              <a:avLst/>
              <a:gdLst/>
              <a:ahLst/>
              <a:cxnLst/>
              <a:rect l="l" t="t" r="r" b="b"/>
              <a:pathLst>
                <a:path w="424814" h="403225">
                  <a:moveTo>
                    <a:pt x="424205" y="393649"/>
                  </a:moveTo>
                  <a:lnTo>
                    <a:pt x="0" y="393649"/>
                  </a:lnTo>
                  <a:lnTo>
                    <a:pt x="0" y="402602"/>
                  </a:lnTo>
                  <a:lnTo>
                    <a:pt x="424205" y="402602"/>
                  </a:lnTo>
                  <a:lnTo>
                    <a:pt x="424205" y="393649"/>
                  </a:lnTo>
                  <a:close/>
                </a:path>
                <a:path w="424814" h="403225">
                  <a:moveTo>
                    <a:pt x="424205" y="0"/>
                  </a:moveTo>
                  <a:lnTo>
                    <a:pt x="0" y="0"/>
                  </a:lnTo>
                  <a:lnTo>
                    <a:pt x="0" y="16548"/>
                  </a:lnTo>
                  <a:lnTo>
                    <a:pt x="424205" y="16548"/>
                  </a:lnTo>
                  <a:lnTo>
                    <a:pt x="424205" y="0"/>
                  </a:lnTo>
                  <a:close/>
                </a:path>
              </a:pathLst>
            </a:custGeom>
            <a:solidFill>
              <a:srgbClr val="EA99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27753" y="2575668"/>
              <a:ext cx="639932" cy="639932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2953574" y="2707238"/>
            <a:ext cx="331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EC5F55"/>
                </a:solidFill>
                <a:latin typeface="Roboto"/>
                <a:cs typeface="Roboto"/>
              </a:rPr>
              <a:t>1.14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906125" y="2526225"/>
            <a:ext cx="980440" cy="1737360"/>
            <a:chOff x="2906125" y="2526225"/>
            <a:chExt cx="980440" cy="1737360"/>
          </a:xfrm>
        </p:grpSpPr>
        <p:sp>
          <p:nvSpPr>
            <p:cNvPr id="31" name="object 31"/>
            <p:cNvSpPr/>
            <p:nvPr/>
          </p:nvSpPr>
          <p:spPr>
            <a:xfrm>
              <a:off x="2906115" y="2877375"/>
              <a:ext cx="942975" cy="1377315"/>
            </a:xfrm>
            <a:custGeom>
              <a:avLst/>
              <a:gdLst/>
              <a:ahLst/>
              <a:cxnLst/>
              <a:rect l="l" t="t" r="r" b="b"/>
              <a:pathLst>
                <a:path w="942975" h="1377314">
                  <a:moveTo>
                    <a:pt x="456298" y="999705"/>
                  </a:moveTo>
                  <a:lnTo>
                    <a:pt x="0" y="999705"/>
                  </a:lnTo>
                  <a:lnTo>
                    <a:pt x="0" y="1376807"/>
                  </a:lnTo>
                  <a:lnTo>
                    <a:pt x="456298" y="1376807"/>
                  </a:lnTo>
                  <a:lnTo>
                    <a:pt x="456298" y="999705"/>
                  </a:lnTo>
                  <a:close/>
                </a:path>
                <a:path w="942975" h="1377314">
                  <a:moveTo>
                    <a:pt x="942416" y="0"/>
                  </a:moveTo>
                  <a:lnTo>
                    <a:pt x="518223" y="0"/>
                  </a:lnTo>
                  <a:lnTo>
                    <a:pt x="518223" y="983157"/>
                  </a:lnTo>
                  <a:lnTo>
                    <a:pt x="942416" y="983157"/>
                  </a:lnTo>
                  <a:lnTo>
                    <a:pt x="942416" y="0"/>
                  </a:lnTo>
                  <a:close/>
                </a:path>
              </a:pathLst>
            </a:custGeom>
            <a:solidFill>
              <a:srgbClr val="EC5F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424472" y="3860531"/>
              <a:ext cx="424815" cy="403225"/>
            </a:xfrm>
            <a:custGeom>
              <a:avLst/>
              <a:gdLst/>
              <a:ahLst/>
              <a:cxnLst/>
              <a:rect l="l" t="t" r="r" b="b"/>
              <a:pathLst>
                <a:path w="424814" h="403225">
                  <a:moveTo>
                    <a:pt x="424199" y="402599"/>
                  </a:moveTo>
                  <a:lnTo>
                    <a:pt x="0" y="402599"/>
                  </a:lnTo>
                  <a:lnTo>
                    <a:pt x="0" y="0"/>
                  </a:lnTo>
                  <a:lnTo>
                    <a:pt x="424199" y="0"/>
                  </a:lnTo>
                  <a:lnTo>
                    <a:pt x="424199" y="402599"/>
                  </a:lnTo>
                  <a:close/>
                </a:path>
              </a:pathLst>
            </a:custGeom>
            <a:solidFill>
              <a:srgbClr val="EA99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6112" y="2526225"/>
              <a:ext cx="639932" cy="639932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3471924" y="2657804"/>
            <a:ext cx="331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EC5F55"/>
                </a:solidFill>
                <a:latin typeface="Roboto"/>
                <a:cs typeface="Roboto"/>
              </a:rPr>
              <a:t>2.48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415329" y="3243472"/>
            <a:ext cx="310515" cy="532130"/>
          </a:xfrm>
          <a:prstGeom prst="rect">
            <a:avLst/>
          </a:prstGeom>
        </p:spPr>
        <p:txBody>
          <a:bodyPr wrap="square" lIns="0" tIns="44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900" spc="-25" b="1">
                <a:solidFill>
                  <a:srgbClr val="FFFFFF"/>
                </a:solidFill>
                <a:latin typeface="Roboto"/>
                <a:cs typeface="Roboto"/>
              </a:rPr>
              <a:t>495</a:t>
            </a:r>
            <a:endParaRPr sz="9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10" b="1">
                <a:solidFill>
                  <a:srgbClr val="FFFFFF"/>
                </a:solidFill>
                <a:latin typeface="Roboto"/>
                <a:cs typeface="Roboto"/>
              </a:rPr>
              <a:t>COURSES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764470" y="2345428"/>
            <a:ext cx="640080" cy="1917700"/>
            <a:chOff x="3764470" y="2345428"/>
            <a:chExt cx="640080" cy="1917700"/>
          </a:xfrm>
        </p:grpSpPr>
        <p:sp>
          <p:nvSpPr>
            <p:cNvPr id="37" name="object 37"/>
            <p:cNvSpPr/>
            <p:nvPr/>
          </p:nvSpPr>
          <p:spPr>
            <a:xfrm>
              <a:off x="3942709" y="2671031"/>
              <a:ext cx="424815" cy="1189990"/>
            </a:xfrm>
            <a:custGeom>
              <a:avLst/>
              <a:gdLst/>
              <a:ahLst/>
              <a:cxnLst/>
              <a:rect l="l" t="t" r="r" b="b"/>
              <a:pathLst>
                <a:path w="424814" h="1189989">
                  <a:moveTo>
                    <a:pt x="0" y="1189499"/>
                  </a:moveTo>
                  <a:lnTo>
                    <a:pt x="424199" y="1189499"/>
                  </a:lnTo>
                  <a:lnTo>
                    <a:pt x="424199" y="0"/>
                  </a:lnTo>
                  <a:lnTo>
                    <a:pt x="0" y="0"/>
                  </a:lnTo>
                  <a:lnTo>
                    <a:pt x="0" y="1189499"/>
                  </a:lnTo>
                  <a:close/>
                </a:path>
              </a:pathLst>
            </a:custGeom>
            <a:solidFill>
              <a:srgbClr val="A61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942829" y="3860533"/>
              <a:ext cx="424815" cy="403225"/>
            </a:xfrm>
            <a:custGeom>
              <a:avLst/>
              <a:gdLst/>
              <a:ahLst/>
              <a:cxnLst/>
              <a:rect l="l" t="t" r="r" b="b"/>
              <a:pathLst>
                <a:path w="424814" h="403225">
                  <a:moveTo>
                    <a:pt x="424205" y="393649"/>
                  </a:moveTo>
                  <a:lnTo>
                    <a:pt x="0" y="393649"/>
                  </a:lnTo>
                  <a:lnTo>
                    <a:pt x="0" y="402602"/>
                  </a:lnTo>
                  <a:lnTo>
                    <a:pt x="424205" y="402602"/>
                  </a:lnTo>
                  <a:lnTo>
                    <a:pt x="424205" y="393649"/>
                  </a:lnTo>
                  <a:close/>
                </a:path>
                <a:path w="424814" h="403225">
                  <a:moveTo>
                    <a:pt x="424205" y="0"/>
                  </a:moveTo>
                  <a:lnTo>
                    <a:pt x="0" y="0"/>
                  </a:lnTo>
                  <a:lnTo>
                    <a:pt x="0" y="16548"/>
                  </a:lnTo>
                  <a:lnTo>
                    <a:pt x="424205" y="16548"/>
                  </a:lnTo>
                  <a:lnTo>
                    <a:pt x="424205" y="0"/>
                  </a:lnTo>
                  <a:close/>
                </a:path>
              </a:pathLst>
            </a:custGeom>
            <a:solidFill>
              <a:srgbClr val="EA99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4470" y="2345428"/>
              <a:ext cx="639932" cy="639932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3990291" y="2476997"/>
            <a:ext cx="331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EC5F55"/>
                </a:solidFill>
                <a:latin typeface="Roboto"/>
                <a:cs typeface="Roboto"/>
              </a:rPr>
              <a:t>4.57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934106" y="3202414"/>
            <a:ext cx="342265" cy="588645"/>
          </a:xfrm>
          <a:prstGeom prst="rect">
            <a:avLst/>
          </a:prstGeom>
        </p:spPr>
        <p:txBody>
          <a:bodyPr wrap="square" lIns="0" tIns="31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000" spc="-25" b="1">
                <a:solidFill>
                  <a:srgbClr val="FFFFFF"/>
                </a:solidFill>
                <a:latin typeface="Roboto"/>
                <a:cs typeface="Roboto"/>
              </a:rPr>
              <a:t>650</a:t>
            </a: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10" b="1">
                <a:solidFill>
                  <a:srgbClr val="FFFFFF"/>
                </a:solidFill>
                <a:latin typeface="Roboto"/>
                <a:cs typeface="Roboto"/>
              </a:rPr>
              <a:t>COURSES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282829" y="2167800"/>
            <a:ext cx="640080" cy="2095500"/>
            <a:chOff x="4282829" y="2167800"/>
            <a:chExt cx="640080" cy="2095500"/>
          </a:xfrm>
        </p:grpSpPr>
        <p:sp>
          <p:nvSpPr>
            <p:cNvPr id="43" name="object 43"/>
            <p:cNvSpPr/>
            <p:nvPr/>
          </p:nvSpPr>
          <p:spPr>
            <a:xfrm>
              <a:off x="4461057" y="2528737"/>
              <a:ext cx="424815" cy="1332230"/>
            </a:xfrm>
            <a:custGeom>
              <a:avLst/>
              <a:gdLst/>
              <a:ahLst/>
              <a:cxnLst/>
              <a:rect l="l" t="t" r="r" b="b"/>
              <a:pathLst>
                <a:path w="424814" h="1332229">
                  <a:moveTo>
                    <a:pt x="0" y="1331793"/>
                  </a:moveTo>
                  <a:lnTo>
                    <a:pt x="424199" y="1331793"/>
                  </a:lnTo>
                  <a:lnTo>
                    <a:pt x="424199" y="0"/>
                  </a:lnTo>
                  <a:lnTo>
                    <a:pt x="0" y="0"/>
                  </a:lnTo>
                  <a:lnTo>
                    <a:pt x="0" y="1331793"/>
                  </a:lnTo>
                  <a:close/>
                </a:path>
              </a:pathLst>
            </a:custGeom>
            <a:solidFill>
              <a:srgbClr val="EC5F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461189" y="3860531"/>
              <a:ext cx="424815" cy="403225"/>
            </a:xfrm>
            <a:custGeom>
              <a:avLst/>
              <a:gdLst/>
              <a:ahLst/>
              <a:cxnLst/>
              <a:rect l="l" t="t" r="r" b="b"/>
              <a:pathLst>
                <a:path w="424814" h="403225">
                  <a:moveTo>
                    <a:pt x="424199" y="402599"/>
                  </a:moveTo>
                  <a:lnTo>
                    <a:pt x="0" y="402599"/>
                  </a:lnTo>
                  <a:lnTo>
                    <a:pt x="0" y="0"/>
                  </a:lnTo>
                  <a:lnTo>
                    <a:pt x="424199" y="0"/>
                  </a:lnTo>
                  <a:lnTo>
                    <a:pt x="424199" y="402599"/>
                  </a:lnTo>
                  <a:close/>
                </a:path>
              </a:pathLst>
            </a:custGeom>
            <a:solidFill>
              <a:srgbClr val="EA99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2829" y="2167800"/>
              <a:ext cx="639931" cy="639932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4508640" y="2299379"/>
            <a:ext cx="331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EC5F55"/>
                </a:solidFill>
                <a:latin typeface="Roboto"/>
                <a:cs typeface="Roboto"/>
              </a:rPr>
              <a:t>5.09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471628" y="3258715"/>
            <a:ext cx="310515" cy="532130"/>
          </a:xfrm>
          <a:prstGeom prst="rect">
            <a:avLst/>
          </a:prstGeom>
        </p:spPr>
        <p:txBody>
          <a:bodyPr wrap="square" lIns="0" tIns="44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900" spc="-25" b="1">
                <a:solidFill>
                  <a:srgbClr val="FFFFFF"/>
                </a:solidFill>
                <a:latin typeface="Roboto"/>
                <a:cs typeface="Roboto"/>
              </a:rPr>
              <a:t>810</a:t>
            </a:r>
            <a:endParaRPr sz="9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10" b="1">
                <a:solidFill>
                  <a:srgbClr val="FFFFFF"/>
                </a:solidFill>
                <a:latin typeface="Roboto"/>
                <a:cs typeface="Roboto"/>
              </a:rPr>
              <a:t>COURSES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801186" y="2026378"/>
            <a:ext cx="640080" cy="2237105"/>
            <a:chOff x="4801186" y="2026378"/>
            <a:chExt cx="640080" cy="2237105"/>
          </a:xfrm>
        </p:grpSpPr>
        <p:sp>
          <p:nvSpPr>
            <p:cNvPr id="49" name="object 49"/>
            <p:cNvSpPr/>
            <p:nvPr/>
          </p:nvSpPr>
          <p:spPr>
            <a:xfrm>
              <a:off x="4979425" y="2268862"/>
              <a:ext cx="424815" cy="1591945"/>
            </a:xfrm>
            <a:custGeom>
              <a:avLst/>
              <a:gdLst/>
              <a:ahLst/>
              <a:cxnLst/>
              <a:rect l="l" t="t" r="r" b="b"/>
              <a:pathLst>
                <a:path w="424814" h="1591945">
                  <a:moveTo>
                    <a:pt x="0" y="1591668"/>
                  </a:moveTo>
                  <a:lnTo>
                    <a:pt x="424199" y="1591668"/>
                  </a:lnTo>
                  <a:lnTo>
                    <a:pt x="424199" y="0"/>
                  </a:lnTo>
                  <a:lnTo>
                    <a:pt x="0" y="0"/>
                  </a:lnTo>
                  <a:lnTo>
                    <a:pt x="0" y="1591668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979555" y="3860533"/>
              <a:ext cx="424815" cy="403225"/>
            </a:xfrm>
            <a:custGeom>
              <a:avLst/>
              <a:gdLst/>
              <a:ahLst/>
              <a:cxnLst/>
              <a:rect l="l" t="t" r="r" b="b"/>
              <a:pathLst>
                <a:path w="424814" h="403225">
                  <a:moveTo>
                    <a:pt x="424192" y="393649"/>
                  </a:moveTo>
                  <a:lnTo>
                    <a:pt x="0" y="393649"/>
                  </a:lnTo>
                  <a:lnTo>
                    <a:pt x="0" y="402602"/>
                  </a:lnTo>
                  <a:lnTo>
                    <a:pt x="424192" y="402602"/>
                  </a:lnTo>
                  <a:lnTo>
                    <a:pt x="424192" y="393649"/>
                  </a:lnTo>
                  <a:close/>
                </a:path>
                <a:path w="424814" h="403225">
                  <a:moveTo>
                    <a:pt x="424192" y="0"/>
                  </a:moveTo>
                  <a:lnTo>
                    <a:pt x="0" y="0"/>
                  </a:lnTo>
                  <a:lnTo>
                    <a:pt x="0" y="16548"/>
                  </a:lnTo>
                  <a:lnTo>
                    <a:pt x="424192" y="16548"/>
                  </a:lnTo>
                  <a:lnTo>
                    <a:pt x="424192" y="0"/>
                  </a:lnTo>
                  <a:close/>
                </a:path>
              </a:pathLst>
            </a:custGeom>
            <a:solidFill>
              <a:srgbClr val="EA99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1186" y="2026378"/>
              <a:ext cx="639932" cy="639932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5027008" y="2157947"/>
            <a:ext cx="331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EC5F55"/>
                </a:solidFill>
                <a:latin typeface="Roboto"/>
                <a:cs typeface="Roboto"/>
              </a:rPr>
              <a:t>5.17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970823" y="3202414"/>
            <a:ext cx="342265" cy="588645"/>
          </a:xfrm>
          <a:prstGeom prst="rect">
            <a:avLst/>
          </a:prstGeom>
        </p:spPr>
        <p:txBody>
          <a:bodyPr wrap="square" lIns="0" tIns="31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000" spc="-20" b="1">
                <a:solidFill>
                  <a:srgbClr val="FFFFFF"/>
                </a:solidFill>
                <a:latin typeface="Roboto"/>
                <a:cs typeface="Roboto"/>
              </a:rPr>
              <a:t>1028</a:t>
            </a: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10" b="1">
                <a:solidFill>
                  <a:srgbClr val="FFFFFF"/>
                </a:solidFill>
                <a:latin typeface="Roboto"/>
                <a:cs typeface="Roboto"/>
              </a:rPr>
              <a:t>COURSES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4979549" y="1770572"/>
            <a:ext cx="956944" cy="2493010"/>
            <a:chOff x="4979549" y="1770572"/>
            <a:chExt cx="956944" cy="2493010"/>
          </a:xfrm>
        </p:grpSpPr>
        <p:sp>
          <p:nvSpPr>
            <p:cNvPr id="55" name="object 55"/>
            <p:cNvSpPr/>
            <p:nvPr/>
          </p:nvSpPr>
          <p:spPr>
            <a:xfrm>
              <a:off x="4979543" y="1978418"/>
              <a:ext cx="919480" cy="2275840"/>
            </a:xfrm>
            <a:custGeom>
              <a:avLst/>
              <a:gdLst/>
              <a:ahLst/>
              <a:cxnLst/>
              <a:rect l="l" t="t" r="r" b="b"/>
              <a:pathLst>
                <a:path w="919479" h="2275840">
                  <a:moveTo>
                    <a:pt x="456298" y="1898662"/>
                  </a:moveTo>
                  <a:lnTo>
                    <a:pt x="0" y="1898662"/>
                  </a:lnTo>
                  <a:lnTo>
                    <a:pt x="0" y="2275763"/>
                  </a:lnTo>
                  <a:lnTo>
                    <a:pt x="456298" y="2275763"/>
                  </a:lnTo>
                  <a:lnTo>
                    <a:pt x="456298" y="1898662"/>
                  </a:lnTo>
                  <a:close/>
                </a:path>
                <a:path w="919479" h="2275840">
                  <a:moveTo>
                    <a:pt x="918857" y="0"/>
                  </a:moveTo>
                  <a:lnTo>
                    <a:pt x="494665" y="0"/>
                  </a:lnTo>
                  <a:lnTo>
                    <a:pt x="494665" y="1882114"/>
                  </a:lnTo>
                  <a:lnTo>
                    <a:pt x="918857" y="1882114"/>
                  </a:lnTo>
                  <a:lnTo>
                    <a:pt x="918857" y="0"/>
                  </a:lnTo>
                  <a:close/>
                </a:path>
              </a:pathLst>
            </a:custGeom>
            <a:solidFill>
              <a:srgbClr val="EC5F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474330" y="3860531"/>
              <a:ext cx="424815" cy="403225"/>
            </a:xfrm>
            <a:custGeom>
              <a:avLst/>
              <a:gdLst/>
              <a:ahLst/>
              <a:cxnLst/>
              <a:rect l="l" t="t" r="r" b="b"/>
              <a:pathLst>
                <a:path w="424814" h="403225">
                  <a:moveTo>
                    <a:pt x="424199" y="402599"/>
                  </a:moveTo>
                  <a:lnTo>
                    <a:pt x="0" y="402599"/>
                  </a:lnTo>
                  <a:lnTo>
                    <a:pt x="0" y="0"/>
                  </a:lnTo>
                  <a:lnTo>
                    <a:pt x="424199" y="0"/>
                  </a:lnTo>
                  <a:lnTo>
                    <a:pt x="424199" y="402599"/>
                  </a:lnTo>
                  <a:close/>
                </a:path>
              </a:pathLst>
            </a:custGeom>
            <a:solidFill>
              <a:srgbClr val="EA99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5969" y="1770572"/>
              <a:ext cx="639931" cy="639932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5521782" y="1902151"/>
            <a:ext cx="331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EC5F55"/>
                </a:solidFill>
                <a:latin typeface="Roboto"/>
                <a:cs typeface="Roboto"/>
              </a:rPr>
              <a:t>7.49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494312" y="3258706"/>
            <a:ext cx="310515" cy="532130"/>
          </a:xfrm>
          <a:prstGeom prst="rect">
            <a:avLst/>
          </a:prstGeom>
        </p:spPr>
        <p:txBody>
          <a:bodyPr wrap="square" lIns="0" tIns="44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900" spc="-20" b="1">
                <a:solidFill>
                  <a:srgbClr val="FFFFFF"/>
                </a:solidFill>
                <a:latin typeface="Roboto"/>
                <a:cs typeface="Roboto"/>
              </a:rPr>
              <a:t>1212</a:t>
            </a:r>
            <a:endParaRPr sz="9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10" b="1">
                <a:solidFill>
                  <a:srgbClr val="FFFFFF"/>
                </a:solidFill>
                <a:latin typeface="Roboto"/>
                <a:cs typeface="Roboto"/>
              </a:rPr>
              <a:t>COURSES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814328" y="1655222"/>
            <a:ext cx="640080" cy="2607945"/>
            <a:chOff x="5814328" y="1655222"/>
            <a:chExt cx="640080" cy="2607945"/>
          </a:xfrm>
        </p:grpSpPr>
        <p:sp>
          <p:nvSpPr>
            <p:cNvPr id="61" name="object 61"/>
            <p:cNvSpPr/>
            <p:nvPr/>
          </p:nvSpPr>
          <p:spPr>
            <a:xfrm>
              <a:off x="5992575" y="1866656"/>
              <a:ext cx="424815" cy="1993900"/>
            </a:xfrm>
            <a:custGeom>
              <a:avLst/>
              <a:gdLst/>
              <a:ahLst/>
              <a:cxnLst/>
              <a:rect l="l" t="t" r="r" b="b"/>
              <a:pathLst>
                <a:path w="424814" h="1993900">
                  <a:moveTo>
                    <a:pt x="0" y="1993874"/>
                  </a:moveTo>
                  <a:lnTo>
                    <a:pt x="424199" y="1993874"/>
                  </a:lnTo>
                  <a:lnTo>
                    <a:pt x="424199" y="0"/>
                  </a:lnTo>
                  <a:lnTo>
                    <a:pt x="0" y="0"/>
                  </a:lnTo>
                  <a:lnTo>
                    <a:pt x="0" y="1993874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992685" y="3860533"/>
              <a:ext cx="424815" cy="403225"/>
            </a:xfrm>
            <a:custGeom>
              <a:avLst/>
              <a:gdLst/>
              <a:ahLst/>
              <a:cxnLst/>
              <a:rect l="l" t="t" r="r" b="b"/>
              <a:pathLst>
                <a:path w="424814" h="403225">
                  <a:moveTo>
                    <a:pt x="424205" y="393649"/>
                  </a:moveTo>
                  <a:lnTo>
                    <a:pt x="0" y="393649"/>
                  </a:lnTo>
                  <a:lnTo>
                    <a:pt x="0" y="402602"/>
                  </a:lnTo>
                  <a:lnTo>
                    <a:pt x="424205" y="402602"/>
                  </a:lnTo>
                  <a:lnTo>
                    <a:pt x="424205" y="393649"/>
                  </a:lnTo>
                  <a:close/>
                </a:path>
                <a:path w="424814" h="403225">
                  <a:moveTo>
                    <a:pt x="424205" y="0"/>
                  </a:moveTo>
                  <a:lnTo>
                    <a:pt x="0" y="0"/>
                  </a:lnTo>
                  <a:lnTo>
                    <a:pt x="0" y="16548"/>
                  </a:lnTo>
                  <a:lnTo>
                    <a:pt x="424205" y="16548"/>
                  </a:lnTo>
                  <a:lnTo>
                    <a:pt x="424205" y="0"/>
                  </a:lnTo>
                  <a:close/>
                </a:path>
              </a:pathLst>
            </a:custGeom>
            <a:solidFill>
              <a:srgbClr val="EA99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4328" y="1655222"/>
              <a:ext cx="639931" cy="639932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6040149" y="1843326"/>
            <a:ext cx="2806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 b="1">
                <a:solidFill>
                  <a:srgbClr val="EC5F55"/>
                </a:solidFill>
                <a:latin typeface="Roboto"/>
                <a:cs typeface="Roboto"/>
              </a:rPr>
              <a:t>11.9</a:t>
            </a: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000" spc="-50" b="1">
                <a:solidFill>
                  <a:srgbClr val="EC5F55"/>
                </a:solidFill>
                <a:latin typeface="Roboto"/>
                <a:cs typeface="Roboto"/>
              </a:rPr>
              <a:t>2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109386" y="2971876"/>
            <a:ext cx="174625" cy="819150"/>
          </a:xfrm>
          <a:prstGeom prst="rect">
            <a:avLst/>
          </a:prstGeom>
        </p:spPr>
        <p:txBody>
          <a:bodyPr wrap="square" lIns="0" tIns="31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000" b="1">
                <a:solidFill>
                  <a:srgbClr val="FFFFFF"/>
                </a:solidFill>
                <a:latin typeface="Roboto"/>
                <a:cs typeface="Roboto"/>
              </a:rPr>
              <a:t>1354</a:t>
            </a:r>
            <a:r>
              <a:rPr dirty="0" sz="1000" spc="-45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Roboto"/>
                <a:cs typeface="Roboto"/>
              </a:rPr>
              <a:t>Courses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5992700" y="1416084"/>
            <a:ext cx="980440" cy="2847340"/>
            <a:chOff x="5992700" y="1416084"/>
            <a:chExt cx="980440" cy="2847340"/>
          </a:xfrm>
        </p:grpSpPr>
        <p:sp>
          <p:nvSpPr>
            <p:cNvPr id="67" name="object 67"/>
            <p:cNvSpPr/>
            <p:nvPr/>
          </p:nvSpPr>
          <p:spPr>
            <a:xfrm>
              <a:off x="5992698" y="1718779"/>
              <a:ext cx="942975" cy="2535555"/>
            </a:xfrm>
            <a:custGeom>
              <a:avLst/>
              <a:gdLst/>
              <a:ahLst/>
              <a:cxnLst/>
              <a:rect l="l" t="t" r="r" b="b"/>
              <a:pathLst>
                <a:path w="942975" h="2535554">
                  <a:moveTo>
                    <a:pt x="491096" y="2158301"/>
                  </a:moveTo>
                  <a:lnTo>
                    <a:pt x="0" y="2158301"/>
                  </a:lnTo>
                  <a:lnTo>
                    <a:pt x="0" y="2535402"/>
                  </a:lnTo>
                  <a:lnTo>
                    <a:pt x="491096" y="2535402"/>
                  </a:lnTo>
                  <a:lnTo>
                    <a:pt x="491096" y="2158301"/>
                  </a:lnTo>
                  <a:close/>
                </a:path>
                <a:path w="942975" h="2535554">
                  <a:moveTo>
                    <a:pt x="942416" y="0"/>
                  </a:moveTo>
                  <a:lnTo>
                    <a:pt x="518223" y="0"/>
                  </a:lnTo>
                  <a:lnTo>
                    <a:pt x="518223" y="2141753"/>
                  </a:lnTo>
                  <a:lnTo>
                    <a:pt x="942416" y="2141753"/>
                  </a:lnTo>
                  <a:lnTo>
                    <a:pt x="942416" y="0"/>
                  </a:lnTo>
                  <a:close/>
                </a:path>
              </a:pathLst>
            </a:custGeom>
            <a:solidFill>
              <a:srgbClr val="EC5F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511047" y="3860531"/>
              <a:ext cx="424815" cy="403225"/>
            </a:xfrm>
            <a:custGeom>
              <a:avLst/>
              <a:gdLst/>
              <a:ahLst/>
              <a:cxnLst/>
              <a:rect l="l" t="t" r="r" b="b"/>
              <a:pathLst>
                <a:path w="424815" h="403225">
                  <a:moveTo>
                    <a:pt x="424199" y="402599"/>
                  </a:moveTo>
                  <a:lnTo>
                    <a:pt x="0" y="402599"/>
                  </a:lnTo>
                  <a:lnTo>
                    <a:pt x="0" y="0"/>
                  </a:lnTo>
                  <a:lnTo>
                    <a:pt x="424199" y="0"/>
                  </a:lnTo>
                  <a:lnTo>
                    <a:pt x="424199" y="402599"/>
                  </a:lnTo>
                  <a:close/>
                </a:path>
              </a:pathLst>
            </a:custGeom>
            <a:solidFill>
              <a:srgbClr val="EA99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2686" y="1416084"/>
              <a:ext cx="639931" cy="639932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6538935" y="1572567"/>
            <a:ext cx="3536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EC5F55"/>
                </a:solidFill>
                <a:latin typeface="Roboto"/>
                <a:cs typeface="Roboto"/>
              </a:rPr>
              <a:t>17.29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639344" y="2971876"/>
            <a:ext cx="174625" cy="819150"/>
          </a:xfrm>
          <a:prstGeom prst="rect">
            <a:avLst/>
          </a:prstGeom>
        </p:spPr>
        <p:txBody>
          <a:bodyPr wrap="square" lIns="0" tIns="31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000" b="1">
                <a:solidFill>
                  <a:srgbClr val="FFFFFF"/>
                </a:solidFill>
                <a:latin typeface="Roboto"/>
                <a:cs typeface="Roboto"/>
              </a:rPr>
              <a:t>1452</a:t>
            </a:r>
            <a:r>
              <a:rPr dirty="0" sz="1000" spc="-45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Roboto"/>
                <a:cs typeface="Roboto"/>
              </a:rPr>
              <a:t>Courses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6851044" y="1158553"/>
            <a:ext cx="640080" cy="3099435"/>
            <a:chOff x="6851044" y="1158553"/>
            <a:chExt cx="640080" cy="3099435"/>
          </a:xfrm>
        </p:grpSpPr>
        <p:sp>
          <p:nvSpPr>
            <p:cNvPr id="73" name="object 73"/>
            <p:cNvSpPr/>
            <p:nvPr/>
          </p:nvSpPr>
          <p:spPr>
            <a:xfrm>
              <a:off x="7029285" y="1493799"/>
              <a:ext cx="424815" cy="2764790"/>
            </a:xfrm>
            <a:custGeom>
              <a:avLst/>
              <a:gdLst/>
              <a:ahLst/>
              <a:cxnLst/>
              <a:rect l="l" t="t" r="r" b="b"/>
              <a:pathLst>
                <a:path w="424815" h="2764790">
                  <a:moveTo>
                    <a:pt x="424205" y="2760383"/>
                  </a:moveTo>
                  <a:lnTo>
                    <a:pt x="0" y="2760383"/>
                  </a:lnTo>
                  <a:lnTo>
                    <a:pt x="0" y="2764205"/>
                  </a:lnTo>
                  <a:lnTo>
                    <a:pt x="424205" y="2764205"/>
                  </a:lnTo>
                  <a:lnTo>
                    <a:pt x="424205" y="2760383"/>
                  </a:lnTo>
                  <a:close/>
                </a:path>
                <a:path w="424815" h="2764790">
                  <a:moveTo>
                    <a:pt x="424205" y="0"/>
                  </a:moveTo>
                  <a:lnTo>
                    <a:pt x="0" y="0"/>
                  </a:lnTo>
                  <a:lnTo>
                    <a:pt x="0" y="2383282"/>
                  </a:lnTo>
                  <a:lnTo>
                    <a:pt x="424205" y="2383282"/>
                  </a:lnTo>
                  <a:lnTo>
                    <a:pt x="424205" y="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1044" y="1158553"/>
              <a:ext cx="639932" cy="639932"/>
            </a:xfrm>
            <a:prstGeom prst="rect">
              <a:avLst/>
            </a:prstGeom>
          </p:spPr>
        </p:pic>
      </p:grpSp>
      <p:sp>
        <p:nvSpPr>
          <p:cNvPr id="75" name="object 75"/>
          <p:cNvSpPr txBox="1"/>
          <p:nvPr/>
        </p:nvSpPr>
        <p:spPr>
          <a:xfrm>
            <a:off x="7140688" y="2905653"/>
            <a:ext cx="174625" cy="911225"/>
          </a:xfrm>
          <a:prstGeom prst="rect">
            <a:avLst/>
          </a:prstGeom>
        </p:spPr>
        <p:txBody>
          <a:bodyPr wrap="square" lIns="0" tIns="31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000" b="1">
                <a:solidFill>
                  <a:srgbClr val="FFFFFF"/>
                </a:solidFill>
                <a:latin typeface="Roboto"/>
                <a:cs typeface="Roboto"/>
              </a:rPr>
              <a:t>1794</a:t>
            </a:r>
            <a:r>
              <a:rPr dirty="0" sz="1000" spc="-45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Roboto"/>
                <a:cs typeface="Roboto"/>
              </a:rPr>
              <a:t>COURSES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7027974" y="3877074"/>
            <a:ext cx="456565" cy="377190"/>
          </a:xfrm>
          <a:custGeom>
            <a:avLst/>
            <a:gdLst/>
            <a:ahLst/>
            <a:cxnLst/>
            <a:rect l="l" t="t" r="r" b="b"/>
            <a:pathLst>
              <a:path w="456565" h="377189">
                <a:moveTo>
                  <a:pt x="456299" y="377099"/>
                </a:moveTo>
                <a:lnTo>
                  <a:pt x="0" y="377099"/>
                </a:lnTo>
                <a:lnTo>
                  <a:pt x="0" y="0"/>
                </a:lnTo>
                <a:lnTo>
                  <a:pt x="456299" y="0"/>
                </a:lnTo>
                <a:lnTo>
                  <a:pt x="456299" y="377099"/>
                </a:lnTo>
                <a:close/>
              </a:path>
            </a:pathLst>
          </a:custGeom>
          <a:solidFill>
            <a:srgbClr val="EC5F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4445002" y="1908300"/>
            <a:ext cx="45212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latin typeface="Roboto"/>
                <a:cs typeface="Roboto"/>
              </a:rPr>
              <a:t>2.46</a:t>
            </a:r>
            <a:r>
              <a:rPr dirty="0" sz="700" spc="-15" b="1">
                <a:latin typeface="Roboto"/>
                <a:cs typeface="Roboto"/>
              </a:rPr>
              <a:t> </a:t>
            </a:r>
            <a:r>
              <a:rPr dirty="0" sz="700" spc="-10" b="1">
                <a:latin typeface="Roboto"/>
                <a:cs typeface="Roboto"/>
              </a:rPr>
              <a:t>Covid</a:t>
            </a:r>
            <a:endParaRPr sz="700">
              <a:latin typeface="Roboto"/>
              <a:cs typeface="Roboto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520034" y="2026833"/>
            <a:ext cx="30226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 b="1">
                <a:latin typeface="Roboto"/>
                <a:cs typeface="Roboto"/>
              </a:rPr>
              <a:t>Impact</a:t>
            </a:r>
            <a:endParaRPr sz="700">
              <a:latin typeface="Roboto"/>
              <a:cs typeface="Roboto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966550" y="1694378"/>
            <a:ext cx="401320" cy="262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230" marR="5080" indent="-50165">
              <a:lnSpc>
                <a:spcPct val="111100"/>
              </a:lnSpc>
              <a:spcBef>
                <a:spcPts val="100"/>
              </a:spcBef>
            </a:pPr>
            <a:r>
              <a:rPr dirty="0" sz="700" b="1">
                <a:latin typeface="Roboto"/>
                <a:cs typeface="Roboto"/>
              </a:rPr>
              <a:t>4.6</a:t>
            </a:r>
            <a:r>
              <a:rPr dirty="0" sz="700" spc="-15" b="1">
                <a:latin typeface="Roboto"/>
                <a:cs typeface="Roboto"/>
              </a:rPr>
              <a:t> </a:t>
            </a:r>
            <a:r>
              <a:rPr dirty="0" sz="700" spc="-20" b="1">
                <a:latin typeface="Roboto"/>
                <a:cs typeface="Roboto"/>
              </a:rPr>
              <a:t>Covid</a:t>
            </a:r>
            <a:r>
              <a:rPr dirty="0" sz="700" spc="500" b="1">
                <a:latin typeface="Roboto"/>
                <a:cs typeface="Roboto"/>
              </a:rPr>
              <a:t> </a:t>
            </a:r>
            <a:r>
              <a:rPr dirty="0" sz="700" spc="-10" b="1">
                <a:latin typeface="Roboto"/>
                <a:cs typeface="Roboto"/>
              </a:rPr>
              <a:t>Impact</a:t>
            </a:r>
            <a:endParaRPr sz="700">
              <a:latin typeface="Roboto"/>
              <a:cs typeface="Roboto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940720" y="3211802"/>
            <a:ext cx="342265" cy="620395"/>
          </a:xfrm>
          <a:prstGeom prst="rect">
            <a:avLst/>
          </a:prstGeom>
        </p:spPr>
        <p:txBody>
          <a:bodyPr wrap="square" lIns="0" tIns="31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000" spc="-25" b="1">
                <a:solidFill>
                  <a:srgbClr val="FFFFFF"/>
                </a:solidFill>
                <a:latin typeface="Roboto"/>
                <a:cs typeface="Roboto"/>
              </a:rPr>
              <a:t>289</a:t>
            </a:r>
            <a:endParaRPr sz="1000">
              <a:latin typeface="Roboto"/>
              <a:cs typeface="Roboto"/>
            </a:endParaRPr>
          </a:p>
          <a:p>
            <a:pPr marL="43815">
              <a:lnSpc>
                <a:spcPct val="100000"/>
              </a:lnSpc>
              <a:spcBef>
                <a:spcPts val="120"/>
              </a:spcBef>
            </a:pPr>
            <a:r>
              <a:rPr dirty="0" sz="1000" spc="-10" b="1">
                <a:solidFill>
                  <a:srgbClr val="FFFFFF"/>
                </a:solidFill>
                <a:latin typeface="Roboto"/>
                <a:cs typeface="Roboto"/>
              </a:rPr>
              <a:t>COURSES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093158" y="1167385"/>
            <a:ext cx="845185" cy="342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5780">
              <a:lnSpc>
                <a:spcPts val="1245"/>
              </a:lnSpc>
              <a:spcBef>
                <a:spcPts val="100"/>
              </a:spcBef>
            </a:pPr>
            <a:r>
              <a:rPr dirty="0" sz="1200" spc="-20" b="1">
                <a:solidFill>
                  <a:srgbClr val="EC5F55"/>
                </a:solidFill>
                <a:latin typeface="Roboto"/>
                <a:cs typeface="Roboto"/>
              </a:rPr>
              <a:t>12.6</a:t>
            </a:r>
            <a:endParaRPr sz="1200">
              <a:latin typeface="Roboto"/>
              <a:cs typeface="Roboto"/>
            </a:endParaRPr>
          </a:p>
          <a:p>
            <a:pPr marL="12700">
              <a:lnSpc>
                <a:spcPts val="1245"/>
              </a:lnSpc>
            </a:pPr>
            <a:r>
              <a:rPr dirty="0" sz="1200" spc="-20" b="1">
                <a:solidFill>
                  <a:srgbClr val="EC5F55"/>
                </a:solidFill>
                <a:latin typeface="Roboto"/>
                <a:cs typeface="Roboto"/>
              </a:rPr>
              <a:t>21.3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1209152" y="3860062"/>
            <a:ext cx="6856095" cy="0"/>
          </a:xfrm>
          <a:custGeom>
            <a:avLst/>
            <a:gdLst/>
            <a:ahLst/>
            <a:cxnLst/>
            <a:rect l="l" t="t" r="r" b="b"/>
            <a:pathLst>
              <a:path w="6856095" h="0">
                <a:moveTo>
                  <a:pt x="0" y="0"/>
                </a:moveTo>
                <a:lnTo>
                  <a:pt x="6855600" y="0"/>
                </a:lnTo>
              </a:path>
            </a:pathLst>
          </a:custGeom>
          <a:ln w="14274">
            <a:solidFill>
              <a:srgbClr val="1F497D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7650909" y="3044648"/>
            <a:ext cx="174625" cy="746125"/>
          </a:xfrm>
          <a:prstGeom prst="rect">
            <a:avLst/>
          </a:prstGeom>
        </p:spPr>
        <p:txBody>
          <a:bodyPr wrap="square" lIns="0" tIns="31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000" b="1">
                <a:solidFill>
                  <a:srgbClr val="FFFFFF"/>
                </a:solidFill>
                <a:latin typeface="Roboto"/>
                <a:cs typeface="Roboto"/>
              </a:rPr>
              <a:t>973</a:t>
            </a:r>
            <a:r>
              <a:rPr dirty="0" sz="1000" spc="-35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Roboto"/>
                <a:cs typeface="Roboto"/>
              </a:rPr>
              <a:t>Courses</a:t>
            </a:r>
            <a:endParaRPr sz="1000">
              <a:latin typeface="Roboto"/>
              <a:cs typeface="Roboto"/>
            </a:endParaRPr>
          </a:p>
        </p:txBody>
      </p:sp>
      <p:graphicFrame>
        <p:nvGraphicFramePr>
          <p:cNvPr id="84" name="object 84"/>
          <p:cNvGraphicFramePr>
            <a:graphicFrameLocks noGrp="1"/>
          </p:cNvGraphicFramePr>
          <p:nvPr/>
        </p:nvGraphicFramePr>
        <p:xfrm>
          <a:off x="1351038" y="3860062"/>
          <a:ext cx="6697345" cy="396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4180"/>
                <a:gridCol w="93979"/>
                <a:gridCol w="487045"/>
                <a:gridCol w="454659"/>
                <a:gridCol w="93344"/>
                <a:gridCol w="486409"/>
                <a:gridCol w="454025"/>
                <a:gridCol w="92710"/>
                <a:gridCol w="503555"/>
                <a:gridCol w="436879"/>
                <a:gridCol w="93345"/>
                <a:gridCol w="458470"/>
                <a:gridCol w="458470"/>
                <a:gridCol w="92710"/>
                <a:gridCol w="503554"/>
                <a:gridCol w="436879"/>
                <a:gridCol w="92075"/>
                <a:gridCol w="487045"/>
                <a:gridCol w="454659"/>
              </a:tblGrid>
              <a:tr h="200025">
                <a:tc>
                  <a:txBody>
                    <a:bodyPr/>
                    <a:lstStyle/>
                    <a:p>
                      <a:pPr algn="ctr" marL="31750">
                        <a:lnSpc>
                          <a:spcPts val="1160"/>
                        </a:lnSpc>
                        <a:spcBef>
                          <a:spcPts val="31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2014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4000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160"/>
                        </a:lnSpc>
                        <a:spcBef>
                          <a:spcPts val="31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2015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40005">
                    <a:solidFill>
                      <a:srgbClr val="EC5F5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2230">
                        <a:lnSpc>
                          <a:spcPts val="1160"/>
                        </a:lnSpc>
                        <a:spcBef>
                          <a:spcPts val="31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2016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4000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160"/>
                        </a:lnSpc>
                        <a:spcBef>
                          <a:spcPts val="31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2017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40005">
                    <a:solidFill>
                      <a:srgbClr val="EC5F5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2865">
                        <a:lnSpc>
                          <a:spcPts val="1160"/>
                        </a:lnSpc>
                        <a:spcBef>
                          <a:spcPts val="31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2018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4000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ts val="1160"/>
                        </a:lnSpc>
                        <a:spcBef>
                          <a:spcPts val="31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2019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40005">
                    <a:solidFill>
                      <a:srgbClr val="EC5F5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5085">
                        <a:lnSpc>
                          <a:spcPts val="1160"/>
                        </a:lnSpc>
                        <a:spcBef>
                          <a:spcPts val="31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2020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4000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  <a:spcBef>
                          <a:spcPts val="31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2021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40005">
                    <a:solidFill>
                      <a:srgbClr val="EC5F55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400">
                        <a:lnSpc>
                          <a:spcPts val="1160"/>
                        </a:lnSpc>
                        <a:spcBef>
                          <a:spcPts val="31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2022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4000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ts val="1160"/>
                        </a:lnSpc>
                        <a:spcBef>
                          <a:spcPts val="31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2023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40005">
                    <a:solidFill>
                      <a:srgbClr val="EC5F5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0010">
                        <a:lnSpc>
                          <a:spcPts val="1160"/>
                        </a:lnSpc>
                        <a:spcBef>
                          <a:spcPts val="31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2024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4000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4130">
                        <a:lnSpc>
                          <a:spcPts val="1160"/>
                        </a:lnSpc>
                        <a:spcBef>
                          <a:spcPts val="31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2025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40005">
                    <a:solidFill>
                      <a:srgbClr val="EC5F55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6034">
                        <a:lnSpc>
                          <a:spcPts val="1160"/>
                        </a:lnSpc>
                        <a:spcBef>
                          <a:spcPts val="31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2026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40005">
                    <a:solidFill>
                      <a:srgbClr val="EA9999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ctr" marL="31750">
                        <a:lnSpc>
                          <a:spcPts val="1140"/>
                        </a:lnSpc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1.1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140"/>
                        </a:lnSpc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2.4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solidFill>
                      <a:srgbClr val="EC5F5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2865">
                        <a:lnSpc>
                          <a:spcPts val="1140"/>
                        </a:lnSpc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6.4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1140"/>
                        </a:lnSpc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15.8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solidFill>
                      <a:srgbClr val="EC5F5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2230">
                        <a:lnSpc>
                          <a:spcPts val="1140"/>
                        </a:lnSpc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22.6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ts val="1140"/>
                        </a:lnSpc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34.5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solidFill>
                      <a:srgbClr val="EC5F5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5085">
                        <a:lnSpc>
                          <a:spcPts val="1140"/>
                        </a:lnSpc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41.9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33.6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solidFill>
                      <a:srgbClr val="EC5F55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3180">
                        <a:lnSpc>
                          <a:spcPts val="1140"/>
                        </a:lnSpc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40.5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ts val="1140"/>
                        </a:lnSpc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52.2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solidFill>
                      <a:srgbClr val="EC5F5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0010">
                        <a:lnSpc>
                          <a:spcPts val="1140"/>
                        </a:lnSpc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57.2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4130">
                        <a:lnSpc>
                          <a:spcPts val="1140"/>
                        </a:lnSpc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65.4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solidFill>
                      <a:srgbClr val="EC5F55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3815">
                        <a:lnSpc>
                          <a:spcPts val="1140"/>
                        </a:lnSpc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36.8</a:t>
                      </a:r>
                      <a:endParaRPr sz="100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solidFill>
                      <a:srgbClr val="EA9999"/>
                    </a:solidFill>
                  </a:tcPr>
                </a:tc>
              </a:tr>
            </a:tbl>
          </a:graphicData>
        </a:graphic>
      </p:graphicFrame>
      <p:grpSp>
        <p:nvGrpSpPr>
          <p:cNvPr id="85" name="object 85"/>
          <p:cNvGrpSpPr/>
          <p:nvPr/>
        </p:nvGrpSpPr>
        <p:grpSpPr>
          <a:xfrm>
            <a:off x="0" y="4252275"/>
            <a:ext cx="9144000" cy="891540"/>
            <a:chOff x="0" y="4252275"/>
            <a:chExt cx="9144000" cy="891540"/>
          </a:xfrm>
        </p:grpSpPr>
        <p:sp>
          <p:nvSpPr>
            <p:cNvPr id="86" name="object 86"/>
            <p:cNvSpPr/>
            <p:nvPr/>
          </p:nvSpPr>
          <p:spPr>
            <a:xfrm>
              <a:off x="1209152" y="4257673"/>
              <a:ext cx="6856095" cy="0"/>
            </a:xfrm>
            <a:custGeom>
              <a:avLst/>
              <a:gdLst/>
              <a:ahLst/>
              <a:cxnLst/>
              <a:rect l="l" t="t" r="r" b="b"/>
              <a:pathLst>
                <a:path w="6856095" h="0">
                  <a:moveTo>
                    <a:pt x="0" y="0"/>
                  </a:moveTo>
                  <a:lnTo>
                    <a:pt x="6855600" y="0"/>
                  </a:lnTo>
                </a:path>
              </a:pathLst>
            </a:custGeom>
            <a:ln w="10765">
              <a:solidFill>
                <a:srgbClr val="1F497D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0" y="4263056"/>
              <a:ext cx="9144000" cy="880744"/>
            </a:xfrm>
            <a:custGeom>
              <a:avLst/>
              <a:gdLst/>
              <a:ahLst/>
              <a:cxnLst/>
              <a:rect l="l" t="t" r="r" b="b"/>
              <a:pathLst>
                <a:path w="9144000" h="880745">
                  <a:moveTo>
                    <a:pt x="0" y="0"/>
                  </a:moveTo>
                  <a:lnTo>
                    <a:pt x="9143999" y="0"/>
                  </a:lnTo>
                  <a:lnTo>
                    <a:pt x="9143999" y="880443"/>
                  </a:lnTo>
                  <a:lnTo>
                    <a:pt x="0" y="880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>
            <a:off x="1062558" y="4631467"/>
            <a:ext cx="203644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 b="1">
                <a:solidFill>
                  <a:srgbClr val="F1C131"/>
                </a:solidFill>
                <a:latin typeface="Roboto"/>
                <a:cs typeface="Roboto"/>
              </a:rPr>
              <a:t>ENROLLED</a:t>
            </a:r>
            <a:r>
              <a:rPr dirty="0" sz="1700" spc="-40" b="1">
                <a:solidFill>
                  <a:srgbClr val="F1C131"/>
                </a:solidFill>
                <a:latin typeface="Roboto"/>
                <a:cs typeface="Roboto"/>
              </a:rPr>
              <a:t> </a:t>
            </a:r>
            <a:r>
              <a:rPr dirty="0" sz="1700" b="1">
                <a:solidFill>
                  <a:srgbClr val="F1C131"/>
                </a:solidFill>
                <a:latin typeface="Roboto"/>
                <a:cs typeface="Roboto"/>
              </a:rPr>
              <a:t>(in</a:t>
            </a:r>
            <a:r>
              <a:rPr dirty="0" sz="1700" spc="-40" b="1">
                <a:solidFill>
                  <a:srgbClr val="F1C131"/>
                </a:solidFill>
                <a:latin typeface="Roboto"/>
                <a:cs typeface="Roboto"/>
              </a:rPr>
              <a:t> </a:t>
            </a:r>
            <a:r>
              <a:rPr dirty="0" sz="1700" spc="-10" b="1">
                <a:solidFill>
                  <a:srgbClr val="F1C131"/>
                </a:solidFill>
                <a:latin typeface="Roboto"/>
                <a:cs typeface="Roboto"/>
              </a:rPr>
              <a:t>lakhs)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305797" y="4539278"/>
            <a:ext cx="11366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FFFFFF"/>
                </a:solidFill>
                <a:latin typeface="Roboto"/>
                <a:cs typeface="Roboto"/>
              </a:rPr>
              <a:t>Jul-</a:t>
            </a:r>
            <a:r>
              <a:rPr dirty="0" sz="1400" b="1">
                <a:solidFill>
                  <a:srgbClr val="FFFFFF"/>
                </a:solidFill>
                <a:latin typeface="Roboto"/>
                <a:cs typeface="Roboto"/>
              </a:rPr>
              <a:t>Dec</a:t>
            </a:r>
            <a:r>
              <a:rPr dirty="0" sz="1400" spc="-35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Roboto"/>
                <a:cs typeface="Roboto"/>
              </a:rPr>
              <a:t>2026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F1C131"/>
                </a:solidFill>
                <a:latin typeface="Roboto"/>
                <a:cs typeface="Roboto"/>
              </a:rPr>
              <a:t>1054</a:t>
            </a:r>
            <a:r>
              <a:rPr dirty="0" sz="1400" spc="-20" b="1">
                <a:solidFill>
                  <a:srgbClr val="F1C131"/>
                </a:solidFill>
                <a:latin typeface="Roboto"/>
                <a:cs typeface="Roboto"/>
              </a:rPr>
              <a:t> </a:t>
            </a:r>
            <a:r>
              <a:rPr dirty="0" sz="1400" spc="-10" b="1">
                <a:solidFill>
                  <a:srgbClr val="F1C131"/>
                </a:solidFill>
                <a:latin typeface="Roboto"/>
                <a:cs typeface="Roboto"/>
              </a:rPr>
              <a:t>Courses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752302" y="4447821"/>
            <a:ext cx="91440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FFFFFF"/>
                </a:solidFill>
                <a:latin typeface="Roboto"/>
                <a:cs typeface="Roboto"/>
              </a:rPr>
              <a:t>Enrollments</a:t>
            </a:r>
            <a:endParaRPr sz="1300">
              <a:latin typeface="Roboto"/>
              <a:cs typeface="Roboto"/>
            </a:endParaRPr>
          </a:p>
          <a:p>
            <a:pPr marL="86995" marR="19685" indent="-60325">
              <a:lnSpc>
                <a:spcPct val="100000"/>
              </a:lnSpc>
            </a:pPr>
            <a:r>
              <a:rPr dirty="0" sz="1300" b="1">
                <a:solidFill>
                  <a:srgbClr val="FFD966"/>
                </a:solidFill>
                <a:latin typeface="Roboto"/>
                <a:cs typeface="Roboto"/>
              </a:rPr>
              <a:t>6.40</a:t>
            </a:r>
            <a:r>
              <a:rPr dirty="0" sz="1300" spc="-50" b="1">
                <a:solidFill>
                  <a:srgbClr val="FFD966"/>
                </a:solidFill>
                <a:latin typeface="Roboto"/>
                <a:cs typeface="Roboto"/>
              </a:rPr>
              <a:t> </a:t>
            </a:r>
            <a:r>
              <a:rPr dirty="0" sz="1300" spc="-10" b="1">
                <a:solidFill>
                  <a:srgbClr val="FFD966"/>
                </a:solidFill>
                <a:latin typeface="Roboto"/>
                <a:cs typeface="Roboto"/>
              </a:rPr>
              <a:t>lakhs+ </a:t>
            </a:r>
            <a:r>
              <a:rPr dirty="0" sz="1300" spc="-10" b="1">
                <a:solidFill>
                  <a:srgbClr val="FFFFFF"/>
                </a:solidFill>
                <a:latin typeface="Roboto"/>
                <a:cs typeface="Roboto"/>
              </a:rPr>
              <a:t>(Ongoing)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116836" y="4568841"/>
            <a:ext cx="143256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1150" marR="5080" indent="-299085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Roboto"/>
                <a:cs typeface="Roboto"/>
              </a:rPr>
              <a:t>Exam</a:t>
            </a:r>
            <a:r>
              <a:rPr dirty="0" sz="1400" spc="-20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Roboto"/>
                <a:cs typeface="Roboto"/>
              </a:rPr>
              <a:t>registration (Ongoing)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571627" y="1393936"/>
            <a:ext cx="5383530" cy="3736340"/>
            <a:chOff x="571627" y="1393936"/>
            <a:chExt cx="5383530" cy="3736340"/>
          </a:xfrm>
        </p:grpSpPr>
        <p:sp>
          <p:nvSpPr>
            <p:cNvPr id="93" name="object 93"/>
            <p:cNvSpPr/>
            <p:nvPr/>
          </p:nvSpPr>
          <p:spPr>
            <a:xfrm>
              <a:off x="4590622" y="4491973"/>
              <a:ext cx="12065" cy="617855"/>
            </a:xfrm>
            <a:custGeom>
              <a:avLst/>
              <a:gdLst/>
              <a:ahLst/>
              <a:cxnLst/>
              <a:rect l="l" t="t" r="r" b="b"/>
              <a:pathLst>
                <a:path w="12064" h="617854">
                  <a:moveTo>
                    <a:pt x="11999" y="0"/>
                  </a:moveTo>
                  <a:lnTo>
                    <a:pt x="0" y="617699"/>
                  </a:lnTo>
                </a:path>
              </a:pathLst>
            </a:custGeom>
            <a:ln w="14274">
              <a:solidFill>
                <a:srgbClr val="F1C131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5806961" y="4503603"/>
              <a:ext cx="12065" cy="617855"/>
            </a:xfrm>
            <a:custGeom>
              <a:avLst/>
              <a:gdLst/>
              <a:ahLst/>
              <a:cxnLst/>
              <a:rect l="l" t="t" r="r" b="b"/>
              <a:pathLst>
                <a:path w="12064" h="617854">
                  <a:moveTo>
                    <a:pt x="11999" y="0"/>
                  </a:moveTo>
                  <a:lnTo>
                    <a:pt x="0" y="617699"/>
                  </a:lnTo>
                </a:path>
              </a:pathLst>
            </a:custGeom>
            <a:ln w="14274">
              <a:solidFill>
                <a:srgbClr val="98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3174537" y="4505111"/>
              <a:ext cx="12065" cy="617855"/>
            </a:xfrm>
            <a:custGeom>
              <a:avLst/>
              <a:gdLst/>
              <a:ahLst/>
              <a:cxnLst/>
              <a:rect l="l" t="t" r="r" b="b"/>
              <a:pathLst>
                <a:path w="12064" h="617854">
                  <a:moveTo>
                    <a:pt x="11999" y="0"/>
                  </a:moveTo>
                  <a:lnTo>
                    <a:pt x="0" y="617699"/>
                  </a:lnTo>
                </a:path>
              </a:pathLst>
            </a:custGeom>
            <a:ln w="14274">
              <a:solidFill>
                <a:srgbClr val="7F091B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5935841" y="4479373"/>
              <a:ext cx="12065" cy="617855"/>
            </a:xfrm>
            <a:custGeom>
              <a:avLst/>
              <a:gdLst/>
              <a:ahLst/>
              <a:cxnLst/>
              <a:rect l="l" t="t" r="r" b="b"/>
              <a:pathLst>
                <a:path w="12064" h="617854">
                  <a:moveTo>
                    <a:pt x="11999" y="0"/>
                  </a:moveTo>
                  <a:lnTo>
                    <a:pt x="0" y="617699"/>
                  </a:lnTo>
                </a:path>
              </a:pathLst>
            </a:custGeom>
            <a:ln w="14274">
              <a:solidFill>
                <a:srgbClr val="F1C131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627" y="1393936"/>
              <a:ext cx="1469330" cy="1425528"/>
            </a:xfrm>
            <a:prstGeom prst="rect">
              <a:avLst/>
            </a:prstGeom>
          </p:spPr>
        </p:pic>
      </p:grpSp>
      <p:sp>
        <p:nvSpPr>
          <p:cNvPr id="98" name="object 98"/>
          <p:cNvSpPr txBox="1"/>
          <p:nvPr/>
        </p:nvSpPr>
        <p:spPr>
          <a:xfrm>
            <a:off x="1088663" y="1582032"/>
            <a:ext cx="4883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>
                <a:solidFill>
                  <a:srgbClr val="980000"/>
                </a:solidFill>
                <a:latin typeface="Impact"/>
                <a:cs typeface="Impact"/>
              </a:rPr>
              <a:t>EXAM</a:t>
            </a:r>
            <a:endParaRPr sz="1700">
              <a:latin typeface="Impact"/>
              <a:cs typeface="Impact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60385" y="1876031"/>
            <a:ext cx="134493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1F1F1F"/>
                </a:solidFill>
                <a:latin typeface="Impact"/>
                <a:cs typeface="Impact"/>
              </a:rPr>
              <a:t>REGISTRATIONS</a:t>
            </a:r>
            <a:endParaRPr sz="1700">
              <a:latin typeface="Impact"/>
              <a:cs typeface="Impact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001698" y="2172570"/>
            <a:ext cx="6629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434343"/>
                </a:solidFill>
                <a:latin typeface="Roboto"/>
                <a:cs typeface="Roboto"/>
              </a:rPr>
              <a:t>(in</a:t>
            </a:r>
            <a:r>
              <a:rPr dirty="0" sz="1200" spc="-30" b="1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dirty="0" sz="1200" spc="-10" b="1">
                <a:solidFill>
                  <a:srgbClr val="434343"/>
                </a:solidFill>
                <a:latin typeface="Roboto"/>
                <a:cs typeface="Roboto"/>
              </a:rPr>
              <a:t>lakhs)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8388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120"/>
              </a:spcBef>
            </a:pPr>
            <a:r>
              <a:rPr dirty="0" sz="2400" spc="90">
                <a:latin typeface="Roboto"/>
                <a:cs typeface="Roboto"/>
              </a:rPr>
              <a:t>A</a:t>
            </a:r>
            <a:r>
              <a:rPr dirty="0" sz="2400" spc="6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Summary</a:t>
            </a:r>
            <a:r>
              <a:rPr dirty="0" sz="2400" spc="6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of</a:t>
            </a:r>
            <a:r>
              <a:rPr dirty="0" sz="2400" spc="6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NPTEL</a:t>
            </a:r>
            <a:r>
              <a:rPr dirty="0" sz="2400" spc="6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Activities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1699" y="563425"/>
            <a:ext cx="8521065" cy="4100195"/>
          </a:xfrm>
          <a:custGeom>
            <a:avLst/>
            <a:gdLst/>
            <a:ahLst/>
            <a:cxnLst/>
            <a:rect l="l" t="t" r="r" b="b"/>
            <a:pathLst>
              <a:path w="8521065" h="4100195">
                <a:moveTo>
                  <a:pt x="0" y="0"/>
                </a:moveTo>
                <a:lnTo>
                  <a:pt x="8520599" y="0"/>
                </a:lnTo>
                <a:lnTo>
                  <a:pt x="8520599" y="4099799"/>
                </a:lnTo>
                <a:lnTo>
                  <a:pt x="0" y="40997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9967" y="608227"/>
            <a:ext cx="7654925" cy="370840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394335" indent="-381635">
              <a:lnSpc>
                <a:spcPct val="100000"/>
              </a:lnSpc>
              <a:spcBef>
                <a:spcPts val="240"/>
              </a:spcBef>
              <a:buFont typeface="Arial MT"/>
              <a:buChar char="●"/>
              <a:tabLst>
                <a:tab pos="394335" algn="l"/>
              </a:tabLst>
            </a:pPr>
            <a:r>
              <a:rPr dirty="0" sz="2000" spc="-10">
                <a:latin typeface="Roboto Lt"/>
                <a:cs typeface="Roboto Lt"/>
              </a:rPr>
              <a:t>Largest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Contributor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on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SWAYAM</a:t>
            </a:r>
            <a:endParaRPr sz="2000">
              <a:latin typeface="Roboto Lt"/>
              <a:cs typeface="Roboto Lt"/>
            </a:endParaRPr>
          </a:p>
          <a:p>
            <a:pPr lvl="1" marL="851535" indent="-366395">
              <a:lnSpc>
                <a:spcPct val="100000"/>
              </a:lnSpc>
              <a:spcBef>
                <a:spcPts val="130"/>
              </a:spcBef>
              <a:buFont typeface="Arial MT"/>
              <a:buChar char="○"/>
              <a:tabLst>
                <a:tab pos="851535" algn="l"/>
              </a:tabLst>
            </a:pPr>
            <a:r>
              <a:rPr dirty="0" sz="1800">
                <a:latin typeface="Roboto Lt"/>
                <a:cs typeface="Roboto Lt"/>
              </a:rPr>
              <a:t>1054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courses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proposed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for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July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2026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semester</a:t>
            </a:r>
            <a:endParaRPr sz="1800">
              <a:latin typeface="Roboto Lt"/>
              <a:cs typeface="Roboto Lt"/>
            </a:endParaRPr>
          </a:p>
          <a:p>
            <a:pPr marL="394335" indent="-381635">
              <a:lnSpc>
                <a:spcPct val="100000"/>
              </a:lnSpc>
              <a:spcBef>
                <a:spcPts val="1100"/>
              </a:spcBef>
              <a:buFont typeface="Arial MT"/>
              <a:buChar char="●"/>
              <a:tabLst>
                <a:tab pos="394335" algn="l"/>
              </a:tabLst>
            </a:pPr>
            <a:r>
              <a:rPr dirty="0" sz="2000" spc="-10">
                <a:latin typeface="Roboto Lt"/>
                <a:cs typeface="Roboto Lt"/>
              </a:rPr>
              <a:t>Running</a:t>
            </a:r>
            <a:r>
              <a:rPr dirty="0" sz="2000" spc="-6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of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 spc="-30">
                <a:solidFill>
                  <a:srgbClr val="980000"/>
                </a:solidFill>
                <a:latin typeface="Roboto Lt"/>
                <a:cs typeface="Roboto Lt"/>
              </a:rPr>
              <a:t>SWAYAM</a:t>
            </a:r>
            <a:r>
              <a:rPr dirty="0" sz="2000" spc="-60">
                <a:solidFill>
                  <a:srgbClr val="980000"/>
                </a:solidFill>
                <a:latin typeface="Roboto Lt"/>
                <a:cs typeface="Roboto Lt"/>
              </a:rPr>
              <a:t> </a:t>
            </a:r>
            <a:r>
              <a:rPr dirty="0" sz="2000" spc="-10">
                <a:solidFill>
                  <a:srgbClr val="980000"/>
                </a:solidFill>
                <a:latin typeface="Roboto Lt"/>
                <a:cs typeface="Roboto Lt"/>
              </a:rPr>
              <a:t>portal</a:t>
            </a:r>
            <a:endParaRPr sz="2000">
              <a:latin typeface="Roboto Lt"/>
              <a:cs typeface="Roboto Lt"/>
            </a:endParaRPr>
          </a:p>
          <a:p>
            <a:pPr lvl="1" marL="851535" indent="-366395">
              <a:lnSpc>
                <a:spcPct val="100000"/>
              </a:lnSpc>
              <a:spcBef>
                <a:spcPts val="125"/>
              </a:spcBef>
              <a:buFont typeface="Arial MT"/>
              <a:buChar char="○"/>
              <a:tabLst>
                <a:tab pos="851535" algn="l"/>
              </a:tabLst>
            </a:pPr>
            <a:r>
              <a:rPr dirty="0" sz="1800">
                <a:latin typeface="Roboto Lt"/>
                <a:cs typeface="Roboto Lt"/>
              </a:rPr>
              <a:t>Zero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downtime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since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NPTEL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took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over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 spc="-20">
                <a:latin typeface="Roboto Lt"/>
                <a:cs typeface="Roboto Lt"/>
              </a:rPr>
              <a:t>SWAYAM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portal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operations</a:t>
            </a:r>
            <a:endParaRPr sz="1800">
              <a:latin typeface="Roboto Lt"/>
              <a:cs typeface="Roboto Lt"/>
            </a:endParaRPr>
          </a:p>
          <a:p>
            <a:pPr lvl="1" marL="851535" indent="-366395">
              <a:lnSpc>
                <a:spcPct val="100000"/>
              </a:lnSpc>
              <a:spcBef>
                <a:spcPts val="110"/>
              </a:spcBef>
              <a:buFont typeface="Arial MT"/>
              <a:buChar char="○"/>
              <a:tabLst>
                <a:tab pos="851535" algn="l"/>
              </a:tabLst>
            </a:pPr>
            <a:r>
              <a:rPr dirty="0" sz="1800">
                <a:latin typeface="Roboto Lt"/>
                <a:cs typeface="Roboto Lt"/>
              </a:rPr>
              <a:t>Cost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at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~Re.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1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per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enrolled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student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per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month</a:t>
            </a:r>
            <a:endParaRPr sz="1800">
              <a:latin typeface="Roboto Lt"/>
              <a:cs typeface="Roboto Lt"/>
            </a:endParaRPr>
          </a:p>
          <a:p>
            <a:pPr marL="394335" indent="-381635">
              <a:lnSpc>
                <a:spcPct val="100000"/>
              </a:lnSpc>
              <a:spcBef>
                <a:spcPts val="1100"/>
              </a:spcBef>
              <a:buFont typeface="Arial MT"/>
              <a:buChar char="●"/>
              <a:tabLst>
                <a:tab pos="394335" algn="l"/>
              </a:tabLst>
            </a:pPr>
            <a:r>
              <a:rPr dirty="0" sz="2000">
                <a:latin typeface="Roboto Lt"/>
                <a:cs typeface="Roboto Lt"/>
              </a:rPr>
              <a:t>Manage</a:t>
            </a:r>
            <a:r>
              <a:rPr dirty="0" sz="2000" spc="-7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the</a:t>
            </a:r>
            <a:r>
              <a:rPr dirty="0" sz="2000" spc="-70">
                <a:latin typeface="Roboto Lt"/>
                <a:cs typeface="Roboto Lt"/>
              </a:rPr>
              <a:t> </a:t>
            </a:r>
            <a:r>
              <a:rPr dirty="0" sz="2000" spc="-30">
                <a:latin typeface="Roboto Lt"/>
                <a:cs typeface="Roboto Lt"/>
              </a:rPr>
              <a:t>SWAYAM</a:t>
            </a:r>
            <a:r>
              <a:rPr dirty="0" sz="2000" spc="-80">
                <a:latin typeface="Roboto Lt"/>
                <a:cs typeface="Roboto Lt"/>
              </a:rPr>
              <a:t> </a:t>
            </a:r>
            <a:r>
              <a:rPr dirty="0" sz="2000">
                <a:solidFill>
                  <a:srgbClr val="980000"/>
                </a:solidFill>
                <a:latin typeface="Roboto Lt"/>
                <a:cs typeface="Roboto Lt"/>
              </a:rPr>
              <a:t>local</a:t>
            </a:r>
            <a:r>
              <a:rPr dirty="0" sz="2000" spc="-70">
                <a:solidFill>
                  <a:srgbClr val="980000"/>
                </a:solidFill>
                <a:latin typeface="Roboto Lt"/>
                <a:cs typeface="Roboto Lt"/>
              </a:rPr>
              <a:t> </a:t>
            </a:r>
            <a:r>
              <a:rPr dirty="0" sz="2000">
                <a:solidFill>
                  <a:srgbClr val="980000"/>
                </a:solidFill>
                <a:latin typeface="Roboto Lt"/>
                <a:cs typeface="Roboto Lt"/>
              </a:rPr>
              <a:t>chapter</a:t>
            </a:r>
            <a:r>
              <a:rPr dirty="0" sz="2000" spc="-75">
                <a:solidFill>
                  <a:srgbClr val="980000"/>
                </a:solidFill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colleges</a:t>
            </a:r>
            <a:endParaRPr sz="2000">
              <a:latin typeface="Roboto Lt"/>
              <a:cs typeface="Roboto Lt"/>
            </a:endParaRPr>
          </a:p>
          <a:p>
            <a:pPr lvl="1" marL="851535" indent="-366395">
              <a:lnSpc>
                <a:spcPct val="100000"/>
              </a:lnSpc>
              <a:spcBef>
                <a:spcPts val="130"/>
              </a:spcBef>
              <a:buFont typeface="Arial MT"/>
              <a:buChar char="○"/>
              <a:tabLst>
                <a:tab pos="851535" algn="l"/>
              </a:tabLst>
            </a:pPr>
            <a:r>
              <a:rPr dirty="0" sz="1800">
                <a:latin typeface="Roboto Lt"/>
                <a:cs typeface="Roboto Lt"/>
              </a:rPr>
              <a:t>8400+</a:t>
            </a:r>
            <a:r>
              <a:rPr dirty="0" sz="1800" spc="-6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colleges/universities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are</a:t>
            </a:r>
            <a:r>
              <a:rPr dirty="0" sz="1800" spc="-6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local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chapters</a:t>
            </a:r>
            <a:endParaRPr sz="1800">
              <a:latin typeface="Roboto Lt"/>
              <a:cs typeface="Roboto Lt"/>
            </a:endParaRPr>
          </a:p>
          <a:p>
            <a:pPr lvl="1" marL="851535" indent="-366395">
              <a:lnSpc>
                <a:spcPct val="100000"/>
              </a:lnSpc>
              <a:spcBef>
                <a:spcPts val="105"/>
              </a:spcBef>
              <a:buFont typeface="Arial MT"/>
              <a:buChar char="○"/>
              <a:tabLst>
                <a:tab pos="851535" algn="l"/>
              </a:tabLst>
            </a:pPr>
            <a:r>
              <a:rPr dirty="0" sz="1800">
                <a:latin typeface="Roboto Lt"/>
                <a:cs typeface="Roboto Lt"/>
              </a:rPr>
              <a:t>Local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chapter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has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roles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on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portal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for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monitoring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course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participation</a:t>
            </a:r>
            <a:endParaRPr sz="1800">
              <a:latin typeface="Roboto Lt"/>
              <a:cs typeface="Roboto Lt"/>
            </a:endParaRPr>
          </a:p>
          <a:p>
            <a:pPr lvl="1" marL="851535" indent="-366395">
              <a:lnSpc>
                <a:spcPct val="100000"/>
              </a:lnSpc>
              <a:spcBef>
                <a:spcPts val="110"/>
              </a:spcBef>
              <a:buFont typeface="Arial MT"/>
              <a:buChar char="○"/>
              <a:tabLst>
                <a:tab pos="851535" algn="l"/>
              </a:tabLst>
            </a:pPr>
            <a:r>
              <a:rPr dirty="0" sz="1800">
                <a:latin typeface="Roboto Lt"/>
                <a:cs typeface="Roboto Lt"/>
              </a:rPr>
              <a:t>Local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chapter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SPOC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workshops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held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every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semester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across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 spc="-20">
                <a:latin typeface="Roboto Lt"/>
                <a:cs typeface="Roboto Lt"/>
              </a:rPr>
              <a:t>IITs</a:t>
            </a:r>
            <a:endParaRPr sz="1800">
              <a:latin typeface="Roboto Lt"/>
              <a:cs typeface="Roboto Lt"/>
            </a:endParaRPr>
          </a:p>
          <a:p>
            <a:pPr marL="394335" indent="-381635">
              <a:lnSpc>
                <a:spcPct val="100000"/>
              </a:lnSpc>
              <a:spcBef>
                <a:spcPts val="1100"/>
              </a:spcBef>
              <a:buFont typeface="Arial MT"/>
              <a:buChar char="●"/>
              <a:tabLst>
                <a:tab pos="394335" algn="l"/>
              </a:tabLst>
            </a:pPr>
            <a:r>
              <a:rPr dirty="0" sz="2000">
                <a:latin typeface="Roboto Lt"/>
                <a:cs typeface="Roboto Lt"/>
              </a:rPr>
              <a:t>Regional</a:t>
            </a:r>
            <a:r>
              <a:rPr dirty="0" sz="2000" spc="-12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language</a:t>
            </a:r>
            <a:r>
              <a:rPr dirty="0" sz="2000" spc="-110">
                <a:latin typeface="Roboto Lt"/>
                <a:cs typeface="Roboto Lt"/>
              </a:rPr>
              <a:t> </a:t>
            </a:r>
            <a:r>
              <a:rPr dirty="0" sz="2000" spc="-10">
                <a:solidFill>
                  <a:srgbClr val="980000"/>
                </a:solidFill>
                <a:latin typeface="Roboto Lt"/>
                <a:cs typeface="Roboto Lt"/>
              </a:rPr>
              <a:t>translation</a:t>
            </a:r>
            <a:endParaRPr sz="2000">
              <a:latin typeface="Roboto Lt"/>
              <a:cs typeface="Roboto Lt"/>
            </a:endParaRPr>
          </a:p>
          <a:p>
            <a:pPr lvl="1" marL="851535" indent="-366395">
              <a:lnSpc>
                <a:spcPct val="100000"/>
              </a:lnSpc>
              <a:spcBef>
                <a:spcPts val="125"/>
              </a:spcBef>
              <a:buFont typeface="Arial MT"/>
              <a:buChar char="○"/>
              <a:tabLst>
                <a:tab pos="851535" algn="l"/>
              </a:tabLst>
            </a:pPr>
            <a:r>
              <a:rPr dirty="0" sz="1800">
                <a:latin typeface="Roboto Lt"/>
                <a:cs typeface="Roboto Lt"/>
              </a:rPr>
              <a:t>80063+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translated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hours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for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3000+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courses</a:t>
            </a:r>
            <a:endParaRPr sz="18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120"/>
              </a:spcBef>
            </a:pPr>
            <a:r>
              <a:rPr dirty="0" sz="2500">
                <a:latin typeface="Roboto"/>
                <a:cs typeface="Roboto"/>
              </a:rPr>
              <a:t>Factors</a:t>
            </a:r>
            <a:r>
              <a:rPr dirty="0" sz="2500" spc="-25">
                <a:latin typeface="Roboto"/>
                <a:cs typeface="Roboto"/>
              </a:rPr>
              <a:t> </a:t>
            </a:r>
            <a:r>
              <a:rPr dirty="0" sz="2500">
                <a:latin typeface="Roboto"/>
                <a:cs typeface="Roboto"/>
              </a:rPr>
              <a:t>Contributing</a:t>
            </a:r>
            <a:r>
              <a:rPr dirty="0" sz="2500" spc="-20">
                <a:latin typeface="Roboto"/>
                <a:cs typeface="Roboto"/>
              </a:rPr>
              <a:t> </a:t>
            </a:r>
            <a:r>
              <a:rPr dirty="0" sz="2500">
                <a:latin typeface="Roboto"/>
                <a:cs typeface="Roboto"/>
              </a:rPr>
              <a:t>to</a:t>
            </a:r>
            <a:r>
              <a:rPr dirty="0" sz="2500" spc="-25">
                <a:latin typeface="Roboto"/>
                <a:cs typeface="Roboto"/>
              </a:rPr>
              <a:t> </a:t>
            </a:r>
            <a:r>
              <a:rPr dirty="0" sz="2500">
                <a:latin typeface="Roboto"/>
                <a:cs typeface="Roboto"/>
              </a:rPr>
              <a:t>Success</a:t>
            </a:r>
            <a:r>
              <a:rPr dirty="0" sz="2500" spc="-20">
                <a:latin typeface="Roboto"/>
                <a:cs typeface="Roboto"/>
              </a:rPr>
              <a:t> </a:t>
            </a:r>
            <a:r>
              <a:rPr dirty="0" sz="2500">
                <a:latin typeface="Roboto"/>
                <a:cs typeface="Roboto"/>
              </a:rPr>
              <a:t>of</a:t>
            </a:r>
            <a:r>
              <a:rPr dirty="0" sz="2500" spc="-25">
                <a:latin typeface="Roboto"/>
                <a:cs typeface="Roboto"/>
              </a:rPr>
              <a:t> </a:t>
            </a:r>
            <a:r>
              <a:rPr dirty="0" sz="2500" spc="-10">
                <a:latin typeface="Roboto"/>
                <a:cs typeface="Roboto"/>
              </a:rPr>
              <a:t>NPTEL</a:t>
            </a:r>
            <a:endParaRPr sz="25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967" y="580569"/>
            <a:ext cx="7778750" cy="399224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394335" indent="-381635">
              <a:lnSpc>
                <a:spcPct val="100000"/>
              </a:lnSpc>
              <a:spcBef>
                <a:spcPts val="459"/>
              </a:spcBef>
              <a:buClr>
                <a:srgbClr val="000000"/>
              </a:buClr>
              <a:buFont typeface="Arial MT"/>
              <a:buChar char="●"/>
              <a:tabLst>
                <a:tab pos="394335" algn="l"/>
              </a:tabLst>
            </a:pPr>
            <a:r>
              <a:rPr dirty="0" sz="2000" spc="-55">
                <a:solidFill>
                  <a:srgbClr val="7F091B"/>
                </a:solidFill>
                <a:latin typeface="Roboto"/>
                <a:cs typeface="Roboto"/>
              </a:rPr>
              <a:t>Faсulty-</a:t>
            </a:r>
            <a:r>
              <a:rPr dirty="0" sz="2000" spc="-40">
                <a:solidFill>
                  <a:srgbClr val="7F091B"/>
                </a:solidFill>
                <a:latin typeface="Roboto"/>
                <a:cs typeface="Roboto"/>
              </a:rPr>
              <a:t>сentriс</a:t>
            </a:r>
            <a:r>
              <a:rPr dirty="0" sz="2000" spc="-50">
                <a:solidFill>
                  <a:srgbClr val="7F091B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7F091B"/>
                </a:solidFill>
                <a:latin typeface="Roboto"/>
                <a:cs typeface="Roboto"/>
              </a:rPr>
              <a:t>зuppоrt</a:t>
            </a:r>
            <a:r>
              <a:rPr dirty="0" sz="2000" spc="-45">
                <a:solidFill>
                  <a:srgbClr val="7F091B"/>
                </a:solidFill>
                <a:latin typeface="Roboto"/>
                <a:cs typeface="Roboto"/>
              </a:rPr>
              <a:t> </a:t>
            </a:r>
            <a:r>
              <a:rPr dirty="0" sz="2000">
                <a:latin typeface="Roboto Lt"/>
                <a:cs typeface="Roboto Lt"/>
              </a:rPr>
              <a:t>for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content</a:t>
            </a:r>
            <a:r>
              <a:rPr dirty="0" sz="2000" spc="-4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creation,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portal,</a:t>
            </a:r>
            <a:r>
              <a:rPr dirty="0" sz="2000" spc="-4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course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delivery</a:t>
            </a:r>
            <a:endParaRPr sz="2000">
              <a:latin typeface="Roboto Lt"/>
              <a:cs typeface="Roboto Lt"/>
            </a:endParaRPr>
          </a:p>
          <a:p>
            <a:pPr marL="394335" indent="-381635">
              <a:lnSpc>
                <a:spcPct val="100000"/>
              </a:lnSpc>
              <a:spcBef>
                <a:spcPts val="360"/>
              </a:spcBef>
              <a:buFont typeface="Arial MT"/>
              <a:buChar char="●"/>
              <a:tabLst>
                <a:tab pos="394335" algn="l"/>
              </a:tabLst>
            </a:pPr>
            <a:r>
              <a:rPr dirty="0" sz="2000">
                <a:latin typeface="Roboto Lt"/>
                <a:cs typeface="Roboto Lt"/>
              </a:rPr>
              <a:t>Active,</a:t>
            </a:r>
            <a:r>
              <a:rPr dirty="0" sz="2000" spc="-4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effective</a:t>
            </a:r>
            <a:r>
              <a:rPr dirty="0" sz="2000" spc="-25">
                <a:latin typeface="Roboto Lt"/>
                <a:cs typeface="Roboto Lt"/>
              </a:rPr>
              <a:t> </a:t>
            </a:r>
            <a:r>
              <a:rPr dirty="0" sz="2000" spc="-20">
                <a:solidFill>
                  <a:srgbClr val="7F091B"/>
                </a:solidFill>
                <a:latin typeface="Roboto"/>
                <a:cs typeface="Roboto"/>
              </a:rPr>
              <a:t>mоnitоring</a:t>
            </a:r>
            <a:r>
              <a:rPr dirty="0" sz="2000" spc="-45">
                <a:solidFill>
                  <a:srgbClr val="7F091B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7F091B"/>
                </a:solidFill>
                <a:latin typeface="Roboto"/>
                <a:cs typeface="Roboto"/>
              </a:rPr>
              <a:t>оf</a:t>
            </a:r>
            <a:r>
              <a:rPr dirty="0" sz="2000" spc="-45">
                <a:solidFill>
                  <a:srgbClr val="7F091B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7F091B"/>
                </a:solidFill>
                <a:latin typeface="Roboto"/>
                <a:cs typeface="Roboto"/>
              </a:rPr>
              <a:t>соurзe</a:t>
            </a:r>
            <a:r>
              <a:rPr dirty="0" sz="2000" spc="-45">
                <a:solidFill>
                  <a:srgbClr val="7F091B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7F091B"/>
                </a:solidFill>
                <a:latin typeface="Roboto"/>
                <a:cs typeface="Roboto"/>
              </a:rPr>
              <a:t>delivery</a:t>
            </a:r>
            <a:endParaRPr sz="2000">
              <a:latin typeface="Roboto"/>
              <a:cs typeface="Roboto"/>
            </a:endParaRPr>
          </a:p>
          <a:p>
            <a:pPr lvl="1" marL="851535" indent="-366395">
              <a:lnSpc>
                <a:spcPct val="100000"/>
              </a:lnSpc>
              <a:spcBef>
                <a:spcPts val="365"/>
              </a:spcBef>
              <a:buFont typeface="Arial MT"/>
              <a:buChar char="○"/>
              <a:tabLst>
                <a:tab pos="851535" algn="l"/>
              </a:tabLst>
            </a:pPr>
            <a:r>
              <a:rPr dirty="0" sz="1800">
                <a:latin typeface="Roboto Lt"/>
                <a:cs typeface="Roboto Lt"/>
              </a:rPr>
              <a:t>Weekly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assignments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in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all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courses</a:t>
            </a:r>
            <a:endParaRPr sz="1800">
              <a:latin typeface="Roboto Lt"/>
              <a:cs typeface="Roboto Lt"/>
            </a:endParaRPr>
          </a:p>
          <a:p>
            <a:pPr lvl="1" marL="851535" indent="-366395">
              <a:lnSpc>
                <a:spcPct val="100000"/>
              </a:lnSpc>
              <a:spcBef>
                <a:spcPts val="325"/>
              </a:spcBef>
              <a:buFont typeface="Arial MT"/>
              <a:buChar char="○"/>
              <a:tabLst>
                <a:tab pos="851535" algn="l"/>
              </a:tabLst>
            </a:pPr>
            <a:r>
              <a:rPr dirty="0" sz="1800" spc="-10">
                <a:latin typeface="Roboto Lt"/>
                <a:cs typeface="Roboto Lt"/>
              </a:rPr>
              <a:t>Dashboard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with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assignment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submissions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and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grades</a:t>
            </a:r>
            <a:endParaRPr sz="1800">
              <a:latin typeface="Roboto Lt"/>
              <a:cs typeface="Roboto Lt"/>
            </a:endParaRPr>
          </a:p>
          <a:p>
            <a:pPr lvl="1" marL="851535" indent="-366395">
              <a:lnSpc>
                <a:spcPct val="100000"/>
              </a:lnSpc>
              <a:spcBef>
                <a:spcPts val="325"/>
              </a:spcBef>
              <a:buFont typeface="Arial MT"/>
              <a:buChar char="○"/>
              <a:tabLst>
                <a:tab pos="851535" algn="l"/>
              </a:tabLst>
            </a:pPr>
            <a:r>
              <a:rPr dirty="0" sz="1800">
                <a:latin typeface="Roboto Lt"/>
                <a:cs typeface="Roboto Lt"/>
              </a:rPr>
              <a:t>Forum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and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assignment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data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monitoring</a:t>
            </a:r>
            <a:endParaRPr sz="1800">
              <a:latin typeface="Roboto Lt"/>
              <a:cs typeface="Roboto Lt"/>
            </a:endParaRPr>
          </a:p>
          <a:p>
            <a:pPr marL="394335" indent="-381635">
              <a:lnSpc>
                <a:spcPct val="100000"/>
              </a:lnSpc>
              <a:spcBef>
                <a:spcPts val="315"/>
              </a:spcBef>
              <a:buClr>
                <a:srgbClr val="000000"/>
              </a:buClr>
              <a:buFont typeface="Arial MT"/>
              <a:buChar char="●"/>
              <a:tabLst>
                <a:tab pos="394335" algn="l"/>
              </a:tabLst>
            </a:pPr>
            <a:r>
              <a:rPr dirty="0" sz="2000" spc="-25">
                <a:solidFill>
                  <a:srgbClr val="7F091B"/>
                </a:solidFill>
                <a:latin typeface="Roboto"/>
                <a:cs typeface="Roboto"/>
              </a:rPr>
              <a:t>Examinatiоnз</a:t>
            </a:r>
            <a:r>
              <a:rPr dirty="0" sz="2000" spc="-25">
                <a:solidFill>
                  <a:srgbClr val="7F091B"/>
                </a:solidFill>
                <a:latin typeface="Roboto Lt"/>
                <a:cs typeface="Roboto Lt"/>
              </a:rPr>
              <a:t>:</a:t>
            </a:r>
            <a:r>
              <a:rPr dirty="0" sz="2000" spc="-50">
                <a:solidFill>
                  <a:srgbClr val="7F091B"/>
                </a:solidFill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Verify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outcomes,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establish</a:t>
            </a:r>
            <a:r>
              <a:rPr dirty="0" sz="2000" spc="-4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value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for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certiﬁcation</a:t>
            </a:r>
            <a:endParaRPr sz="2000">
              <a:latin typeface="Roboto Lt"/>
              <a:cs typeface="Roboto Lt"/>
            </a:endParaRPr>
          </a:p>
          <a:p>
            <a:pPr lvl="1" marL="851535" indent="-366395">
              <a:lnSpc>
                <a:spcPct val="100000"/>
              </a:lnSpc>
              <a:spcBef>
                <a:spcPts val="370"/>
              </a:spcBef>
              <a:buFont typeface="Arial MT"/>
              <a:buChar char="○"/>
              <a:tabLst>
                <a:tab pos="851535" algn="l"/>
              </a:tabLst>
            </a:pPr>
            <a:r>
              <a:rPr dirty="0" sz="1800">
                <a:latin typeface="Roboto Lt"/>
                <a:cs typeface="Roboto Lt"/>
              </a:rPr>
              <a:t>Quality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control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is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critical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part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of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 spc="-30">
                <a:latin typeface="Roboto Lt"/>
                <a:cs typeface="Roboto Lt"/>
              </a:rPr>
              <a:t>NPTEL’s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success</a:t>
            </a:r>
            <a:endParaRPr sz="1800">
              <a:latin typeface="Roboto Lt"/>
              <a:cs typeface="Roboto Lt"/>
            </a:endParaRPr>
          </a:p>
          <a:p>
            <a:pPr lvl="1" marL="851535" indent="-366395">
              <a:lnSpc>
                <a:spcPct val="100000"/>
              </a:lnSpc>
              <a:spcBef>
                <a:spcPts val="320"/>
              </a:spcBef>
              <a:buFont typeface="Arial MT"/>
              <a:buChar char="○"/>
              <a:tabLst>
                <a:tab pos="851535" algn="l"/>
              </a:tabLst>
            </a:pPr>
            <a:r>
              <a:rPr dirty="0" sz="1800">
                <a:latin typeface="Roboto Lt"/>
                <a:cs typeface="Roboto Lt"/>
              </a:rPr>
              <a:t>Steady</a:t>
            </a:r>
            <a:r>
              <a:rPr dirty="0" sz="1800" spc="-6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growth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in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exam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registration</a:t>
            </a:r>
            <a:endParaRPr sz="1800">
              <a:latin typeface="Roboto Lt"/>
              <a:cs typeface="Roboto Lt"/>
            </a:endParaRPr>
          </a:p>
          <a:p>
            <a:pPr marL="394335" indent="-381635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 MT"/>
              <a:buChar char="●"/>
              <a:tabLst>
                <a:tab pos="394335" algn="l"/>
              </a:tabLst>
            </a:pPr>
            <a:r>
              <a:rPr dirty="0" sz="2000">
                <a:solidFill>
                  <a:srgbClr val="7F091B"/>
                </a:solidFill>
                <a:latin typeface="Roboto"/>
                <a:cs typeface="Roboto"/>
              </a:rPr>
              <a:t>Aсademiс</a:t>
            </a:r>
            <a:r>
              <a:rPr dirty="0" sz="2000" spc="-60">
                <a:solidFill>
                  <a:srgbClr val="7F091B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7F091B"/>
                </a:solidFill>
                <a:latin typeface="Roboto"/>
                <a:cs typeface="Roboto"/>
              </a:rPr>
              <a:t>rigоur</a:t>
            </a:r>
            <a:r>
              <a:rPr dirty="0" sz="2000" spc="-10">
                <a:latin typeface="Roboto Lt"/>
                <a:cs typeface="Roboto Lt"/>
              </a:rPr>
              <a:t>:</a:t>
            </a:r>
            <a:r>
              <a:rPr dirty="0" sz="2000" spc="-6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Important</a:t>
            </a:r>
            <a:r>
              <a:rPr dirty="0" sz="2000" spc="-60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consideration</a:t>
            </a:r>
            <a:r>
              <a:rPr dirty="0" sz="2000" spc="-6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for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credit</a:t>
            </a:r>
            <a:r>
              <a:rPr dirty="0" sz="2000" spc="-60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transfer</a:t>
            </a:r>
            <a:endParaRPr sz="2000">
              <a:latin typeface="Roboto Lt"/>
              <a:cs typeface="Roboto Lt"/>
            </a:endParaRPr>
          </a:p>
          <a:p>
            <a:pPr marL="394335" indent="-381635">
              <a:lnSpc>
                <a:spcPct val="100000"/>
              </a:lnSpc>
              <a:spcBef>
                <a:spcPts val="359"/>
              </a:spcBef>
              <a:buFont typeface="Arial"/>
              <a:buChar char="●"/>
              <a:tabLst>
                <a:tab pos="394335" algn="l"/>
              </a:tabLst>
            </a:pPr>
            <a:r>
              <a:rPr dirty="0" sz="2000" spc="-10">
                <a:solidFill>
                  <a:srgbClr val="7F091B"/>
                </a:solidFill>
                <a:latin typeface="Roboto"/>
                <a:cs typeface="Roboto"/>
              </a:rPr>
              <a:t>Cоmmunity</a:t>
            </a:r>
            <a:endParaRPr sz="2000">
              <a:latin typeface="Roboto"/>
              <a:cs typeface="Roboto"/>
            </a:endParaRPr>
          </a:p>
          <a:p>
            <a:pPr lvl="1" marL="851535" indent="-366395">
              <a:lnSpc>
                <a:spcPct val="100000"/>
              </a:lnSpc>
              <a:spcBef>
                <a:spcPts val="365"/>
              </a:spcBef>
              <a:buFont typeface="Arial MT"/>
              <a:buChar char="○"/>
              <a:tabLst>
                <a:tab pos="851535" algn="l"/>
              </a:tabLst>
            </a:pPr>
            <a:r>
              <a:rPr dirty="0" sz="1800">
                <a:latin typeface="Roboto Lt"/>
                <a:cs typeface="Roboto Lt"/>
              </a:rPr>
              <a:t>Active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involvement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of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local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chapters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(SPoC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and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Mentors)</a:t>
            </a:r>
            <a:endParaRPr sz="1800">
              <a:latin typeface="Roboto Lt"/>
              <a:cs typeface="Roboto Lt"/>
            </a:endParaRPr>
          </a:p>
          <a:p>
            <a:pPr lvl="1" marL="851535" indent="-366395">
              <a:lnSpc>
                <a:spcPct val="100000"/>
              </a:lnSpc>
              <a:spcBef>
                <a:spcPts val="325"/>
              </a:spcBef>
              <a:buFont typeface="Arial MT"/>
              <a:buChar char="○"/>
              <a:tabLst>
                <a:tab pos="851535" algn="l"/>
              </a:tabLst>
            </a:pPr>
            <a:r>
              <a:rPr dirty="0" sz="1800">
                <a:latin typeface="Roboto Lt"/>
                <a:cs typeface="Roboto Lt"/>
              </a:rPr>
              <a:t>Acknowledgement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of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 spc="-45">
                <a:latin typeface="Roboto Lt"/>
                <a:cs typeface="Roboto Lt"/>
              </a:rPr>
              <a:t>well-</a:t>
            </a:r>
            <a:r>
              <a:rPr dirty="0" sz="1800" spc="-10">
                <a:latin typeface="Roboto Lt"/>
                <a:cs typeface="Roboto Lt"/>
              </a:rPr>
              <a:t>performing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local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chapters</a:t>
            </a:r>
            <a:endParaRPr sz="18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9634" y="1067578"/>
            <a:ext cx="6702745" cy="344300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9144000" cy="412750"/>
          </a:xfrm>
          <a:custGeom>
            <a:avLst/>
            <a:gdLst/>
            <a:ahLst/>
            <a:cxnLst/>
            <a:rect l="l" t="t" r="r" b="b"/>
            <a:pathLst>
              <a:path w="9144000" h="412750">
                <a:moveTo>
                  <a:pt x="9143999" y="412499"/>
                </a:moveTo>
                <a:lnTo>
                  <a:pt x="0" y="412499"/>
                </a:lnTo>
                <a:lnTo>
                  <a:pt x="0" y="0"/>
                </a:lnTo>
                <a:lnTo>
                  <a:pt x="9143952" y="0"/>
                </a:lnTo>
                <a:lnTo>
                  <a:pt x="9143999" y="412499"/>
                </a:lnTo>
                <a:close/>
              </a:path>
            </a:pathLst>
          </a:custGeom>
          <a:solidFill>
            <a:srgbClr val="98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2627" rIns="0" bIns="0" rtlCol="0" vert="horz">
            <a:spAutoFit/>
          </a:bodyPr>
          <a:lstStyle/>
          <a:p>
            <a:pPr marL="283908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</a:rPr>
              <a:t>INTERNSHIPS</a:t>
            </a:r>
            <a:r>
              <a:rPr dirty="0" sz="1800" spc="-55">
                <a:solidFill>
                  <a:srgbClr val="FFFFFF"/>
                </a:solidFill>
              </a:rPr>
              <a:t> </a:t>
            </a:r>
            <a:r>
              <a:rPr dirty="0" sz="1800">
                <a:solidFill>
                  <a:srgbClr val="FFFFFF"/>
                </a:solidFill>
              </a:rPr>
              <a:t>FOR</a:t>
            </a:r>
            <a:r>
              <a:rPr dirty="0" sz="1800" spc="-55">
                <a:solidFill>
                  <a:srgbClr val="FFFFFF"/>
                </a:solidFill>
              </a:rPr>
              <a:t> </a:t>
            </a:r>
            <a:r>
              <a:rPr dirty="0" sz="1800" spc="-10">
                <a:solidFill>
                  <a:srgbClr val="FFFFFF"/>
                </a:solidFill>
              </a:rPr>
              <a:t>TOPPERS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5377645" y="1329143"/>
            <a:ext cx="193357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Arial"/>
                <a:cs typeface="Arial"/>
              </a:rPr>
              <a:t>NPTEL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will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reach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out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to</a:t>
            </a:r>
            <a:r>
              <a:rPr dirty="0" sz="1100" spc="-25" b="1">
                <a:latin typeface="Arial"/>
                <a:cs typeface="Arial"/>
              </a:rPr>
              <a:t> the </a:t>
            </a:r>
            <a:r>
              <a:rPr dirty="0" sz="1100" spc="-10" b="1">
                <a:latin typeface="Arial"/>
                <a:cs typeface="Arial"/>
              </a:rPr>
              <a:t>toppers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of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the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course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asking </a:t>
            </a:r>
            <a:r>
              <a:rPr dirty="0" sz="1100" b="1">
                <a:latin typeface="Arial"/>
                <a:cs typeface="Arial"/>
              </a:rPr>
              <a:t>them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to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apply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-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resume,</a:t>
            </a:r>
            <a:r>
              <a:rPr dirty="0" sz="1100" spc="-25" b="1">
                <a:latin typeface="Arial"/>
                <a:cs typeface="Arial"/>
              </a:rPr>
              <a:t> SOP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3598" y="2609224"/>
            <a:ext cx="146875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Faculty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chooses</a:t>
            </a:r>
            <a:r>
              <a:rPr dirty="0" sz="1100" spc="-20" b="1">
                <a:latin typeface="Arial"/>
                <a:cs typeface="Arial"/>
              </a:rPr>
              <a:t> from </a:t>
            </a:r>
            <a:r>
              <a:rPr dirty="0" sz="1100" b="1">
                <a:latin typeface="Arial"/>
                <a:cs typeface="Arial"/>
              </a:rPr>
              <a:t>the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pool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24458" y="2589649"/>
            <a:ext cx="180593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Arial"/>
                <a:cs typeface="Arial"/>
              </a:rPr>
              <a:t>NPTEL</a:t>
            </a:r>
            <a:r>
              <a:rPr dirty="0" sz="1100" spc="-5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sends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confirmation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03598" y="3655118"/>
            <a:ext cx="161417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Internship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-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in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person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at </a:t>
            </a:r>
            <a:r>
              <a:rPr dirty="0" sz="1100" b="1">
                <a:latin typeface="Arial"/>
                <a:cs typeface="Arial"/>
              </a:rPr>
              <a:t>the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institute/online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24458" y="3622174"/>
            <a:ext cx="187134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Arial"/>
                <a:cs typeface="Arial"/>
              </a:rPr>
              <a:t>Stipend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and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certificate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from </a:t>
            </a:r>
            <a:r>
              <a:rPr dirty="0" sz="1100" spc="-10" b="1">
                <a:latin typeface="Arial"/>
                <a:cs typeface="Arial"/>
              </a:rPr>
              <a:t>NPTEL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on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successful </a:t>
            </a:r>
            <a:r>
              <a:rPr dirty="0" sz="1100" b="1">
                <a:latin typeface="Arial"/>
                <a:cs typeface="Arial"/>
              </a:rPr>
              <a:t>completion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of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internship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4398" y="1441041"/>
            <a:ext cx="303795" cy="24186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33795" y="1406901"/>
            <a:ext cx="303795" cy="31016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52900" y="2600151"/>
            <a:ext cx="265586" cy="22466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33502" y="3734226"/>
            <a:ext cx="265586" cy="23192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52904" y="3734229"/>
            <a:ext cx="265586" cy="26855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983516" y="1294821"/>
            <a:ext cx="208089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Course</a:t>
            </a:r>
            <a:r>
              <a:rPr dirty="0" sz="1100" spc="-5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offering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faculty</a:t>
            </a:r>
            <a:r>
              <a:rPr dirty="0" sz="1100" spc="-5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have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to </a:t>
            </a:r>
            <a:r>
              <a:rPr dirty="0" sz="1100" b="1">
                <a:latin typeface="Arial"/>
                <a:cs typeface="Arial"/>
              </a:rPr>
              <a:t>consent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to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take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interns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during </a:t>
            </a:r>
            <a:r>
              <a:rPr dirty="0" sz="1100" b="1">
                <a:latin typeface="Arial"/>
                <a:cs typeface="Arial"/>
              </a:rPr>
              <a:t>the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summer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or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winter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33511" y="2600154"/>
            <a:ext cx="265584" cy="241869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6490896" y="4834204"/>
            <a:ext cx="2653665" cy="205740"/>
          </a:xfrm>
          <a:custGeom>
            <a:avLst/>
            <a:gdLst/>
            <a:ahLst/>
            <a:cxnLst/>
            <a:rect l="l" t="t" r="r" b="b"/>
            <a:pathLst>
              <a:path w="2653665" h="205739">
                <a:moveTo>
                  <a:pt x="2653103" y="0"/>
                </a:moveTo>
                <a:lnTo>
                  <a:pt x="0" y="0"/>
                </a:lnTo>
                <a:lnTo>
                  <a:pt x="69531" y="20571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776972" y="4854778"/>
            <a:ext cx="165608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000" spc="-10" b="1">
                <a:solidFill>
                  <a:srgbClr val="7F091B"/>
                </a:solidFill>
                <a:uFill>
                  <a:solidFill>
                    <a:srgbClr val="7F091B"/>
                  </a:solidFill>
                </a:uFill>
                <a:latin typeface="Roboto"/>
                <a:cs typeface="Roboto"/>
                <a:hlinkClick r:id="rId9"/>
              </a:rPr>
              <a:t>https://nptel.ac.in/internship</a:t>
            </a:r>
            <a:endParaRPr sz="1000">
              <a:latin typeface="Roboto"/>
              <a:cs typeface="Roboto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31471" y="4890919"/>
            <a:ext cx="125764" cy="1325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9817" y="9768"/>
            <a:ext cx="2374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Internships-Summary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6107" y="948962"/>
          <a:ext cx="8355965" cy="2616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3935"/>
                <a:gridCol w="838835"/>
                <a:gridCol w="869315"/>
                <a:gridCol w="838835"/>
                <a:gridCol w="781050"/>
                <a:gridCol w="859154"/>
                <a:gridCol w="821689"/>
                <a:gridCol w="1207135"/>
                <a:gridCol w="1049654"/>
              </a:tblGrid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Status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ABE8F"/>
                    </a:solidFill>
                  </a:tcPr>
                </a:tc>
                <a:tc>
                  <a:txBody>
                    <a:bodyPr/>
                    <a:lstStyle/>
                    <a:p>
                      <a:pPr marL="221615" marR="135890" indent="-78105">
                        <a:lnSpc>
                          <a:spcPct val="114999"/>
                        </a:lnSpc>
                        <a:spcBef>
                          <a:spcPts val="40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Winter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2022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14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ABE8F"/>
                    </a:solidFill>
                  </a:tcPr>
                </a:tc>
                <a:tc>
                  <a:txBody>
                    <a:bodyPr/>
                    <a:lstStyle/>
                    <a:p>
                      <a:pPr marL="236220" marR="70485" indent="-158115">
                        <a:lnSpc>
                          <a:spcPct val="114999"/>
                        </a:lnSpc>
                        <a:spcBef>
                          <a:spcPts val="40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Summer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2023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14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ABE8F"/>
                    </a:solidFill>
                  </a:tcPr>
                </a:tc>
                <a:tc>
                  <a:txBody>
                    <a:bodyPr/>
                    <a:lstStyle/>
                    <a:p>
                      <a:pPr marL="220979" marR="135255" indent="-78105">
                        <a:lnSpc>
                          <a:spcPct val="114999"/>
                        </a:lnSpc>
                        <a:spcBef>
                          <a:spcPts val="40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Winter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2023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14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ABE8F"/>
                    </a:solidFill>
                  </a:tcPr>
                </a:tc>
                <a:tc>
                  <a:txBody>
                    <a:bodyPr/>
                    <a:lstStyle/>
                    <a:p>
                      <a:pPr marL="192405" marR="26670" indent="-158115">
                        <a:lnSpc>
                          <a:spcPct val="114999"/>
                        </a:lnSpc>
                        <a:spcBef>
                          <a:spcPts val="40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Summer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2024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14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ABE8F"/>
                    </a:solidFill>
                  </a:tcPr>
                </a:tc>
                <a:tc>
                  <a:txBody>
                    <a:bodyPr/>
                    <a:lstStyle/>
                    <a:p>
                      <a:pPr marL="231140" marR="145415" indent="-78105">
                        <a:lnSpc>
                          <a:spcPct val="114999"/>
                        </a:lnSpc>
                        <a:spcBef>
                          <a:spcPts val="40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Winter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2024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14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ABE8F"/>
                    </a:solidFill>
                  </a:tcPr>
                </a:tc>
                <a:tc>
                  <a:txBody>
                    <a:bodyPr/>
                    <a:lstStyle/>
                    <a:p>
                      <a:pPr marL="212725" marR="46990" indent="-158115">
                        <a:lnSpc>
                          <a:spcPct val="114999"/>
                        </a:lnSpc>
                        <a:spcBef>
                          <a:spcPts val="40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Summer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2025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14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ABE8F"/>
                    </a:solidFill>
                  </a:tcPr>
                </a:tc>
                <a:tc>
                  <a:txBody>
                    <a:bodyPr/>
                    <a:lstStyle/>
                    <a:p>
                      <a:pPr marL="405130" marR="319405" indent="-78105">
                        <a:lnSpc>
                          <a:spcPct val="114999"/>
                        </a:lnSpc>
                        <a:spcBef>
                          <a:spcPts val="40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Winter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2025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14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EE1F3"/>
                    </a:solidFill>
                  </a:tcPr>
                </a:tc>
                <a:tc>
                  <a:txBody>
                    <a:bodyPr/>
                    <a:lstStyle/>
                    <a:p>
                      <a:pPr marL="351155" marR="160655" indent="-182880">
                        <a:lnSpc>
                          <a:spcPct val="114999"/>
                        </a:lnSpc>
                        <a:spcBef>
                          <a:spcPts val="40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Summer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2026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14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EE1F3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 algn="ctr" marL="62230">
                        <a:lnSpc>
                          <a:spcPct val="100000"/>
                        </a:lnSpc>
                        <a:spcBef>
                          <a:spcPts val="146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Applied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860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65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50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860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65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235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860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65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103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860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65"/>
                        </a:spcBef>
                      </a:pPr>
                      <a:r>
                        <a:rPr dirty="0" sz="1400" spc="-20" b="1">
                          <a:latin typeface="Arial"/>
                          <a:cs typeface="Arial"/>
                        </a:rPr>
                        <a:t>1275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860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65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300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860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65"/>
                        </a:spcBef>
                      </a:pPr>
                      <a:r>
                        <a:rPr dirty="0" sz="1400" spc="-20" b="1">
                          <a:latin typeface="Arial"/>
                          <a:cs typeface="Arial"/>
                        </a:rPr>
                        <a:t>1817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860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65"/>
                        </a:spcBef>
                      </a:pPr>
                      <a:r>
                        <a:rPr dirty="0" sz="1400" spc="-20" b="1">
                          <a:latin typeface="Arial"/>
                          <a:cs typeface="Arial"/>
                        </a:rPr>
                        <a:t>3477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860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E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65"/>
                        </a:spcBef>
                      </a:pPr>
                      <a:r>
                        <a:rPr dirty="0" sz="1400" spc="-20" b="1">
                          <a:latin typeface="Arial"/>
                          <a:cs typeface="Arial"/>
                        </a:rPr>
                        <a:t>4363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860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EE1F3"/>
                    </a:solidFill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algn="ctr" marL="62865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Joined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93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44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93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195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93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76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93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204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93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140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93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406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993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20" b="1">
                          <a:latin typeface="Arial"/>
                          <a:cs typeface="Arial"/>
                        </a:rPr>
                        <a:t>1682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(Offered)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68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E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452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(Offered)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68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EE1F3"/>
                    </a:solidFill>
                  </a:tcPr>
                </a:tc>
              </a:tr>
              <a:tr h="749935">
                <a:tc>
                  <a:txBody>
                    <a:bodyPr/>
                    <a:lstStyle/>
                    <a:p>
                      <a:pPr marL="478790" marR="57150" indent="-351155">
                        <a:lnSpc>
                          <a:spcPct val="114999"/>
                        </a:lnSpc>
                        <a:spcBef>
                          <a:spcPts val="84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Complete </a:t>
                      </a:r>
                      <a:r>
                        <a:rPr dirty="0" sz="1400" spc="-50" b="1">
                          <a:latin typeface="Arial"/>
                          <a:cs typeface="Arial"/>
                        </a:rPr>
                        <a:t>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0668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44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144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68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92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85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319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820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algn="ctr" marL="114300" marR="1079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(Completed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so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far)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EE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Ongoing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EE1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466725"/>
          </a:xfrm>
          <a:custGeom>
            <a:avLst/>
            <a:gdLst/>
            <a:ahLst/>
            <a:cxnLst/>
            <a:rect l="l" t="t" r="r" b="b"/>
            <a:pathLst>
              <a:path w="9144000" h="466725">
                <a:moveTo>
                  <a:pt x="9143858" y="0"/>
                </a:moveTo>
                <a:lnTo>
                  <a:pt x="9143858" y="466199"/>
                </a:lnTo>
                <a:lnTo>
                  <a:pt x="0" y="466199"/>
                </a:lnTo>
                <a:lnTo>
                  <a:pt x="0" y="0"/>
                </a:lnTo>
                <a:lnTo>
                  <a:pt x="9143858" y="0"/>
                </a:lnTo>
                <a:close/>
              </a:path>
            </a:pathLst>
          </a:custGeom>
          <a:solidFill>
            <a:srgbClr val="98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615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  <a:tabLst>
                <a:tab pos="376555" algn="l"/>
              </a:tabLst>
            </a:pPr>
            <a:r>
              <a:rPr dirty="0" sz="1700" spc="-25">
                <a:solidFill>
                  <a:srgbClr val="FFFFFF"/>
                </a:solidFill>
              </a:rPr>
              <a:t>1.</a:t>
            </a:r>
            <a:r>
              <a:rPr dirty="0" sz="1700">
                <a:solidFill>
                  <a:srgbClr val="FFFFFF"/>
                </a:solidFill>
              </a:rPr>
              <a:t>	POST</a:t>
            </a:r>
            <a:r>
              <a:rPr dirty="0" sz="1700" spc="-75">
                <a:solidFill>
                  <a:srgbClr val="FFFFFF"/>
                </a:solidFill>
              </a:rPr>
              <a:t> </a:t>
            </a:r>
            <a:r>
              <a:rPr dirty="0" sz="1700">
                <a:solidFill>
                  <a:srgbClr val="FFFFFF"/>
                </a:solidFill>
              </a:rPr>
              <a:t>BAC</a:t>
            </a:r>
            <a:r>
              <a:rPr dirty="0" sz="1700" spc="-45">
                <a:solidFill>
                  <a:srgbClr val="FFFFFF"/>
                </a:solidFill>
              </a:rPr>
              <a:t> </a:t>
            </a:r>
            <a:r>
              <a:rPr dirty="0" sz="1700" spc="-10">
                <a:solidFill>
                  <a:srgbClr val="FFFFFF"/>
                </a:solidFill>
              </a:rPr>
              <a:t>FELLOWSHIPS</a:t>
            </a:r>
            <a:r>
              <a:rPr dirty="0" sz="1700" spc="-40">
                <a:solidFill>
                  <a:srgbClr val="FFFFFF"/>
                </a:solidFill>
              </a:rPr>
              <a:t> </a:t>
            </a:r>
            <a:r>
              <a:rPr dirty="0" sz="1700">
                <a:solidFill>
                  <a:srgbClr val="FFFFFF"/>
                </a:solidFill>
              </a:rPr>
              <a:t>-</a:t>
            </a:r>
            <a:r>
              <a:rPr dirty="0" sz="1700" spc="-45">
                <a:solidFill>
                  <a:srgbClr val="FFFFFF"/>
                </a:solidFill>
              </a:rPr>
              <a:t> </a:t>
            </a:r>
            <a:r>
              <a:rPr dirty="0" sz="1700" spc="-10">
                <a:solidFill>
                  <a:srgbClr val="FFFFFF"/>
                </a:solidFill>
              </a:rPr>
              <a:t>OPPORTUNITY</a:t>
            </a:r>
            <a:r>
              <a:rPr dirty="0" sz="1700" spc="-70">
                <a:solidFill>
                  <a:srgbClr val="FFFFFF"/>
                </a:solidFill>
              </a:rPr>
              <a:t> </a:t>
            </a:r>
            <a:r>
              <a:rPr dirty="0" sz="1700">
                <a:solidFill>
                  <a:srgbClr val="FFFFFF"/>
                </a:solidFill>
              </a:rPr>
              <a:t>TO</a:t>
            </a:r>
            <a:r>
              <a:rPr dirty="0" sz="1700" spc="-45">
                <a:solidFill>
                  <a:srgbClr val="FFFFFF"/>
                </a:solidFill>
              </a:rPr>
              <a:t> </a:t>
            </a:r>
            <a:r>
              <a:rPr dirty="0" sz="1700">
                <a:solidFill>
                  <a:srgbClr val="FFFFFF"/>
                </a:solidFill>
              </a:rPr>
              <a:t>WORK</a:t>
            </a:r>
            <a:r>
              <a:rPr dirty="0" sz="1700" spc="-40">
                <a:solidFill>
                  <a:srgbClr val="FFFFFF"/>
                </a:solidFill>
              </a:rPr>
              <a:t> </a:t>
            </a:r>
            <a:r>
              <a:rPr dirty="0" sz="1700">
                <a:solidFill>
                  <a:srgbClr val="FFFFFF"/>
                </a:solidFill>
              </a:rPr>
              <a:t>WITH</a:t>
            </a:r>
            <a:r>
              <a:rPr dirty="0" sz="1700" spc="-45">
                <a:solidFill>
                  <a:srgbClr val="FFFFFF"/>
                </a:solidFill>
              </a:rPr>
              <a:t> </a:t>
            </a:r>
            <a:r>
              <a:rPr dirty="0" sz="1700">
                <a:solidFill>
                  <a:srgbClr val="FFFFFF"/>
                </a:solidFill>
              </a:rPr>
              <a:t>TOP</a:t>
            </a:r>
            <a:r>
              <a:rPr dirty="0" sz="1700" spc="-70">
                <a:solidFill>
                  <a:srgbClr val="FFFFFF"/>
                </a:solidFill>
              </a:rPr>
              <a:t> </a:t>
            </a:r>
            <a:r>
              <a:rPr dirty="0" sz="1700" spc="-40">
                <a:solidFill>
                  <a:srgbClr val="FFFFFF"/>
                </a:solidFill>
              </a:rPr>
              <a:t>FACULTY</a:t>
            </a:r>
            <a:r>
              <a:rPr dirty="0" sz="1700" spc="-100">
                <a:solidFill>
                  <a:srgbClr val="FFFFFF"/>
                </a:solidFill>
              </a:rPr>
              <a:t> </a:t>
            </a:r>
            <a:r>
              <a:rPr dirty="0" sz="1700" spc="-20">
                <a:solidFill>
                  <a:srgbClr val="FFFFFF"/>
                </a:solidFill>
              </a:rPr>
              <a:t>AT</a:t>
            </a:r>
            <a:r>
              <a:rPr dirty="0" sz="1700" spc="-45">
                <a:solidFill>
                  <a:srgbClr val="FFFFFF"/>
                </a:solidFill>
              </a:rPr>
              <a:t> </a:t>
            </a:r>
            <a:r>
              <a:rPr dirty="0" sz="1700" spc="-20">
                <a:solidFill>
                  <a:srgbClr val="FFFFFF"/>
                </a:solidFill>
              </a:rPr>
              <a:t>IITS</a:t>
            </a:r>
            <a:endParaRPr sz="1700"/>
          </a:p>
        </p:txBody>
      </p:sp>
      <p:sp>
        <p:nvSpPr>
          <p:cNvPr id="4" name="object 4"/>
          <p:cNvSpPr txBox="1"/>
          <p:nvPr/>
        </p:nvSpPr>
        <p:spPr>
          <a:xfrm>
            <a:off x="324679" y="4049648"/>
            <a:ext cx="791083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 b="1">
                <a:latin typeface="Arial"/>
                <a:cs typeface="Arial"/>
              </a:rPr>
              <a:t>Student</a:t>
            </a:r>
            <a:r>
              <a:rPr dirty="0" sz="1500" spc="-4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Selection:</a:t>
            </a:r>
            <a:r>
              <a:rPr dirty="0" sz="1500" spc="-30" b="1">
                <a:latin typeface="Arial"/>
                <a:cs typeface="Arial"/>
              </a:rPr>
              <a:t> </a:t>
            </a:r>
            <a:r>
              <a:rPr dirty="0" sz="1500">
                <a:latin typeface="Arial MT"/>
                <a:cs typeface="Arial MT"/>
              </a:rPr>
              <a:t>Faculty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will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go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through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resumes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videos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submitted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by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learners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may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conduct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interview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select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candidates.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0052" y="508331"/>
            <a:ext cx="5497050" cy="349586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64619" y="1042621"/>
            <a:ext cx="2383790" cy="290576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127635" indent="-127000">
              <a:lnSpc>
                <a:spcPct val="100000"/>
              </a:lnSpc>
              <a:spcBef>
                <a:spcPts val="820"/>
              </a:spcBef>
              <a:buSzPct val="93333"/>
              <a:buChar char="●"/>
              <a:tabLst>
                <a:tab pos="127635" algn="l"/>
              </a:tabLst>
            </a:pPr>
            <a:r>
              <a:rPr dirty="0" sz="1500" b="1">
                <a:latin typeface="Arial"/>
                <a:cs typeface="Arial"/>
              </a:rPr>
              <a:t>Duration:</a:t>
            </a:r>
            <a:r>
              <a:rPr dirty="0" sz="1500" spc="-10" b="1">
                <a:latin typeface="Arial"/>
                <a:cs typeface="Arial"/>
              </a:rPr>
              <a:t> </a:t>
            </a:r>
            <a:r>
              <a:rPr dirty="0" sz="1500">
                <a:latin typeface="Arial MT"/>
                <a:cs typeface="Arial MT"/>
              </a:rPr>
              <a:t>1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-20">
                <a:latin typeface="Arial MT"/>
                <a:cs typeface="Arial MT"/>
              </a:rPr>
              <a:t>year</a:t>
            </a:r>
            <a:endParaRPr sz="1500">
              <a:latin typeface="Arial MT"/>
              <a:cs typeface="Arial MT"/>
            </a:endParaRPr>
          </a:p>
          <a:p>
            <a:pPr marL="127635" indent="-127000">
              <a:lnSpc>
                <a:spcPct val="100000"/>
              </a:lnSpc>
              <a:spcBef>
                <a:spcPts val="720"/>
              </a:spcBef>
              <a:buSzPct val="93333"/>
              <a:buChar char="●"/>
              <a:tabLst>
                <a:tab pos="127635" algn="l"/>
              </a:tabLst>
            </a:pPr>
            <a:r>
              <a:rPr dirty="0" sz="1500" b="1">
                <a:latin typeface="Arial"/>
                <a:cs typeface="Arial"/>
              </a:rPr>
              <a:t>Eligibility:</a:t>
            </a:r>
            <a:r>
              <a:rPr dirty="0" sz="1500" spc="-15" b="1">
                <a:latin typeface="Arial"/>
                <a:cs typeface="Arial"/>
              </a:rPr>
              <a:t> </a:t>
            </a:r>
            <a:r>
              <a:rPr dirty="0" sz="1500" spc="-10">
                <a:latin typeface="Arial MT"/>
                <a:cs typeface="Arial MT"/>
              </a:rPr>
              <a:t>NPTEL</a:t>
            </a:r>
            <a:r>
              <a:rPr dirty="0" sz="1500" spc="-70">
                <a:latin typeface="Arial MT"/>
                <a:cs typeface="Arial MT"/>
              </a:rPr>
              <a:t> </a:t>
            </a:r>
            <a:r>
              <a:rPr dirty="0" sz="1500" spc="-20">
                <a:latin typeface="Arial MT"/>
                <a:cs typeface="Arial MT"/>
              </a:rPr>
              <a:t>stars</a:t>
            </a:r>
            <a:endParaRPr sz="1500">
              <a:latin typeface="Arial MT"/>
              <a:cs typeface="Arial MT"/>
            </a:endParaRPr>
          </a:p>
          <a:p>
            <a:pPr marL="127635" marR="53340" indent="-127635">
              <a:lnSpc>
                <a:spcPct val="140000"/>
              </a:lnSpc>
              <a:buSzPct val="93333"/>
              <a:buChar char="●"/>
              <a:tabLst>
                <a:tab pos="127635" algn="l"/>
              </a:tabLst>
            </a:pPr>
            <a:r>
              <a:rPr dirty="0" sz="1500" b="1">
                <a:latin typeface="Arial"/>
                <a:cs typeface="Arial"/>
              </a:rPr>
              <a:t>Stipend:</a:t>
            </a:r>
            <a:r>
              <a:rPr dirty="0" sz="1500" spc="-10" b="1"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0000FF"/>
                </a:solidFill>
                <a:latin typeface="Arial MT"/>
                <a:cs typeface="Arial MT"/>
              </a:rPr>
              <a:t>Rs</a:t>
            </a:r>
            <a:r>
              <a:rPr dirty="0" sz="1500" spc="-1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0000FF"/>
                </a:solidFill>
                <a:latin typeface="Arial MT"/>
                <a:cs typeface="Arial MT"/>
              </a:rPr>
              <a:t>25,000+HRA </a:t>
            </a:r>
            <a:r>
              <a:rPr dirty="0" sz="1500">
                <a:solidFill>
                  <a:srgbClr val="0000FF"/>
                </a:solidFill>
                <a:latin typeface="Arial MT"/>
                <a:cs typeface="Arial MT"/>
              </a:rPr>
              <a:t>per</a:t>
            </a:r>
            <a:r>
              <a:rPr dirty="0" sz="1500" spc="-3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0000FF"/>
                </a:solidFill>
                <a:latin typeface="Arial MT"/>
                <a:cs typeface="Arial MT"/>
              </a:rPr>
              <a:t>month</a:t>
            </a:r>
            <a:r>
              <a:rPr dirty="0" sz="1500" spc="-2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0000FF"/>
                </a:solidFill>
                <a:latin typeface="Arial MT"/>
                <a:cs typeface="Arial MT"/>
              </a:rPr>
              <a:t>for</a:t>
            </a:r>
            <a:r>
              <a:rPr dirty="0" sz="1500" spc="-2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0000FF"/>
                </a:solidFill>
                <a:latin typeface="Arial MT"/>
                <a:cs typeface="Arial MT"/>
              </a:rPr>
              <a:t>stars</a:t>
            </a:r>
            <a:r>
              <a:rPr dirty="0" sz="1500" spc="-2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500" spc="-20">
                <a:solidFill>
                  <a:srgbClr val="0000FF"/>
                </a:solidFill>
                <a:latin typeface="Arial MT"/>
                <a:cs typeface="Arial MT"/>
              </a:rPr>
              <a:t>with </a:t>
            </a:r>
            <a:r>
              <a:rPr dirty="0" sz="1500">
                <a:solidFill>
                  <a:srgbClr val="0000FF"/>
                </a:solidFill>
                <a:latin typeface="Arial MT"/>
                <a:cs typeface="Arial MT"/>
              </a:rPr>
              <a:t>UG/PG</a:t>
            </a:r>
            <a:r>
              <a:rPr dirty="0" sz="1500" spc="-2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0000FF"/>
                </a:solidFill>
                <a:latin typeface="Arial MT"/>
                <a:cs typeface="Arial MT"/>
              </a:rPr>
              <a:t>degrees</a:t>
            </a:r>
            <a:endParaRPr sz="1500">
              <a:latin typeface="Arial MT"/>
              <a:cs typeface="Arial MT"/>
            </a:endParaRPr>
          </a:p>
          <a:p>
            <a:pPr marL="127635" marR="36830" indent="-127635">
              <a:lnSpc>
                <a:spcPct val="140000"/>
              </a:lnSpc>
              <a:buSzPct val="93333"/>
              <a:buChar char="●"/>
              <a:tabLst>
                <a:tab pos="127635" algn="l"/>
              </a:tabLst>
            </a:pPr>
            <a:r>
              <a:rPr dirty="0" sz="1500" b="1">
                <a:solidFill>
                  <a:srgbClr val="0000FF"/>
                </a:solidFill>
                <a:latin typeface="Arial"/>
                <a:cs typeface="Arial"/>
              </a:rPr>
              <a:t>Contingency</a:t>
            </a:r>
            <a:r>
              <a:rPr dirty="0" sz="1500" spc="-2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0000FF"/>
                </a:solidFill>
                <a:latin typeface="Arial MT"/>
                <a:cs typeface="Arial MT"/>
              </a:rPr>
              <a:t>of</a:t>
            </a:r>
            <a:r>
              <a:rPr dirty="0" sz="1500" spc="-2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0000FF"/>
                </a:solidFill>
                <a:latin typeface="Arial MT"/>
                <a:cs typeface="Arial MT"/>
              </a:rPr>
              <a:t>Rs</a:t>
            </a:r>
            <a:r>
              <a:rPr dirty="0" sz="1500" spc="-2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0000FF"/>
                </a:solidFill>
                <a:latin typeface="Arial MT"/>
                <a:cs typeface="Arial MT"/>
              </a:rPr>
              <a:t>1</a:t>
            </a:r>
            <a:r>
              <a:rPr dirty="0" sz="1500" spc="-2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500" spc="-20">
                <a:solidFill>
                  <a:srgbClr val="0000FF"/>
                </a:solidFill>
                <a:latin typeface="Arial MT"/>
                <a:cs typeface="Arial MT"/>
              </a:rPr>
              <a:t>lakh </a:t>
            </a:r>
            <a:r>
              <a:rPr dirty="0" sz="1500">
                <a:solidFill>
                  <a:srgbClr val="0000FF"/>
                </a:solidFill>
                <a:latin typeface="Arial MT"/>
                <a:cs typeface="Arial MT"/>
              </a:rPr>
              <a:t>for</a:t>
            </a:r>
            <a:r>
              <a:rPr dirty="0" sz="1500" spc="-1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0000FF"/>
                </a:solidFill>
                <a:latin typeface="Arial MT"/>
                <a:cs typeface="Arial MT"/>
              </a:rPr>
              <a:t>1</a:t>
            </a:r>
            <a:r>
              <a:rPr dirty="0" sz="1500" spc="-1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500" spc="-20">
                <a:solidFill>
                  <a:srgbClr val="0000FF"/>
                </a:solidFill>
                <a:latin typeface="Arial MT"/>
                <a:cs typeface="Arial MT"/>
              </a:rPr>
              <a:t>year</a:t>
            </a:r>
            <a:endParaRPr sz="1500">
              <a:latin typeface="Arial MT"/>
              <a:cs typeface="Arial MT"/>
            </a:endParaRPr>
          </a:p>
          <a:p>
            <a:pPr marL="127635" marR="5080" indent="-127635">
              <a:lnSpc>
                <a:spcPct val="140000"/>
              </a:lnSpc>
              <a:buSzPct val="93333"/>
              <a:buChar char="●"/>
              <a:tabLst>
                <a:tab pos="127635" algn="l"/>
              </a:tabLst>
            </a:pPr>
            <a:r>
              <a:rPr dirty="0" sz="1500" b="1">
                <a:latin typeface="Arial"/>
                <a:cs typeface="Arial"/>
              </a:rPr>
              <a:t>Location:</a:t>
            </a:r>
            <a:r>
              <a:rPr dirty="0" sz="1500" spc="-25" b="1">
                <a:latin typeface="Arial"/>
                <a:cs typeface="Arial"/>
              </a:rPr>
              <a:t> </a:t>
            </a:r>
            <a:r>
              <a:rPr dirty="0" sz="1500" spc="-20">
                <a:latin typeface="Arial MT"/>
                <a:cs typeface="Arial MT"/>
              </a:rPr>
              <a:t>In-</a:t>
            </a:r>
            <a:r>
              <a:rPr dirty="0" sz="1500">
                <a:latin typeface="Arial MT"/>
                <a:cs typeface="Arial MT"/>
              </a:rPr>
              <a:t>person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at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-25">
                <a:latin typeface="Arial MT"/>
                <a:cs typeface="Arial MT"/>
              </a:rPr>
              <a:t>the </a:t>
            </a:r>
            <a:r>
              <a:rPr dirty="0" sz="1500">
                <a:latin typeface="Arial MT"/>
                <a:cs typeface="Arial MT"/>
              </a:rPr>
              <a:t>chosen</a:t>
            </a:r>
            <a:r>
              <a:rPr dirty="0" sz="1500" spc="-8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institute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51796" y="652629"/>
            <a:ext cx="47059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51100" algn="l"/>
              </a:tabLst>
            </a:pPr>
            <a:r>
              <a:rPr dirty="0" sz="1400" b="1">
                <a:latin typeface="Arial"/>
                <a:cs typeface="Arial"/>
              </a:rPr>
              <a:t>Fellowship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Details:</a:t>
            </a:r>
            <a:r>
              <a:rPr dirty="0" sz="1400" b="1">
                <a:latin typeface="Arial"/>
                <a:cs typeface="Arial"/>
              </a:rPr>
              <a:t>	Project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Selection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Process: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971" y="1026118"/>
            <a:ext cx="2237105" cy="295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6854" marR="5080" indent="-224790">
              <a:lnSpc>
                <a:spcPct val="150000"/>
              </a:lnSpc>
              <a:spcBef>
                <a:spcPts val="100"/>
              </a:spcBef>
              <a:buChar char="●"/>
              <a:tabLst>
                <a:tab pos="236854" algn="l"/>
              </a:tabLst>
            </a:pPr>
            <a:r>
              <a:rPr dirty="0" sz="1600">
                <a:latin typeface="Arial MT"/>
                <a:cs typeface="Arial MT"/>
              </a:rPr>
              <a:t>Collect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project </a:t>
            </a:r>
            <a:r>
              <a:rPr dirty="0" sz="1600">
                <a:latin typeface="Arial MT"/>
                <a:cs typeface="Arial MT"/>
              </a:rPr>
              <a:t>opportunities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and </a:t>
            </a:r>
            <a:r>
              <a:rPr dirty="0" sz="1600" spc="-10">
                <a:latin typeface="Arial MT"/>
                <a:cs typeface="Arial MT"/>
              </a:rPr>
              <a:t>academic </a:t>
            </a:r>
            <a:r>
              <a:rPr dirty="0" sz="1600">
                <a:latin typeface="Arial MT"/>
                <a:cs typeface="Arial MT"/>
              </a:rPr>
              <a:t>requirements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from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the </a:t>
            </a:r>
            <a:r>
              <a:rPr dirty="0" sz="1600" spc="-10">
                <a:latin typeface="Arial MT"/>
                <a:cs typeface="Arial MT"/>
              </a:rPr>
              <a:t>Faculties</a:t>
            </a:r>
            <a:endParaRPr sz="1600">
              <a:latin typeface="Arial MT"/>
              <a:cs typeface="Arial MT"/>
            </a:endParaRPr>
          </a:p>
          <a:p>
            <a:pPr marL="236854" marR="128905" indent="-224790">
              <a:lnSpc>
                <a:spcPct val="150000"/>
              </a:lnSpc>
              <a:buChar char="●"/>
              <a:tabLst>
                <a:tab pos="236854" algn="l"/>
              </a:tabLst>
            </a:pPr>
            <a:r>
              <a:rPr dirty="0" sz="1600">
                <a:latin typeface="Arial MT"/>
                <a:cs typeface="Arial MT"/>
              </a:rPr>
              <a:t>Shared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compiled </a:t>
            </a:r>
            <a:r>
              <a:rPr dirty="0" sz="1600">
                <a:latin typeface="Arial MT"/>
                <a:cs typeface="Arial MT"/>
              </a:rPr>
              <a:t>list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of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projects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with </a:t>
            </a:r>
            <a:r>
              <a:rPr dirty="0" sz="1600">
                <a:latin typeface="Arial MT"/>
                <a:cs typeface="Arial MT"/>
              </a:rPr>
              <a:t>NPTEL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stars.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466725"/>
          </a:xfrm>
          <a:custGeom>
            <a:avLst/>
            <a:gdLst/>
            <a:ahLst/>
            <a:cxnLst/>
            <a:rect l="l" t="t" r="r" b="b"/>
            <a:pathLst>
              <a:path w="9144000" h="466725">
                <a:moveTo>
                  <a:pt x="9143858" y="0"/>
                </a:moveTo>
                <a:lnTo>
                  <a:pt x="9143858" y="466199"/>
                </a:lnTo>
                <a:lnTo>
                  <a:pt x="0" y="466199"/>
                </a:lnTo>
                <a:lnTo>
                  <a:pt x="0" y="0"/>
                </a:lnTo>
                <a:lnTo>
                  <a:pt x="9143858" y="0"/>
                </a:lnTo>
                <a:close/>
              </a:path>
            </a:pathLst>
          </a:custGeom>
          <a:solidFill>
            <a:srgbClr val="98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615" rIns="0" bIns="0" rtlCol="0" vert="horz">
            <a:spAutoFit/>
          </a:bodyPr>
          <a:lstStyle/>
          <a:p>
            <a:pPr marL="1028065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FFFFFF"/>
                </a:solidFill>
              </a:rPr>
              <a:t>POST</a:t>
            </a:r>
            <a:r>
              <a:rPr dirty="0" sz="1700" spc="-60">
                <a:solidFill>
                  <a:srgbClr val="FFFFFF"/>
                </a:solidFill>
              </a:rPr>
              <a:t> </a:t>
            </a:r>
            <a:r>
              <a:rPr dirty="0" sz="1700">
                <a:solidFill>
                  <a:srgbClr val="FFFFFF"/>
                </a:solidFill>
              </a:rPr>
              <a:t>BAC</a:t>
            </a:r>
            <a:r>
              <a:rPr dirty="0" sz="1700" spc="-55">
                <a:solidFill>
                  <a:srgbClr val="FFFFFF"/>
                </a:solidFill>
              </a:rPr>
              <a:t> </a:t>
            </a:r>
            <a:r>
              <a:rPr dirty="0" sz="1700" spc="-10">
                <a:solidFill>
                  <a:srgbClr val="FFFFFF"/>
                </a:solidFill>
              </a:rPr>
              <a:t>FELLOWSHIPS</a:t>
            </a:r>
            <a:r>
              <a:rPr dirty="0" sz="1700" spc="-55">
                <a:solidFill>
                  <a:srgbClr val="FFFFFF"/>
                </a:solidFill>
              </a:rPr>
              <a:t> </a:t>
            </a:r>
            <a:r>
              <a:rPr dirty="0" sz="1700">
                <a:solidFill>
                  <a:srgbClr val="FFFFFF"/>
                </a:solidFill>
              </a:rPr>
              <a:t>-</a:t>
            </a:r>
            <a:r>
              <a:rPr dirty="0" sz="1700" spc="-60">
                <a:solidFill>
                  <a:srgbClr val="FFFFFF"/>
                </a:solidFill>
              </a:rPr>
              <a:t> </a:t>
            </a:r>
            <a:r>
              <a:rPr dirty="0" sz="1700">
                <a:solidFill>
                  <a:srgbClr val="FFFFFF"/>
                </a:solidFill>
              </a:rPr>
              <a:t>PROJECT</a:t>
            </a:r>
            <a:r>
              <a:rPr dirty="0" sz="1700" spc="-55">
                <a:solidFill>
                  <a:srgbClr val="FFFFFF"/>
                </a:solidFill>
              </a:rPr>
              <a:t> </a:t>
            </a:r>
            <a:r>
              <a:rPr dirty="0" sz="1700" spc="-20">
                <a:solidFill>
                  <a:srgbClr val="FFFFFF"/>
                </a:solidFill>
              </a:rPr>
              <a:t>DETAILS</a:t>
            </a:r>
            <a:r>
              <a:rPr dirty="0" sz="1700" spc="-55">
                <a:solidFill>
                  <a:srgbClr val="FFFFFF"/>
                </a:solidFill>
              </a:rPr>
              <a:t> </a:t>
            </a:r>
            <a:r>
              <a:rPr dirty="0" sz="1700">
                <a:solidFill>
                  <a:srgbClr val="FFFFFF"/>
                </a:solidFill>
              </a:rPr>
              <a:t>(INSTITUTE-</a:t>
            </a:r>
            <a:r>
              <a:rPr dirty="0" sz="1700" spc="-10">
                <a:solidFill>
                  <a:srgbClr val="FFFFFF"/>
                </a:solidFill>
              </a:rPr>
              <a:t>WISE)</a:t>
            </a:r>
            <a:endParaRPr sz="1700"/>
          </a:p>
        </p:txBody>
      </p:sp>
      <p:sp>
        <p:nvSpPr>
          <p:cNvPr id="4" name="object 4"/>
          <p:cNvSpPr/>
          <p:nvPr/>
        </p:nvSpPr>
        <p:spPr>
          <a:xfrm>
            <a:off x="6353434" y="2194068"/>
            <a:ext cx="2519680" cy="1158875"/>
          </a:xfrm>
          <a:custGeom>
            <a:avLst/>
            <a:gdLst/>
            <a:ahLst/>
            <a:cxnLst/>
            <a:rect l="l" t="t" r="r" b="b"/>
            <a:pathLst>
              <a:path w="2519679" h="1158875">
                <a:moveTo>
                  <a:pt x="2326441" y="0"/>
                </a:moveTo>
                <a:lnTo>
                  <a:pt x="2370717" y="5099"/>
                </a:lnTo>
                <a:lnTo>
                  <a:pt x="2411362" y="19626"/>
                </a:lnTo>
                <a:lnTo>
                  <a:pt x="2447215" y="42421"/>
                </a:lnTo>
                <a:lnTo>
                  <a:pt x="2477119" y="72325"/>
                </a:lnTo>
                <a:lnTo>
                  <a:pt x="2499914" y="108179"/>
                </a:lnTo>
                <a:lnTo>
                  <a:pt x="2514441" y="148823"/>
                </a:lnTo>
                <a:lnTo>
                  <a:pt x="2519541" y="193099"/>
                </a:lnTo>
                <a:lnTo>
                  <a:pt x="2519541" y="482749"/>
                </a:lnTo>
                <a:lnTo>
                  <a:pt x="2519541" y="965499"/>
                </a:lnTo>
                <a:lnTo>
                  <a:pt x="2515797" y="1003347"/>
                </a:lnTo>
                <a:lnTo>
                  <a:pt x="2487098" y="1072631"/>
                </a:lnTo>
                <a:lnTo>
                  <a:pt x="2433573" y="1126156"/>
                </a:lnTo>
                <a:lnTo>
                  <a:pt x="2364289" y="1154855"/>
                </a:lnTo>
                <a:lnTo>
                  <a:pt x="2326441" y="1158599"/>
                </a:lnTo>
                <a:lnTo>
                  <a:pt x="1252541" y="1158599"/>
                </a:lnTo>
                <a:lnTo>
                  <a:pt x="709541" y="1158599"/>
                </a:lnTo>
                <a:lnTo>
                  <a:pt x="540641" y="1158599"/>
                </a:lnTo>
                <a:lnTo>
                  <a:pt x="496365" y="1153500"/>
                </a:lnTo>
                <a:lnTo>
                  <a:pt x="455721" y="1138973"/>
                </a:lnTo>
                <a:lnTo>
                  <a:pt x="419867" y="1116178"/>
                </a:lnTo>
                <a:lnTo>
                  <a:pt x="389963" y="1086274"/>
                </a:lnTo>
                <a:lnTo>
                  <a:pt x="367168" y="1050420"/>
                </a:lnTo>
                <a:lnTo>
                  <a:pt x="352641" y="1009775"/>
                </a:lnTo>
                <a:lnTo>
                  <a:pt x="347541" y="965499"/>
                </a:lnTo>
                <a:lnTo>
                  <a:pt x="347541" y="482749"/>
                </a:lnTo>
                <a:lnTo>
                  <a:pt x="0" y="499066"/>
                </a:lnTo>
                <a:lnTo>
                  <a:pt x="347541" y="193099"/>
                </a:lnTo>
                <a:lnTo>
                  <a:pt x="352641" y="148823"/>
                </a:lnTo>
                <a:lnTo>
                  <a:pt x="367168" y="108179"/>
                </a:lnTo>
                <a:lnTo>
                  <a:pt x="389963" y="72325"/>
                </a:lnTo>
                <a:lnTo>
                  <a:pt x="419867" y="42421"/>
                </a:lnTo>
                <a:lnTo>
                  <a:pt x="455721" y="19626"/>
                </a:lnTo>
                <a:lnTo>
                  <a:pt x="496365" y="5099"/>
                </a:lnTo>
                <a:lnTo>
                  <a:pt x="540641" y="0"/>
                </a:lnTo>
                <a:lnTo>
                  <a:pt x="709541" y="0"/>
                </a:lnTo>
                <a:lnTo>
                  <a:pt x="1252541" y="0"/>
                </a:lnTo>
                <a:lnTo>
                  <a:pt x="2326441" y="0"/>
                </a:lnTo>
                <a:close/>
              </a:path>
            </a:pathLst>
          </a:custGeom>
          <a:ln w="14274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898967" y="2333795"/>
            <a:ext cx="1775460" cy="802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1700" spc="-20" b="1">
                <a:solidFill>
                  <a:srgbClr val="980000"/>
                </a:solidFill>
                <a:latin typeface="Arial"/>
                <a:cs typeface="Arial"/>
              </a:rPr>
              <a:t>Total</a:t>
            </a:r>
            <a:r>
              <a:rPr dirty="0" sz="1700" spc="-70" b="1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980000"/>
                </a:solidFill>
                <a:latin typeface="Arial"/>
                <a:cs typeface="Arial"/>
              </a:rPr>
              <a:t>students </a:t>
            </a:r>
            <a:r>
              <a:rPr dirty="0" sz="1700" b="1">
                <a:solidFill>
                  <a:srgbClr val="980000"/>
                </a:solidFill>
                <a:latin typeface="Arial"/>
                <a:cs typeface="Arial"/>
              </a:rPr>
              <a:t>Applied</a:t>
            </a:r>
            <a:r>
              <a:rPr dirty="0" sz="1700" spc="-60" b="1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980000"/>
                </a:solidFill>
                <a:latin typeface="Arial"/>
                <a:cs typeface="Arial"/>
              </a:rPr>
              <a:t>for</a:t>
            </a:r>
            <a:r>
              <a:rPr dirty="0" sz="1700" spc="-55" b="1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980000"/>
                </a:solidFill>
                <a:latin typeface="Arial"/>
                <a:cs typeface="Arial"/>
              </a:rPr>
              <a:t>2026:</a:t>
            </a:r>
            <a:endParaRPr sz="17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1700" spc="-20" b="1">
                <a:solidFill>
                  <a:srgbClr val="980000"/>
                </a:solidFill>
                <a:latin typeface="Arial"/>
                <a:cs typeface="Arial"/>
              </a:rPr>
              <a:t>1041</a:t>
            </a:r>
            <a:endParaRPr sz="17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5223" y="683532"/>
          <a:ext cx="5867400" cy="4275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0730"/>
                <a:gridCol w="1298574"/>
                <a:gridCol w="1136014"/>
                <a:gridCol w="1316355"/>
              </a:tblGrid>
              <a:tr h="295275">
                <a:tc rowSpan="2">
                  <a:txBody>
                    <a:bodyPr/>
                    <a:lstStyle/>
                    <a:p>
                      <a:pPr marL="563245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dirty="0" sz="1600" spc="-10" b="1">
                          <a:latin typeface="Arial"/>
                          <a:cs typeface="Arial"/>
                        </a:rPr>
                        <a:t>Institutes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65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0E0E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1576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No.</a:t>
                      </a:r>
                      <a:r>
                        <a:rPr dirty="0" sz="16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6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Projects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527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65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20" b="1">
                          <a:latin typeface="Arial"/>
                          <a:cs typeface="Arial"/>
                        </a:rPr>
                        <a:t>2024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1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20" b="1">
                          <a:latin typeface="Arial"/>
                          <a:cs typeface="Arial"/>
                        </a:rPr>
                        <a:t>2025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20" b="1">
                          <a:latin typeface="Arial"/>
                          <a:cs typeface="Arial"/>
                        </a:rPr>
                        <a:t>2026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1E9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IISc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Bangalore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946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3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946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7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946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30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946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IIT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Bombay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8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7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34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IIT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Delhi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908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4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908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908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908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IIT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Guwahati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17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69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IIT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Kanpur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-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600" spc="-50">
                          <a:latin typeface="Arial MT"/>
                          <a:cs typeface="Arial MT"/>
                        </a:rPr>
                        <a:t>7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23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IIT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Kharagpur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1098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33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1098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22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1098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104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1098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03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IIT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Madras+Other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1200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1200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36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1200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193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1200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IIT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Roorkee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971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28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971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18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971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600" spc="-25">
                          <a:latin typeface="Arial MT"/>
                          <a:cs typeface="Arial MT"/>
                        </a:rPr>
                        <a:t>86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971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10" b="1">
                          <a:latin typeface="Arial"/>
                          <a:cs typeface="Arial"/>
                        </a:rPr>
                        <a:t>Total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25" b="1">
                          <a:latin typeface="Arial"/>
                          <a:cs typeface="Arial"/>
                        </a:rPr>
                        <a:t>103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25" b="1">
                          <a:latin typeface="Arial"/>
                          <a:cs typeface="Arial"/>
                        </a:rPr>
                        <a:t>115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25" b="1">
                          <a:latin typeface="Arial"/>
                          <a:cs typeface="Arial"/>
                        </a:rPr>
                        <a:t>551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-12991"/>
            <a:ext cx="78359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Roboto"/>
                <a:cs typeface="Roboto"/>
              </a:rPr>
              <a:t>PMRF</a:t>
            </a:r>
            <a:r>
              <a:rPr dirty="0" sz="2400" spc="-2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Research</a:t>
            </a:r>
            <a:r>
              <a:rPr dirty="0" sz="2400" spc="-1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Scholars</a:t>
            </a:r>
            <a:r>
              <a:rPr dirty="0" sz="2400" spc="-15">
                <a:latin typeface="Roboto"/>
                <a:cs typeface="Roboto"/>
              </a:rPr>
              <a:t> </a:t>
            </a:r>
            <a:r>
              <a:rPr dirty="0" sz="2400" spc="-150">
                <a:latin typeface="Roboto"/>
                <a:cs typeface="Roboto"/>
              </a:rPr>
              <a:t>–</a:t>
            </a:r>
            <a:r>
              <a:rPr dirty="0" sz="2400" spc="-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Value</a:t>
            </a:r>
            <a:r>
              <a:rPr dirty="0" sz="2400" spc="-1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Addition</a:t>
            </a:r>
            <a:r>
              <a:rPr dirty="0" sz="2400" spc="-1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as</a:t>
            </a:r>
            <a:r>
              <a:rPr dirty="0" sz="2400" spc="-1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NPTEL</a:t>
            </a:r>
            <a:r>
              <a:rPr dirty="0" sz="2400" spc="-75">
                <a:latin typeface="Roboto"/>
                <a:cs typeface="Roboto"/>
              </a:rPr>
              <a:t> </a:t>
            </a:r>
            <a:r>
              <a:rPr dirty="0" sz="2400" spc="-25">
                <a:latin typeface="Roboto"/>
                <a:cs typeface="Roboto"/>
              </a:rPr>
              <a:t>TAs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5249" y="458121"/>
            <a:ext cx="8026400" cy="460311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70"/>
              </a:spcBef>
              <a:buFont typeface="Arial MT"/>
              <a:buChar char="●"/>
              <a:tabLst>
                <a:tab pos="379095" algn="l"/>
              </a:tabLst>
            </a:pPr>
            <a:r>
              <a:rPr dirty="0" sz="1800">
                <a:latin typeface="Roboto Lt"/>
                <a:cs typeface="Roboto Lt"/>
              </a:rPr>
              <a:t>PMRF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 spc="-30">
                <a:latin typeface="Roboto Lt"/>
                <a:cs typeface="Roboto Lt"/>
              </a:rPr>
              <a:t>Scholar’s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role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is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in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addition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to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regular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NPTEL</a:t>
            </a:r>
            <a:r>
              <a:rPr dirty="0" sz="1800" spc="-80">
                <a:latin typeface="Roboto Lt"/>
                <a:cs typeface="Roboto Lt"/>
              </a:rPr>
              <a:t> </a:t>
            </a:r>
            <a:r>
              <a:rPr dirty="0" sz="1800" spc="-25">
                <a:latin typeface="Roboto Lt"/>
                <a:cs typeface="Roboto Lt"/>
              </a:rPr>
              <a:t>TAs</a:t>
            </a:r>
            <a:endParaRPr sz="1800">
              <a:latin typeface="Roboto Lt"/>
              <a:cs typeface="Roboto Lt"/>
            </a:endParaRPr>
          </a:p>
          <a:p>
            <a:pPr lvl="1" marL="607695" indent="-351155">
              <a:lnSpc>
                <a:spcPct val="100000"/>
              </a:lnSpc>
              <a:spcBef>
                <a:spcPts val="335"/>
              </a:spcBef>
              <a:buFont typeface="Arial MT"/>
              <a:buChar char="○"/>
              <a:tabLst>
                <a:tab pos="607695" algn="l"/>
              </a:tabLst>
            </a:pPr>
            <a:r>
              <a:rPr dirty="0" sz="1600" b="1">
                <a:latin typeface="Roboto"/>
                <a:cs typeface="Roboto"/>
              </a:rPr>
              <a:t>Online</a:t>
            </a:r>
            <a:r>
              <a:rPr dirty="0" sz="1600" spc="-45" b="1">
                <a:latin typeface="Roboto"/>
                <a:cs typeface="Roboto"/>
              </a:rPr>
              <a:t> </a:t>
            </a:r>
            <a:r>
              <a:rPr dirty="0" sz="1600" b="1">
                <a:latin typeface="Roboto"/>
                <a:cs typeface="Roboto"/>
              </a:rPr>
              <a:t>Live</a:t>
            </a:r>
            <a:r>
              <a:rPr dirty="0" sz="1600" spc="-45" b="1">
                <a:latin typeface="Roboto"/>
                <a:cs typeface="Roboto"/>
              </a:rPr>
              <a:t> </a:t>
            </a:r>
            <a:r>
              <a:rPr dirty="0" sz="1600" spc="-10" b="1">
                <a:latin typeface="Roboto"/>
                <a:cs typeface="Roboto"/>
              </a:rPr>
              <a:t>interaction</a:t>
            </a:r>
            <a:r>
              <a:rPr dirty="0" sz="1600" spc="-45" b="1">
                <a:latin typeface="Roboto"/>
                <a:cs typeface="Roboto"/>
              </a:rPr>
              <a:t> </a:t>
            </a:r>
            <a:r>
              <a:rPr dirty="0" sz="1600">
                <a:latin typeface="Roboto Lt"/>
                <a:cs typeface="Roboto Lt"/>
              </a:rPr>
              <a:t>with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course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students</a:t>
            </a:r>
            <a:endParaRPr sz="1600">
              <a:latin typeface="Roboto Lt"/>
              <a:cs typeface="Roboto Lt"/>
            </a:endParaRPr>
          </a:p>
          <a:p>
            <a:pPr lvl="1" marL="607695" indent="-351155">
              <a:lnSpc>
                <a:spcPct val="100000"/>
              </a:lnSpc>
              <a:spcBef>
                <a:spcPts val="285"/>
              </a:spcBef>
              <a:buFont typeface="Arial MT"/>
              <a:buChar char="○"/>
              <a:tabLst>
                <a:tab pos="607695" algn="l"/>
              </a:tabLst>
            </a:pPr>
            <a:r>
              <a:rPr dirty="0" sz="1600" b="1">
                <a:latin typeface="Roboto"/>
                <a:cs typeface="Roboto"/>
              </a:rPr>
              <a:t>Problem</a:t>
            </a:r>
            <a:r>
              <a:rPr dirty="0" sz="1600" spc="-40" b="1">
                <a:latin typeface="Roboto"/>
                <a:cs typeface="Roboto"/>
              </a:rPr>
              <a:t> </a:t>
            </a:r>
            <a:r>
              <a:rPr dirty="0" sz="1600" b="1">
                <a:latin typeface="Roboto"/>
                <a:cs typeface="Roboto"/>
              </a:rPr>
              <a:t>solving</a:t>
            </a:r>
            <a:r>
              <a:rPr dirty="0" sz="1600" spc="-40" b="1">
                <a:latin typeface="Roboto"/>
                <a:cs typeface="Roboto"/>
              </a:rPr>
              <a:t> </a:t>
            </a:r>
            <a:r>
              <a:rPr dirty="0" sz="1600">
                <a:latin typeface="Roboto Lt"/>
                <a:cs typeface="Roboto Lt"/>
              </a:rPr>
              <a:t>and</a:t>
            </a:r>
            <a:r>
              <a:rPr dirty="0" sz="1600" spc="-35">
                <a:latin typeface="Roboto Lt"/>
                <a:cs typeface="Roboto Lt"/>
              </a:rPr>
              <a:t> doubt-</a:t>
            </a:r>
            <a:r>
              <a:rPr dirty="0" sz="1600" spc="-20">
                <a:latin typeface="Roboto Lt"/>
                <a:cs typeface="Roboto Lt"/>
              </a:rPr>
              <a:t>clearing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for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weekly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content</a:t>
            </a:r>
            <a:endParaRPr sz="1600">
              <a:latin typeface="Roboto Lt"/>
              <a:cs typeface="Roboto Lt"/>
            </a:endParaRPr>
          </a:p>
          <a:p>
            <a:pPr marL="379095" indent="-366395">
              <a:lnSpc>
                <a:spcPct val="100000"/>
              </a:lnSpc>
              <a:spcBef>
                <a:spcPts val="1280"/>
              </a:spcBef>
              <a:buFont typeface="Arial MT"/>
              <a:buChar char="●"/>
              <a:tabLst>
                <a:tab pos="379095" algn="l"/>
              </a:tabLst>
            </a:pPr>
            <a:r>
              <a:rPr dirty="0" sz="1800" spc="-10">
                <a:latin typeface="Roboto Lt"/>
                <a:cs typeface="Roboto Lt"/>
              </a:rPr>
              <a:t>History</a:t>
            </a:r>
            <a:endParaRPr sz="1800">
              <a:latin typeface="Roboto Lt"/>
              <a:cs typeface="Roboto Lt"/>
            </a:endParaRPr>
          </a:p>
          <a:p>
            <a:pPr lvl="1" marL="836294" indent="-351155">
              <a:lnSpc>
                <a:spcPct val="100000"/>
              </a:lnSpc>
              <a:spcBef>
                <a:spcPts val="335"/>
              </a:spcBef>
              <a:buFont typeface="Arial MT"/>
              <a:buChar char="○"/>
              <a:tabLst>
                <a:tab pos="836294" algn="l"/>
              </a:tabLst>
            </a:pPr>
            <a:r>
              <a:rPr dirty="0" sz="1600">
                <a:latin typeface="Roboto Lt"/>
                <a:cs typeface="Roboto Lt"/>
              </a:rPr>
              <a:t>Piloted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in</a:t>
            </a:r>
            <a:r>
              <a:rPr dirty="0" sz="1600" spc="-45">
                <a:latin typeface="Roboto Lt"/>
                <a:cs typeface="Roboto Lt"/>
              </a:rPr>
              <a:t> Jan-</a:t>
            </a:r>
            <a:r>
              <a:rPr dirty="0" sz="1600" spc="-20">
                <a:latin typeface="Roboto Lt"/>
                <a:cs typeface="Roboto Lt"/>
              </a:rPr>
              <a:t>April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2022,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with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80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PMRF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fellows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–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 spc="-55">
                <a:latin typeface="Roboto Lt"/>
                <a:cs typeface="Roboto Lt"/>
              </a:rPr>
              <a:t>Well-</a:t>
            </a:r>
            <a:r>
              <a:rPr dirty="0" sz="1600" spc="-10">
                <a:latin typeface="Roboto Lt"/>
                <a:cs typeface="Roboto Lt"/>
              </a:rPr>
              <a:t>received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by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students</a:t>
            </a:r>
            <a:endParaRPr sz="1600">
              <a:latin typeface="Roboto Lt"/>
              <a:cs typeface="Roboto Lt"/>
            </a:endParaRPr>
          </a:p>
          <a:p>
            <a:pPr lvl="1" marL="836294" indent="-351155">
              <a:lnSpc>
                <a:spcPct val="100000"/>
              </a:lnSpc>
              <a:spcBef>
                <a:spcPts val="285"/>
              </a:spcBef>
              <a:buFont typeface="Arial MT"/>
              <a:buChar char="○"/>
              <a:tabLst>
                <a:tab pos="836294" algn="l"/>
              </a:tabLst>
            </a:pPr>
            <a:r>
              <a:rPr dirty="0" sz="1600">
                <a:latin typeface="Roboto Lt"/>
                <a:cs typeface="Roboto Lt"/>
              </a:rPr>
              <a:t>Expanded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to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370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(July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2022),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466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(Jan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2023),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371(July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2023),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418(Jan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2024),</a:t>
            </a:r>
            <a:endParaRPr sz="1600">
              <a:latin typeface="Roboto Lt"/>
              <a:cs typeface="Roboto Lt"/>
            </a:endParaRPr>
          </a:p>
          <a:p>
            <a:pPr marL="836294">
              <a:lnSpc>
                <a:spcPct val="100000"/>
              </a:lnSpc>
              <a:spcBef>
                <a:spcPts val="290"/>
              </a:spcBef>
            </a:pPr>
            <a:r>
              <a:rPr dirty="0" sz="1600" spc="-10">
                <a:latin typeface="Roboto Lt"/>
                <a:cs typeface="Roboto Lt"/>
              </a:rPr>
              <a:t>395(July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2024),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362(Jan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2025),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245(July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2025),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195(Jan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2026)</a:t>
            </a:r>
            <a:endParaRPr sz="1600">
              <a:latin typeface="Roboto Lt"/>
              <a:cs typeface="Roboto Lt"/>
            </a:endParaRPr>
          </a:p>
          <a:p>
            <a:pPr lvl="1" marL="836294" indent="-351155">
              <a:lnSpc>
                <a:spcPct val="100000"/>
              </a:lnSpc>
              <a:spcBef>
                <a:spcPts val="290"/>
              </a:spcBef>
              <a:buFont typeface="Arial MT"/>
              <a:buChar char="○"/>
              <a:tabLst>
                <a:tab pos="836294" algn="l"/>
              </a:tabLst>
            </a:pPr>
            <a:r>
              <a:rPr dirty="0" sz="1600" spc="-10">
                <a:latin typeface="Roboto Lt"/>
                <a:cs typeface="Roboto Lt"/>
              </a:rPr>
              <a:t>Overwhelming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response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to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the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live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sessions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and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mostly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positive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learner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feedback</a:t>
            </a:r>
            <a:endParaRPr sz="1600">
              <a:latin typeface="Roboto Lt"/>
              <a:cs typeface="Roboto Lt"/>
            </a:endParaRPr>
          </a:p>
          <a:p>
            <a:pPr marL="379095" indent="-366395">
              <a:lnSpc>
                <a:spcPct val="100000"/>
              </a:lnSpc>
              <a:spcBef>
                <a:spcPts val="1280"/>
              </a:spcBef>
              <a:buFont typeface="Arial MT"/>
              <a:buChar char="●"/>
              <a:tabLst>
                <a:tab pos="379095" algn="l"/>
              </a:tabLst>
            </a:pPr>
            <a:r>
              <a:rPr dirty="0" sz="1800">
                <a:latin typeface="Roboto Lt"/>
                <a:cs typeface="Roboto Lt"/>
              </a:rPr>
              <a:t>Some</a:t>
            </a:r>
            <a:r>
              <a:rPr dirty="0" sz="1800" spc="-7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norms</a:t>
            </a:r>
            <a:endParaRPr sz="1800">
              <a:latin typeface="Roboto Lt"/>
              <a:cs typeface="Roboto Lt"/>
            </a:endParaRPr>
          </a:p>
          <a:p>
            <a:pPr marL="721995" indent="-389890">
              <a:lnSpc>
                <a:spcPct val="100000"/>
              </a:lnSpc>
              <a:spcBef>
                <a:spcPts val="330"/>
              </a:spcBef>
              <a:buAutoNum type="arabicPeriod"/>
              <a:tabLst>
                <a:tab pos="721995" algn="l"/>
              </a:tabLst>
            </a:pPr>
            <a:r>
              <a:rPr dirty="0" u="heavy" sz="160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Part</a:t>
            </a:r>
            <a:r>
              <a:rPr dirty="0" u="heavy" sz="1600" spc="-25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 </a:t>
            </a:r>
            <a:r>
              <a:rPr dirty="0" u="heavy" sz="160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of</a:t>
            </a:r>
            <a:r>
              <a:rPr dirty="0" u="heavy" sz="1600" spc="-25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 </a:t>
            </a:r>
            <a:r>
              <a:rPr dirty="0" u="heavy" sz="160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their</a:t>
            </a:r>
            <a:r>
              <a:rPr dirty="0" u="heavy" sz="1600" spc="-25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 </a:t>
            </a:r>
            <a:r>
              <a:rPr dirty="0" u="heavy" sz="160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PMRF</a:t>
            </a:r>
            <a:r>
              <a:rPr dirty="0" u="heavy" sz="1600" spc="-25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 </a:t>
            </a:r>
            <a:r>
              <a:rPr dirty="0" u="heavy" sz="160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work</a:t>
            </a:r>
            <a:r>
              <a:rPr dirty="0" sz="1600">
                <a:latin typeface="Roboto Lt"/>
                <a:cs typeface="Roboto Lt"/>
              </a:rPr>
              <a:t>:</a:t>
            </a:r>
            <a:r>
              <a:rPr dirty="0" sz="1600" spc="-2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No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additional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honorarium</a:t>
            </a:r>
            <a:endParaRPr sz="1600">
              <a:latin typeface="Roboto Lt"/>
              <a:cs typeface="Roboto Lt"/>
            </a:endParaRPr>
          </a:p>
          <a:p>
            <a:pPr marL="721995" indent="-389890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721995" algn="l"/>
              </a:tabLst>
            </a:pPr>
            <a:r>
              <a:rPr dirty="0" u="heavy" sz="160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Does</a:t>
            </a:r>
            <a:r>
              <a:rPr dirty="0" u="heavy" sz="1600" spc="-4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 </a:t>
            </a:r>
            <a:r>
              <a:rPr dirty="0" u="heavy" sz="160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not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replace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the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existing</a:t>
            </a:r>
            <a:r>
              <a:rPr dirty="0" sz="1600" spc="-7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TA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system</a:t>
            </a:r>
            <a:endParaRPr sz="1600">
              <a:latin typeface="Roboto Lt"/>
              <a:cs typeface="Roboto Lt"/>
            </a:endParaRPr>
          </a:p>
          <a:p>
            <a:pPr marL="721995" indent="-389890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721995" algn="l"/>
              </a:tabLst>
            </a:pPr>
            <a:r>
              <a:rPr dirty="0" sz="1600">
                <a:latin typeface="Roboto Lt"/>
                <a:cs typeface="Roboto Lt"/>
              </a:rPr>
              <a:t>Conduct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live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sessions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each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week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for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the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course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she/he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is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alloted.</a:t>
            </a:r>
            <a:endParaRPr sz="1600">
              <a:latin typeface="Roboto Lt"/>
              <a:cs typeface="Roboto Lt"/>
            </a:endParaRPr>
          </a:p>
          <a:p>
            <a:pPr marL="721995" indent="-389890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721995" algn="l"/>
              </a:tabLst>
            </a:pPr>
            <a:r>
              <a:rPr dirty="0" sz="1600">
                <a:latin typeface="Roboto Lt"/>
                <a:cs typeface="Roboto Lt"/>
              </a:rPr>
              <a:t>Can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also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work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as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regular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NPTEL</a:t>
            </a:r>
            <a:r>
              <a:rPr dirty="0" sz="1600" spc="-6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TA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(with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honorarium)</a:t>
            </a:r>
            <a:endParaRPr sz="1600">
              <a:latin typeface="Roboto Lt"/>
              <a:cs typeface="Roboto Lt"/>
            </a:endParaRPr>
          </a:p>
          <a:p>
            <a:pPr marL="721995" indent="-389890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721995" algn="l"/>
              </a:tabLst>
            </a:pPr>
            <a:r>
              <a:rPr dirty="0" sz="1600">
                <a:latin typeface="Roboto Lt"/>
                <a:cs typeface="Roboto Lt"/>
              </a:rPr>
              <a:t>Faculty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can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opt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to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not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have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any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PMRF</a:t>
            </a:r>
            <a:r>
              <a:rPr dirty="0" sz="1600" spc="-80">
                <a:latin typeface="Roboto Lt"/>
                <a:cs typeface="Roboto Lt"/>
              </a:rPr>
              <a:t> </a:t>
            </a:r>
            <a:r>
              <a:rPr dirty="0" sz="1600" spc="-25">
                <a:latin typeface="Roboto Lt"/>
                <a:cs typeface="Roboto Lt"/>
              </a:rPr>
              <a:t>TA</a:t>
            </a:r>
            <a:endParaRPr sz="1600">
              <a:latin typeface="Roboto Lt"/>
              <a:cs typeface="Roboto Lt"/>
            </a:endParaRPr>
          </a:p>
          <a:p>
            <a:pPr marL="721995" indent="-389890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721995" algn="l"/>
              </a:tabLst>
            </a:pPr>
            <a:r>
              <a:rPr dirty="0" sz="1600">
                <a:latin typeface="Roboto Lt"/>
                <a:cs typeface="Roboto Lt"/>
              </a:rPr>
              <a:t>More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than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one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PMRF</a:t>
            </a:r>
            <a:r>
              <a:rPr dirty="0" sz="1600" spc="-7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TA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for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large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classes</a:t>
            </a:r>
            <a:endParaRPr sz="16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Roboto"/>
                <a:cs typeface="Roboto"/>
              </a:rPr>
              <a:t>Copyright</a:t>
            </a:r>
            <a:r>
              <a:rPr dirty="0" sz="2400" spc="-8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Guidelines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3875" y="561483"/>
            <a:ext cx="8363584" cy="3383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600325">
              <a:lnSpc>
                <a:spcPct val="114999"/>
              </a:lnSpc>
              <a:spcBef>
                <a:spcPts val="100"/>
              </a:spcBef>
            </a:pPr>
            <a:r>
              <a:rPr dirty="0" sz="1800" b="1">
                <a:latin typeface="Roboto"/>
                <a:cs typeface="Roboto"/>
              </a:rPr>
              <a:t>NPTEL</a:t>
            </a:r>
            <a:r>
              <a:rPr dirty="0" sz="1800" spc="5" b="1">
                <a:latin typeface="Roboto"/>
                <a:cs typeface="Roboto"/>
              </a:rPr>
              <a:t> </a:t>
            </a:r>
            <a:r>
              <a:rPr dirty="0" sz="1800" b="1">
                <a:latin typeface="Roboto"/>
                <a:cs typeface="Roboto"/>
              </a:rPr>
              <a:t>contents</a:t>
            </a:r>
            <a:r>
              <a:rPr dirty="0" sz="1800" spc="10" b="1">
                <a:latin typeface="Roboto"/>
                <a:cs typeface="Roboto"/>
              </a:rPr>
              <a:t> </a:t>
            </a:r>
            <a:r>
              <a:rPr dirty="0" sz="1800" b="1">
                <a:latin typeface="Roboto"/>
                <a:cs typeface="Roboto"/>
              </a:rPr>
              <a:t>are</a:t>
            </a:r>
            <a:r>
              <a:rPr dirty="0" sz="1800" spc="10" b="1">
                <a:latin typeface="Roboto"/>
                <a:cs typeface="Roboto"/>
              </a:rPr>
              <a:t> </a:t>
            </a:r>
            <a:r>
              <a:rPr dirty="0" sz="1800" b="1">
                <a:latin typeface="Roboto"/>
                <a:cs typeface="Roboto"/>
              </a:rPr>
              <a:t>distributed</a:t>
            </a:r>
            <a:r>
              <a:rPr dirty="0" sz="1800" spc="5" b="1">
                <a:latin typeface="Roboto"/>
                <a:cs typeface="Roboto"/>
              </a:rPr>
              <a:t> </a:t>
            </a:r>
            <a:r>
              <a:rPr dirty="0" sz="1800" b="1">
                <a:latin typeface="Roboto"/>
                <a:cs typeface="Roboto"/>
              </a:rPr>
              <a:t>under</a:t>
            </a:r>
            <a:r>
              <a:rPr dirty="0" sz="1800" spc="10" b="1">
                <a:latin typeface="Roboto"/>
                <a:cs typeface="Roboto"/>
              </a:rPr>
              <a:t> </a:t>
            </a:r>
            <a:r>
              <a:rPr dirty="0" sz="1800" b="1">
                <a:latin typeface="Roboto"/>
                <a:cs typeface="Roboto"/>
              </a:rPr>
              <a:t>the</a:t>
            </a:r>
            <a:r>
              <a:rPr dirty="0" sz="1800" spc="10" b="1">
                <a:latin typeface="Roboto"/>
                <a:cs typeface="Roboto"/>
              </a:rPr>
              <a:t> </a:t>
            </a:r>
            <a:r>
              <a:rPr dirty="0" sz="1800" spc="-25" b="1">
                <a:latin typeface="Roboto"/>
                <a:cs typeface="Roboto"/>
              </a:rPr>
              <a:t>CC-</a:t>
            </a:r>
            <a:r>
              <a:rPr dirty="0" sz="1800" spc="-105" b="1">
                <a:latin typeface="Roboto"/>
                <a:cs typeface="Roboto"/>
              </a:rPr>
              <a:t>BY-</a:t>
            </a:r>
            <a:r>
              <a:rPr dirty="0" sz="1800" spc="-25" b="1">
                <a:latin typeface="Roboto"/>
                <a:cs typeface="Roboto"/>
              </a:rPr>
              <a:t>NC-SA </a:t>
            </a:r>
            <a:r>
              <a:rPr dirty="0" sz="1800" spc="-10" b="1">
                <a:latin typeface="Roboto"/>
                <a:cs typeface="Roboto"/>
              </a:rPr>
              <a:t>license(Attribution-</a:t>
            </a:r>
            <a:r>
              <a:rPr dirty="0" sz="1800" spc="-25" b="1">
                <a:latin typeface="Roboto"/>
                <a:cs typeface="Roboto"/>
              </a:rPr>
              <a:t>NonCommercial-</a:t>
            </a:r>
            <a:r>
              <a:rPr dirty="0" sz="1800" spc="-10" b="1">
                <a:latin typeface="Roboto"/>
                <a:cs typeface="Roboto"/>
              </a:rPr>
              <a:t>ShareAlike)</a:t>
            </a:r>
            <a:endParaRPr sz="1800">
              <a:latin typeface="Roboto"/>
              <a:cs typeface="Roboto"/>
            </a:endParaRPr>
          </a:p>
          <a:p>
            <a:pPr marL="469265" indent="-366395">
              <a:lnSpc>
                <a:spcPct val="100000"/>
              </a:lnSpc>
              <a:spcBef>
                <a:spcPts val="132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 spc="-10">
                <a:latin typeface="Roboto Lt"/>
                <a:cs typeface="Roboto Lt"/>
              </a:rPr>
              <a:t>You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can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use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material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from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another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source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(image,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video,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article,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book,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etc.)</a:t>
            </a:r>
            <a:endParaRPr sz="1800">
              <a:latin typeface="Roboto Lt"/>
              <a:cs typeface="Roboto Lt"/>
            </a:endParaRPr>
          </a:p>
          <a:p>
            <a:pPr marL="469900">
              <a:lnSpc>
                <a:spcPct val="100000"/>
              </a:lnSpc>
              <a:spcBef>
                <a:spcPts val="335"/>
              </a:spcBef>
            </a:pPr>
            <a:r>
              <a:rPr dirty="0" sz="1600">
                <a:latin typeface="Roboto Lt"/>
                <a:cs typeface="Roboto Lt"/>
              </a:rPr>
              <a:t>under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the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following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terms</a:t>
            </a:r>
            <a:endParaRPr sz="1600">
              <a:latin typeface="Roboto Lt"/>
              <a:cs typeface="Roboto Lt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600">
              <a:latin typeface="Roboto Lt"/>
              <a:cs typeface="Roboto Lt"/>
            </a:endParaRPr>
          </a:p>
          <a:p>
            <a:pPr marL="469900" marR="5080" indent="-389890">
              <a:lnSpc>
                <a:spcPct val="114999"/>
              </a:lnSpc>
              <a:spcBef>
                <a:spcPts val="5"/>
              </a:spcBef>
              <a:buFont typeface="Roboto Lt"/>
              <a:buAutoNum type="arabicPeriod"/>
              <a:tabLst>
                <a:tab pos="469900" algn="l"/>
              </a:tabLst>
            </a:pPr>
            <a:r>
              <a:rPr dirty="0" sz="1600" b="1">
                <a:latin typeface="Roboto"/>
                <a:cs typeface="Roboto"/>
              </a:rPr>
              <a:t>Attribution</a:t>
            </a:r>
            <a:r>
              <a:rPr dirty="0" sz="1600" spc="-90" b="1">
                <a:latin typeface="Roboto"/>
                <a:cs typeface="Roboto"/>
              </a:rPr>
              <a:t> </a:t>
            </a:r>
            <a:r>
              <a:rPr dirty="0" sz="1600" spc="-229">
                <a:latin typeface="Roboto Lt"/>
                <a:cs typeface="Roboto Lt"/>
              </a:rPr>
              <a:t>-</a:t>
            </a:r>
            <a:r>
              <a:rPr dirty="0" sz="1600" spc="-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You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must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give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u="heavy" sz="1600" spc="-1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appropriate</a:t>
            </a:r>
            <a:r>
              <a:rPr dirty="0" u="heavy" sz="1600" spc="-5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 </a:t>
            </a:r>
            <a:r>
              <a:rPr dirty="0" u="heavy" sz="160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credit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,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provide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a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link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to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the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license,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and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u="heavy" sz="160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indicate</a:t>
            </a:r>
            <a:r>
              <a:rPr dirty="0" u="heavy" sz="1600" spc="-5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 </a:t>
            </a:r>
            <a:r>
              <a:rPr dirty="0" u="heavy" sz="1600" spc="-25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if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u="heavy" sz="160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changes</a:t>
            </a:r>
            <a:r>
              <a:rPr dirty="0" u="heavy" sz="1600" spc="-5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 </a:t>
            </a:r>
            <a:r>
              <a:rPr dirty="0" u="heavy" sz="160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were</a:t>
            </a:r>
            <a:r>
              <a:rPr dirty="0" u="heavy" sz="1600" spc="-45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 </a:t>
            </a:r>
            <a:r>
              <a:rPr dirty="0" u="heavy" sz="160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made</a:t>
            </a:r>
            <a:r>
              <a:rPr dirty="0" sz="1600">
                <a:latin typeface="Roboto Lt"/>
                <a:cs typeface="Roboto Lt"/>
              </a:rPr>
              <a:t>.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You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may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do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so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in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any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reasonable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 spc="-20">
                <a:latin typeface="Roboto Lt"/>
                <a:cs typeface="Roboto Lt"/>
              </a:rPr>
              <a:t>manner,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but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not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in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any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way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 spc="-20">
                <a:latin typeface="Roboto Lt"/>
                <a:cs typeface="Roboto Lt"/>
              </a:rPr>
              <a:t>that </a:t>
            </a:r>
            <a:r>
              <a:rPr dirty="0" sz="1600" spc="-10">
                <a:latin typeface="Roboto Lt"/>
                <a:cs typeface="Roboto Lt"/>
              </a:rPr>
              <a:t>suggests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the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licensor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endorses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you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or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your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 spc="-20">
                <a:latin typeface="Roboto Lt"/>
                <a:cs typeface="Roboto Lt"/>
              </a:rPr>
              <a:t>use.</a:t>
            </a:r>
            <a:endParaRPr sz="1600">
              <a:latin typeface="Roboto Lt"/>
              <a:cs typeface="Roboto Lt"/>
            </a:endParaRPr>
          </a:p>
          <a:p>
            <a:pPr marL="469265" indent="-389890">
              <a:lnSpc>
                <a:spcPct val="100000"/>
              </a:lnSpc>
              <a:spcBef>
                <a:spcPts val="285"/>
              </a:spcBef>
              <a:buFont typeface="Roboto Lt"/>
              <a:buAutoNum type="arabicPeriod"/>
              <a:tabLst>
                <a:tab pos="469265" algn="l"/>
              </a:tabLst>
            </a:pPr>
            <a:r>
              <a:rPr dirty="0" sz="1600" b="1">
                <a:latin typeface="Roboto"/>
                <a:cs typeface="Roboto"/>
              </a:rPr>
              <a:t>NonCommercial</a:t>
            </a:r>
            <a:r>
              <a:rPr dirty="0" sz="1600" spc="-85" b="1">
                <a:latin typeface="Roboto"/>
                <a:cs typeface="Roboto"/>
              </a:rPr>
              <a:t> </a:t>
            </a:r>
            <a:r>
              <a:rPr dirty="0" sz="1600" spc="-229">
                <a:latin typeface="Roboto Lt"/>
                <a:cs typeface="Roboto Lt"/>
              </a:rPr>
              <a:t>-</a:t>
            </a:r>
            <a:r>
              <a:rPr dirty="0" sz="1600" spc="-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You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may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not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use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the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material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for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u="heavy" sz="160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commercial</a:t>
            </a:r>
            <a:r>
              <a:rPr dirty="0" u="heavy" sz="1600" spc="-45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 </a:t>
            </a:r>
            <a:r>
              <a:rPr dirty="0" u="heavy" sz="1600" spc="-1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purposes</a:t>
            </a:r>
            <a:r>
              <a:rPr dirty="0" sz="1600" spc="-10">
                <a:latin typeface="Roboto Lt"/>
                <a:cs typeface="Roboto Lt"/>
              </a:rPr>
              <a:t>.</a:t>
            </a:r>
            <a:endParaRPr sz="1600">
              <a:latin typeface="Roboto Lt"/>
              <a:cs typeface="Roboto Lt"/>
            </a:endParaRPr>
          </a:p>
          <a:p>
            <a:pPr marL="469900" marR="137160" indent="-389890">
              <a:lnSpc>
                <a:spcPct val="114999"/>
              </a:lnSpc>
              <a:buFont typeface="Roboto Lt"/>
              <a:buAutoNum type="arabicPeriod"/>
              <a:tabLst>
                <a:tab pos="469900" algn="l"/>
              </a:tabLst>
            </a:pPr>
            <a:r>
              <a:rPr dirty="0" sz="1600" b="1">
                <a:latin typeface="Roboto"/>
                <a:cs typeface="Roboto"/>
              </a:rPr>
              <a:t>ShareAlike</a:t>
            </a:r>
            <a:r>
              <a:rPr dirty="0" sz="1600" spc="-75" b="1">
                <a:latin typeface="Roboto"/>
                <a:cs typeface="Roboto"/>
              </a:rPr>
              <a:t> </a:t>
            </a:r>
            <a:r>
              <a:rPr dirty="0" sz="1600" spc="-229">
                <a:latin typeface="Roboto Lt"/>
                <a:cs typeface="Roboto Lt"/>
              </a:rPr>
              <a:t>-</a:t>
            </a:r>
            <a:r>
              <a:rPr dirty="0" sz="1600" spc="-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If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you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remix,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transform,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or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build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upon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the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material,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you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must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distribute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20">
                <a:latin typeface="Roboto Lt"/>
                <a:cs typeface="Roboto Lt"/>
              </a:rPr>
              <a:t>your </a:t>
            </a:r>
            <a:r>
              <a:rPr dirty="0" sz="1600" spc="-10">
                <a:latin typeface="Roboto Lt"/>
                <a:cs typeface="Roboto Lt"/>
              </a:rPr>
              <a:t>contributions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under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the</a:t>
            </a:r>
            <a:r>
              <a:rPr dirty="0" sz="1600" spc="-20">
                <a:latin typeface="Roboto Lt"/>
                <a:cs typeface="Roboto Lt"/>
              </a:rPr>
              <a:t> </a:t>
            </a:r>
            <a:r>
              <a:rPr dirty="0" u="heavy" sz="160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same</a:t>
            </a:r>
            <a:r>
              <a:rPr dirty="0" u="heavy" sz="1600" spc="-45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 </a:t>
            </a:r>
            <a:r>
              <a:rPr dirty="0" u="heavy" sz="160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license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as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the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original.</a:t>
            </a:r>
            <a:endParaRPr sz="16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Roboto"/>
                <a:cs typeface="Roboto"/>
              </a:rPr>
              <a:t>Copyright</a:t>
            </a:r>
            <a:r>
              <a:rPr dirty="0" sz="2400" spc="-8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Guidelines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3649" y="1145183"/>
            <a:ext cx="8287384" cy="238823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 MT"/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7F091B"/>
                </a:solidFill>
                <a:latin typeface="Roboto Lt"/>
                <a:cs typeface="Roboto Lt"/>
              </a:rPr>
              <a:t>Avoiding</a:t>
            </a:r>
            <a:r>
              <a:rPr dirty="0" sz="1800" spc="-55">
                <a:solidFill>
                  <a:srgbClr val="7F091B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7F091B"/>
                </a:solidFill>
                <a:latin typeface="Roboto Lt"/>
                <a:cs typeface="Roboto Lt"/>
              </a:rPr>
              <a:t>plagiarism:</a:t>
            </a:r>
            <a:r>
              <a:rPr dirty="0" sz="1800" spc="-40">
                <a:solidFill>
                  <a:srgbClr val="7F091B"/>
                </a:solidFill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Acknowledge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original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source</a:t>
            </a:r>
            <a:endParaRPr sz="1800">
              <a:latin typeface="Roboto Lt"/>
              <a:cs typeface="Roboto L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Font typeface="Arial MT"/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7F091B"/>
                </a:solidFill>
                <a:latin typeface="Roboto Lt"/>
                <a:cs typeface="Roboto Lt"/>
              </a:rPr>
              <a:t>Avoiding</a:t>
            </a:r>
            <a:r>
              <a:rPr dirty="0" sz="1800" spc="-60">
                <a:solidFill>
                  <a:srgbClr val="7F091B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7F091B"/>
                </a:solidFill>
                <a:latin typeface="Roboto Lt"/>
                <a:cs typeface="Roboto Lt"/>
              </a:rPr>
              <a:t>copyright</a:t>
            </a:r>
            <a:r>
              <a:rPr dirty="0" sz="1800" spc="-50">
                <a:solidFill>
                  <a:srgbClr val="7F091B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7F091B"/>
                </a:solidFill>
                <a:latin typeface="Roboto Lt"/>
                <a:cs typeface="Roboto Lt"/>
              </a:rPr>
              <a:t>violation:</a:t>
            </a:r>
            <a:r>
              <a:rPr dirty="0" sz="1800" spc="-35">
                <a:solidFill>
                  <a:srgbClr val="7F091B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Permission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to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reuse</a:t>
            </a:r>
            <a:r>
              <a:rPr dirty="0" sz="1800" spc="-25">
                <a:latin typeface="Roboto Lt"/>
                <a:cs typeface="Roboto Lt"/>
              </a:rPr>
              <a:t> </a:t>
            </a:r>
            <a:r>
              <a:rPr dirty="0" u="heavy" sz="180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or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reinterpret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original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content</a:t>
            </a:r>
            <a:endParaRPr sz="1800">
              <a:latin typeface="Roboto Lt"/>
              <a:cs typeface="Roboto Lt"/>
            </a:endParaRPr>
          </a:p>
          <a:p>
            <a:pPr marL="379095" indent="-366395">
              <a:lnSpc>
                <a:spcPct val="100000"/>
              </a:lnSpc>
              <a:spcBef>
                <a:spcPts val="1325"/>
              </a:spcBef>
              <a:buClr>
                <a:srgbClr val="000000"/>
              </a:buClr>
              <a:buFont typeface="Arial MT"/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7F091B"/>
                </a:solidFill>
                <a:latin typeface="Roboto Lt"/>
                <a:cs typeface="Roboto Lt"/>
              </a:rPr>
              <a:t>Journal</a:t>
            </a:r>
            <a:r>
              <a:rPr dirty="0" sz="1800" spc="-70">
                <a:solidFill>
                  <a:srgbClr val="7F091B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7F091B"/>
                </a:solidFill>
                <a:latin typeface="Roboto Lt"/>
                <a:cs typeface="Roboto Lt"/>
              </a:rPr>
              <a:t>Papers:</a:t>
            </a:r>
            <a:r>
              <a:rPr dirty="0" sz="1800" spc="-55">
                <a:solidFill>
                  <a:srgbClr val="7F091B"/>
                </a:solidFill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Please</a:t>
            </a:r>
            <a:r>
              <a:rPr dirty="0" sz="1800" spc="-6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link</a:t>
            </a:r>
            <a:r>
              <a:rPr dirty="0" sz="1800" spc="-6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6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DOI</a:t>
            </a:r>
            <a:r>
              <a:rPr dirty="0" sz="1800" spc="-6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or</a:t>
            </a:r>
            <a:r>
              <a:rPr dirty="0" sz="1800" spc="-6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6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original</a:t>
            </a:r>
            <a:r>
              <a:rPr dirty="0" sz="1800" spc="-6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Journal</a:t>
            </a:r>
            <a:r>
              <a:rPr dirty="0" sz="1800" spc="-65">
                <a:latin typeface="Roboto Lt"/>
                <a:cs typeface="Roboto Lt"/>
              </a:rPr>
              <a:t> </a:t>
            </a:r>
            <a:r>
              <a:rPr dirty="0" sz="1800" spc="-20">
                <a:latin typeface="Roboto Lt"/>
                <a:cs typeface="Roboto Lt"/>
              </a:rPr>
              <a:t>site</a:t>
            </a:r>
            <a:endParaRPr sz="1800">
              <a:latin typeface="Roboto Lt"/>
              <a:cs typeface="Roboto Lt"/>
            </a:endParaRPr>
          </a:p>
          <a:p>
            <a:pPr marL="379095" indent="-366395">
              <a:lnSpc>
                <a:spcPct val="100000"/>
              </a:lnSpc>
              <a:spcBef>
                <a:spcPts val="1325"/>
              </a:spcBef>
              <a:buFont typeface="Arial MT"/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7F091B"/>
                </a:solidFill>
                <a:latin typeface="Roboto Lt"/>
                <a:cs typeface="Roboto Lt"/>
              </a:rPr>
              <a:t>Video</a:t>
            </a:r>
            <a:r>
              <a:rPr dirty="0" sz="1800" spc="-25">
                <a:solidFill>
                  <a:srgbClr val="7F091B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7F091B"/>
                </a:solidFill>
                <a:latin typeface="Roboto Lt"/>
                <a:cs typeface="Roboto Lt"/>
              </a:rPr>
              <a:t>content</a:t>
            </a:r>
            <a:endParaRPr sz="1800">
              <a:latin typeface="Roboto Lt"/>
              <a:cs typeface="Roboto Lt"/>
            </a:endParaRPr>
          </a:p>
          <a:p>
            <a:pPr lvl="1" marL="836294" indent="-35115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dirty="0" sz="1600">
                <a:latin typeface="Roboto Lt"/>
                <a:cs typeface="Roboto Lt"/>
              </a:rPr>
              <a:t>Do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not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embed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other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videos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20">
                <a:latin typeface="Roboto Lt"/>
                <a:cs typeface="Roboto Lt"/>
              </a:rPr>
              <a:t>(YouTube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or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otherwise)</a:t>
            </a:r>
            <a:endParaRPr sz="1600">
              <a:latin typeface="Roboto Lt"/>
              <a:cs typeface="Roboto Lt"/>
            </a:endParaRPr>
          </a:p>
          <a:p>
            <a:pPr lvl="1" marL="836294" indent="-351155">
              <a:lnSpc>
                <a:spcPct val="100000"/>
              </a:lnSpc>
              <a:spcBef>
                <a:spcPts val="290"/>
              </a:spcBef>
              <a:buFont typeface="Arial MT"/>
              <a:buChar char="○"/>
              <a:tabLst>
                <a:tab pos="836294" algn="l"/>
              </a:tabLst>
            </a:pPr>
            <a:r>
              <a:rPr dirty="0" sz="1600">
                <a:latin typeface="Roboto Lt"/>
                <a:cs typeface="Roboto Lt"/>
              </a:rPr>
              <a:t>Provide</a:t>
            </a:r>
            <a:r>
              <a:rPr dirty="0" sz="1600" spc="-6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link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instead,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so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that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learners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can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view</a:t>
            </a:r>
            <a:r>
              <a:rPr dirty="0" sz="1600" spc="-6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them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independently</a:t>
            </a:r>
            <a:endParaRPr sz="1600">
              <a:latin typeface="Roboto Lt"/>
              <a:cs typeface="Roboto Lt"/>
            </a:endParaRPr>
          </a:p>
          <a:p>
            <a:pPr lvl="1" marL="836294" indent="-351155">
              <a:lnSpc>
                <a:spcPct val="100000"/>
              </a:lnSpc>
              <a:spcBef>
                <a:spcPts val="290"/>
              </a:spcBef>
              <a:buFont typeface="Arial MT"/>
              <a:buChar char="○"/>
              <a:tabLst>
                <a:tab pos="836294" algn="l"/>
              </a:tabLst>
            </a:pPr>
            <a:r>
              <a:rPr dirty="0" sz="1600">
                <a:latin typeface="Roboto Lt"/>
                <a:cs typeface="Roboto Lt"/>
              </a:rPr>
              <a:t>Video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can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be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used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after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appropriate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copyright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permissions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from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the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original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source</a:t>
            </a:r>
            <a:endParaRPr sz="16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38477" y="2200301"/>
            <a:ext cx="719391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15" b="0">
                <a:latin typeface="Arial Black"/>
                <a:cs typeface="Arial Black"/>
              </a:rPr>
              <a:t>Course</a:t>
            </a:r>
            <a:r>
              <a:rPr dirty="0" sz="4800" spc="-340" b="0">
                <a:latin typeface="Arial Black"/>
                <a:cs typeface="Arial Black"/>
              </a:rPr>
              <a:t> </a:t>
            </a:r>
            <a:r>
              <a:rPr dirty="0" sz="4800" spc="-204" b="0">
                <a:latin typeface="Arial Black"/>
                <a:cs typeface="Arial Black"/>
              </a:rPr>
              <a:t>and</a:t>
            </a:r>
            <a:r>
              <a:rPr dirty="0" sz="4800" spc="-340" b="0">
                <a:latin typeface="Arial Black"/>
                <a:cs typeface="Arial Black"/>
              </a:rPr>
              <a:t> </a:t>
            </a:r>
            <a:r>
              <a:rPr dirty="0" sz="4800" spc="-254" b="0">
                <a:latin typeface="Arial Black"/>
                <a:cs typeface="Arial Black"/>
              </a:rPr>
              <a:t>its</a:t>
            </a:r>
            <a:r>
              <a:rPr dirty="0" sz="4800" spc="-335" b="0">
                <a:latin typeface="Arial Black"/>
                <a:cs typeface="Arial Black"/>
              </a:rPr>
              <a:t> </a:t>
            </a:r>
            <a:r>
              <a:rPr dirty="0" sz="4800" spc="-280" b="0">
                <a:latin typeface="Arial Black"/>
                <a:cs typeface="Arial Black"/>
              </a:rPr>
              <a:t>contents</a:t>
            </a:r>
            <a:endParaRPr sz="4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224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Roboto"/>
                <a:cs typeface="Roboto"/>
              </a:rPr>
              <a:t>Types</a:t>
            </a:r>
            <a:r>
              <a:rPr dirty="0" sz="2400" spc="-2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of</a:t>
            </a:r>
            <a:r>
              <a:rPr dirty="0" sz="2400" spc="-1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Assignment</a:t>
            </a:r>
            <a:r>
              <a:rPr dirty="0" sz="2400" spc="-1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Questions:</a:t>
            </a:r>
            <a:r>
              <a:rPr dirty="0" sz="2400" spc="-20">
                <a:latin typeface="Roboto"/>
                <a:cs typeface="Roboto"/>
              </a:rPr>
              <a:t> Auto-</a:t>
            </a:r>
            <a:r>
              <a:rPr dirty="0" sz="2400" spc="-10">
                <a:latin typeface="Roboto"/>
                <a:cs typeface="Roboto"/>
              </a:rPr>
              <a:t>Graded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1741" y="1210490"/>
            <a:ext cx="6966584" cy="266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2595" indent="-42989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42595" algn="l"/>
              </a:tabLst>
            </a:pPr>
            <a:r>
              <a:rPr dirty="0" sz="2000">
                <a:latin typeface="Roboto Lt"/>
                <a:cs typeface="Roboto Lt"/>
              </a:rPr>
              <a:t>Multiple</a:t>
            </a:r>
            <a:r>
              <a:rPr dirty="0" sz="2000" spc="-3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choice</a:t>
            </a:r>
            <a:r>
              <a:rPr dirty="0" sz="2000" spc="-3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/</a:t>
            </a:r>
            <a:r>
              <a:rPr dirty="0" sz="2000" spc="-3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Multiple</a:t>
            </a:r>
            <a:r>
              <a:rPr dirty="0" sz="2000" spc="-3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select</a:t>
            </a:r>
            <a:r>
              <a:rPr dirty="0" sz="2000" spc="-2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questions</a:t>
            </a:r>
            <a:r>
              <a:rPr dirty="0" sz="2000" spc="-3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(MCQ</a:t>
            </a:r>
            <a:r>
              <a:rPr dirty="0" sz="2000" spc="-3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/</a:t>
            </a:r>
            <a:r>
              <a:rPr dirty="0" sz="2000" spc="-30">
                <a:latin typeface="Roboto Lt"/>
                <a:cs typeface="Roboto Lt"/>
              </a:rPr>
              <a:t> </a:t>
            </a:r>
            <a:r>
              <a:rPr dirty="0" sz="2000" spc="-20">
                <a:latin typeface="Roboto Lt"/>
                <a:cs typeface="Roboto Lt"/>
              </a:rPr>
              <a:t>MSQ)</a:t>
            </a:r>
            <a:endParaRPr sz="2000">
              <a:latin typeface="Roboto Lt"/>
              <a:cs typeface="Roboto Lt"/>
            </a:endParaRPr>
          </a:p>
          <a:p>
            <a:pPr marL="442595" indent="-429895">
              <a:lnSpc>
                <a:spcPct val="100000"/>
              </a:lnSpc>
              <a:spcBef>
                <a:spcPts val="2200"/>
              </a:spcBef>
              <a:buAutoNum type="arabicPeriod"/>
              <a:tabLst>
                <a:tab pos="442595" algn="l"/>
              </a:tabLst>
            </a:pPr>
            <a:r>
              <a:rPr dirty="0" sz="2000" spc="-10">
                <a:latin typeface="Roboto Lt"/>
                <a:cs typeface="Roboto Lt"/>
              </a:rPr>
              <a:t>Numerical</a:t>
            </a:r>
            <a:r>
              <a:rPr dirty="0" sz="2000" spc="-3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(Fill</a:t>
            </a:r>
            <a:r>
              <a:rPr dirty="0" sz="2000" spc="-3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in</a:t>
            </a:r>
            <a:r>
              <a:rPr dirty="0" sz="2000" spc="-3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the</a:t>
            </a:r>
            <a:r>
              <a:rPr dirty="0" sz="2000" spc="-3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blanks</a:t>
            </a:r>
            <a:r>
              <a:rPr dirty="0" sz="2000" spc="-3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/</a:t>
            </a:r>
            <a:r>
              <a:rPr dirty="0" sz="2000" spc="-35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Objective</a:t>
            </a:r>
            <a:r>
              <a:rPr dirty="0" sz="2000" spc="-3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/</a:t>
            </a:r>
            <a:r>
              <a:rPr dirty="0" sz="2000" spc="-3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Short</a:t>
            </a:r>
            <a:r>
              <a:rPr dirty="0" sz="2000" spc="-35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Answer)</a:t>
            </a:r>
            <a:endParaRPr sz="2000">
              <a:latin typeface="Roboto Lt"/>
              <a:cs typeface="Roboto Lt"/>
            </a:endParaRPr>
          </a:p>
          <a:p>
            <a:pPr marL="442595" indent="-429895">
              <a:lnSpc>
                <a:spcPct val="100000"/>
              </a:lnSpc>
              <a:spcBef>
                <a:spcPts val="2200"/>
              </a:spcBef>
              <a:buAutoNum type="arabicPeriod"/>
              <a:tabLst>
                <a:tab pos="442595" algn="l"/>
              </a:tabLst>
            </a:pPr>
            <a:r>
              <a:rPr dirty="0" sz="2000" spc="-10">
                <a:latin typeface="Roboto Lt"/>
                <a:cs typeface="Roboto Lt"/>
              </a:rPr>
              <a:t>Alphanumeric</a:t>
            </a:r>
            <a:r>
              <a:rPr dirty="0" sz="2000" spc="-3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(Fill</a:t>
            </a:r>
            <a:r>
              <a:rPr dirty="0" sz="2000" spc="-3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in</a:t>
            </a:r>
            <a:r>
              <a:rPr dirty="0" sz="2000" spc="-3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the</a:t>
            </a:r>
            <a:r>
              <a:rPr dirty="0" sz="2000" spc="-3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blanks</a:t>
            </a:r>
            <a:r>
              <a:rPr dirty="0" sz="2000" spc="-3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/</a:t>
            </a:r>
            <a:r>
              <a:rPr dirty="0" sz="2000" spc="-35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Objective</a:t>
            </a:r>
            <a:r>
              <a:rPr dirty="0" sz="2000" spc="-3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/</a:t>
            </a:r>
            <a:r>
              <a:rPr dirty="0" sz="2000" spc="-3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Short</a:t>
            </a:r>
            <a:r>
              <a:rPr dirty="0" sz="2000" spc="-35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Answer)</a:t>
            </a:r>
            <a:endParaRPr sz="2000">
              <a:latin typeface="Roboto Lt"/>
              <a:cs typeface="Roboto Lt"/>
            </a:endParaRPr>
          </a:p>
          <a:p>
            <a:pPr marL="442595" indent="-429895">
              <a:lnSpc>
                <a:spcPct val="100000"/>
              </a:lnSpc>
              <a:spcBef>
                <a:spcPts val="2200"/>
              </a:spcBef>
              <a:buAutoNum type="arabicPeriod"/>
              <a:tabLst>
                <a:tab pos="442595" algn="l"/>
              </a:tabLst>
            </a:pPr>
            <a:r>
              <a:rPr dirty="0" sz="2000">
                <a:latin typeface="Roboto Lt"/>
                <a:cs typeface="Roboto Lt"/>
              </a:rPr>
              <a:t>Numeric</a:t>
            </a:r>
            <a:r>
              <a:rPr dirty="0" sz="2000" spc="-110">
                <a:latin typeface="Roboto Lt"/>
                <a:cs typeface="Roboto Lt"/>
              </a:rPr>
              <a:t> </a:t>
            </a:r>
            <a:r>
              <a:rPr dirty="0" sz="2000" spc="-20">
                <a:latin typeface="Roboto Lt"/>
                <a:cs typeface="Roboto Lt"/>
              </a:rPr>
              <a:t>Array</a:t>
            </a:r>
            <a:endParaRPr sz="2000">
              <a:latin typeface="Roboto Lt"/>
              <a:cs typeface="Roboto Lt"/>
            </a:endParaRPr>
          </a:p>
          <a:p>
            <a:pPr marL="442595" indent="-429895">
              <a:lnSpc>
                <a:spcPct val="100000"/>
              </a:lnSpc>
              <a:spcBef>
                <a:spcPts val="2200"/>
              </a:spcBef>
              <a:buAutoNum type="arabicPeriod"/>
              <a:tabLst>
                <a:tab pos="442595" algn="l"/>
              </a:tabLst>
            </a:pPr>
            <a:r>
              <a:rPr dirty="0" sz="2000" spc="-20">
                <a:latin typeface="Roboto Lt"/>
                <a:cs typeface="Roboto Lt"/>
              </a:rPr>
              <a:t>Programming</a:t>
            </a:r>
            <a:r>
              <a:rPr dirty="0" sz="2000" spc="-30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assignments</a:t>
            </a:r>
            <a:endParaRPr sz="20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360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Roboto"/>
                <a:cs typeface="Roboto"/>
              </a:rPr>
              <a:t>Types</a:t>
            </a:r>
            <a:r>
              <a:rPr dirty="0" sz="2400" spc="-2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of</a:t>
            </a:r>
            <a:r>
              <a:rPr dirty="0" sz="2400" spc="-1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Assignment</a:t>
            </a:r>
            <a:r>
              <a:rPr dirty="0" sz="2400" spc="-1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Questions:</a:t>
            </a:r>
            <a:r>
              <a:rPr dirty="0" sz="2400" spc="-20">
                <a:latin typeface="Roboto"/>
                <a:cs typeface="Roboto"/>
              </a:rPr>
              <a:t> Auto-</a:t>
            </a:r>
            <a:r>
              <a:rPr dirty="0" sz="2400" spc="-10">
                <a:latin typeface="Roboto"/>
                <a:cs typeface="Roboto"/>
              </a:rPr>
              <a:t>Graded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9885" y="494146"/>
            <a:ext cx="8304530" cy="3991610"/>
          </a:xfrm>
          <a:prstGeom prst="rect">
            <a:avLst/>
          </a:prstGeom>
        </p:spPr>
        <p:txBody>
          <a:bodyPr wrap="square" lIns="0" tIns="145415" rIns="0" bIns="0" rtlCol="0" vert="horz">
            <a:spAutoFit/>
          </a:bodyPr>
          <a:lstStyle/>
          <a:p>
            <a:pPr marL="434340" indent="-421640">
              <a:lnSpc>
                <a:spcPct val="100000"/>
              </a:lnSpc>
              <a:spcBef>
                <a:spcPts val="1145"/>
              </a:spcBef>
              <a:buAutoNum type="arabicPeriod"/>
              <a:tabLst>
                <a:tab pos="434340" algn="l"/>
              </a:tabLst>
            </a:pPr>
            <a:r>
              <a:rPr dirty="0" sz="1800">
                <a:latin typeface="Roboto Lt"/>
                <a:cs typeface="Roboto Lt"/>
              </a:rPr>
              <a:t>Multiple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choice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/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Multiple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select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questions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(MCQ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/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 spc="-20">
                <a:latin typeface="Roboto Lt"/>
                <a:cs typeface="Roboto Lt"/>
              </a:rPr>
              <a:t>MSQ)</a:t>
            </a:r>
            <a:endParaRPr sz="1800">
              <a:latin typeface="Roboto Lt"/>
              <a:cs typeface="Roboto Lt"/>
            </a:endParaRPr>
          </a:p>
          <a:p>
            <a:pPr lvl="1" marL="891540" indent="-386080">
              <a:lnSpc>
                <a:spcPct val="100000"/>
              </a:lnSpc>
              <a:spcBef>
                <a:spcPts val="935"/>
              </a:spcBef>
              <a:buAutoNum type="alphaLcPeriod"/>
              <a:tabLst>
                <a:tab pos="891540" algn="l"/>
              </a:tabLst>
            </a:pPr>
            <a:r>
              <a:rPr dirty="0" sz="1600">
                <a:latin typeface="Roboto Lt"/>
                <a:cs typeface="Roboto Lt"/>
              </a:rPr>
              <a:t>Single</a:t>
            </a:r>
            <a:r>
              <a:rPr dirty="0" sz="1600" spc="-6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correct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(MCQ)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or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multiple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correct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(MSQ)</a:t>
            </a:r>
            <a:r>
              <a:rPr dirty="0" sz="1600" spc="28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answers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possible</a:t>
            </a:r>
            <a:endParaRPr sz="1600">
              <a:latin typeface="Roboto Lt"/>
              <a:cs typeface="Roboto Lt"/>
            </a:endParaRPr>
          </a:p>
          <a:p>
            <a:pPr lvl="1" marL="891540" indent="-389890">
              <a:lnSpc>
                <a:spcPct val="100000"/>
              </a:lnSpc>
              <a:spcBef>
                <a:spcPts val="885"/>
              </a:spcBef>
              <a:buAutoNum type="alphaLcPeriod"/>
              <a:tabLst>
                <a:tab pos="891540" algn="l"/>
              </a:tabLst>
            </a:pPr>
            <a:r>
              <a:rPr dirty="0" sz="1600">
                <a:latin typeface="Roboto Lt"/>
                <a:cs typeface="Roboto Lt"/>
              </a:rPr>
              <a:t>Avoid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using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20">
                <a:latin typeface="Roboto Lt"/>
                <a:cs typeface="Roboto Lt"/>
              </a:rPr>
              <a:t>“none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of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the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 spc="-20">
                <a:latin typeface="Roboto Lt"/>
                <a:cs typeface="Roboto Lt"/>
              </a:rPr>
              <a:t>above”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/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20">
                <a:latin typeface="Roboto Lt"/>
                <a:cs typeface="Roboto Lt"/>
              </a:rPr>
              <a:t>“all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of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the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above”</a:t>
            </a:r>
            <a:endParaRPr sz="1600">
              <a:latin typeface="Roboto Lt"/>
              <a:cs typeface="Roboto Lt"/>
            </a:endParaRPr>
          </a:p>
          <a:p>
            <a:pPr lvl="1" marL="891540" indent="-381635">
              <a:lnSpc>
                <a:spcPct val="100000"/>
              </a:lnSpc>
              <a:spcBef>
                <a:spcPts val="890"/>
              </a:spcBef>
              <a:buAutoNum type="alphaLcPeriod"/>
              <a:tabLst>
                <a:tab pos="891540" algn="l"/>
              </a:tabLst>
            </a:pPr>
            <a:r>
              <a:rPr dirty="0" sz="1600">
                <a:latin typeface="Roboto Lt"/>
                <a:cs typeface="Roboto Lt"/>
              </a:rPr>
              <a:t>We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recommend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ﬁve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or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more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choices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(random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guess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≤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20%)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in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MCQ,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when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possible</a:t>
            </a:r>
            <a:endParaRPr sz="1600">
              <a:latin typeface="Roboto Lt"/>
              <a:cs typeface="Roboto Lt"/>
            </a:endParaRPr>
          </a:p>
          <a:p>
            <a:pPr lvl="1">
              <a:lnSpc>
                <a:spcPct val="100000"/>
              </a:lnSpc>
              <a:spcBef>
                <a:spcPts val="565"/>
              </a:spcBef>
              <a:buFont typeface="Roboto Lt"/>
              <a:buAutoNum type="alphaLcPeriod"/>
            </a:pPr>
            <a:endParaRPr sz="1600">
              <a:latin typeface="Roboto Lt"/>
              <a:cs typeface="Roboto Lt"/>
            </a:endParaRPr>
          </a:p>
          <a:p>
            <a:pPr marL="434340" indent="-410209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34340" algn="l"/>
              </a:tabLst>
            </a:pP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Numerical</a:t>
            </a:r>
            <a:r>
              <a:rPr dirty="0" sz="18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(Fill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in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the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blanks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/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Objective</a:t>
            </a:r>
            <a:r>
              <a:rPr dirty="0" sz="18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/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Short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Answer)</a:t>
            </a:r>
            <a:endParaRPr sz="1800">
              <a:latin typeface="Roboto Lt"/>
              <a:cs typeface="Roboto Lt"/>
            </a:endParaRPr>
          </a:p>
          <a:p>
            <a:pPr>
              <a:lnSpc>
                <a:spcPct val="100000"/>
              </a:lnSpc>
              <a:spcBef>
                <a:spcPts val="645"/>
              </a:spcBef>
              <a:buAutoNum type="arabicPeriod"/>
            </a:pPr>
            <a:endParaRPr sz="1800">
              <a:latin typeface="Roboto Lt"/>
              <a:cs typeface="Roboto Lt"/>
            </a:endParaRPr>
          </a:p>
          <a:p>
            <a:pPr marL="434340" indent="-410209">
              <a:lnSpc>
                <a:spcPct val="100000"/>
              </a:lnSpc>
              <a:buAutoNum type="arabicPeriod"/>
              <a:tabLst>
                <a:tab pos="434340" algn="l"/>
              </a:tabLst>
            </a:pP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Alphanumeric</a:t>
            </a:r>
            <a:r>
              <a:rPr dirty="0" sz="1800" spc="-4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(Fill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in</a:t>
            </a:r>
            <a:r>
              <a:rPr dirty="0" sz="18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the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blanks</a:t>
            </a:r>
            <a:r>
              <a:rPr dirty="0" sz="18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/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Objective</a:t>
            </a:r>
            <a:r>
              <a:rPr dirty="0" sz="18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/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Short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Answer)</a:t>
            </a:r>
            <a:endParaRPr sz="1800">
              <a:latin typeface="Roboto Lt"/>
              <a:cs typeface="Roboto Lt"/>
            </a:endParaRPr>
          </a:p>
          <a:p>
            <a:pPr>
              <a:lnSpc>
                <a:spcPct val="100000"/>
              </a:lnSpc>
              <a:spcBef>
                <a:spcPts val="645"/>
              </a:spcBef>
              <a:buAutoNum type="arabicPeriod"/>
            </a:pPr>
            <a:endParaRPr sz="1800">
              <a:latin typeface="Roboto Lt"/>
              <a:cs typeface="Roboto Lt"/>
            </a:endParaRPr>
          </a:p>
          <a:p>
            <a:pPr marL="434340" indent="-410209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34340" algn="l"/>
              </a:tabLst>
            </a:pP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Numeric</a:t>
            </a:r>
            <a:r>
              <a:rPr dirty="0" sz="1800" spc="-10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Roboto Lt"/>
                <a:cs typeface="Roboto Lt"/>
              </a:rPr>
              <a:t>Array</a:t>
            </a:r>
            <a:endParaRPr sz="1800">
              <a:latin typeface="Roboto Lt"/>
              <a:cs typeface="Roboto Lt"/>
            </a:endParaRPr>
          </a:p>
          <a:p>
            <a:pPr>
              <a:lnSpc>
                <a:spcPct val="100000"/>
              </a:lnSpc>
              <a:spcBef>
                <a:spcPts val="645"/>
              </a:spcBef>
              <a:buAutoNum type="arabicPeriod"/>
            </a:pPr>
            <a:endParaRPr sz="1800">
              <a:latin typeface="Roboto Lt"/>
              <a:cs typeface="Roboto Lt"/>
            </a:endParaRPr>
          </a:p>
          <a:p>
            <a:pPr marL="434340" indent="-410209">
              <a:lnSpc>
                <a:spcPct val="100000"/>
              </a:lnSpc>
              <a:buAutoNum type="arabicPeriod"/>
              <a:tabLst>
                <a:tab pos="434340" algn="l"/>
              </a:tabLst>
            </a:pP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Programming</a:t>
            </a:r>
            <a:r>
              <a:rPr dirty="0" sz="1800" spc="-8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assignments</a:t>
            </a:r>
            <a:endParaRPr sz="18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249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Roboto"/>
                <a:cs typeface="Roboto"/>
              </a:rPr>
              <a:t>Types</a:t>
            </a:r>
            <a:r>
              <a:rPr dirty="0" sz="2400" spc="-2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of</a:t>
            </a:r>
            <a:r>
              <a:rPr dirty="0" sz="2400" spc="-1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Assignment</a:t>
            </a:r>
            <a:r>
              <a:rPr dirty="0" sz="2400" spc="-1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Questions:</a:t>
            </a:r>
            <a:r>
              <a:rPr dirty="0" sz="2400" spc="-20">
                <a:latin typeface="Roboto"/>
                <a:cs typeface="Roboto"/>
              </a:rPr>
              <a:t> Auto-</a:t>
            </a:r>
            <a:r>
              <a:rPr dirty="0" sz="2400" spc="-10">
                <a:latin typeface="Roboto"/>
                <a:cs typeface="Roboto"/>
              </a:rPr>
              <a:t>Graded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9885" y="627305"/>
            <a:ext cx="7690484" cy="3901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4340" indent="-410209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34340" algn="l"/>
              </a:tabLst>
            </a:pP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Multiple</a:t>
            </a:r>
            <a:r>
              <a:rPr dirty="0" sz="1800" spc="-4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choice</a:t>
            </a:r>
            <a:r>
              <a:rPr dirty="0" sz="18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/</a:t>
            </a:r>
            <a:r>
              <a:rPr dirty="0" sz="18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Multiple</a:t>
            </a:r>
            <a:r>
              <a:rPr dirty="0" sz="18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select</a:t>
            </a:r>
            <a:r>
              <a:rPr dirty="0" sz="1800" spc="-4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questions</a:t>
            </a:r>
            <a:r>
              <a:rPr dirty="0" sz="18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(MCQ</a:t>
            </a:r>
            <a:r>
              <a:rPr dirty="0" sz="18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/</a:t>
            </a:r>
            <a:r>
              <a:rPr dirty="0" sz="18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Roboto Lt"/>
                <a:cs typeface="Roboto Lt"/>
              </a:rPr>
              <a:t>MSQ)</a:t>
            </a:r>
            <a:endParaRPr sz="1800">
              <a:latin typeface="Roboto Lt"/>
              <a:cs typeface="Roboto Lt"/>
            </a:endParaRPr>
          </a:p>
          <a:p>
            <a:pPr marL="434340" indent="-421640">
              <a:lnSpc>
                <a:spcPct val="100000"/>
              </a:lnSpc>
              <a:spcBef>
                <a:spcPts val="2120"/>
              </a:spcBef>
              <a:buAutoNum type="arabicPeriod"/>
              <a:tabLst>
                <a:tab pos="434340" algn="l"/>
              </a:tabLst>
            </a:pPr>
            <a:r>
              <a:rPr dirty="0" sz="1800">
                <a:solidFill>
                  <a:srgbClr val="1A1A1A"/>
                </a:solidFill>
                <a:latin typeface="Roboto Lt"/>
                <a:cs typeface="Roboto Lt"/>
              </a:rPr>
              <a:t>Numerical</a:t>
            </a:r>
            <a:r>
              <a:rPr dirty="0" sz="1800" spc="-60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1A1A1A"/>
                </a:solidFill>
                <a:latin typeface="Roboto Lt"/>
                <a:cs typeface="Roboto Lt"/>
              </a:rPr>
              <a:t>(Fill</a:t>
            </a:r>
            <a:r>
              <a:rPr dirty="0" sz="1800" spc="-5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1A1A1A"/>
                </a:solidFill>
                <a:latin typeface="Roboto Lt"/>
                <a:cs typeface="Roboto Lt"/>
              </a:rPr>
              <a:t>in</a:t>
            </a:r>
            <a:r>
              <a:rPr dirty="0" sz="1800" spc="-5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1A1A1A"/>
                </a:solidFill>
                <a:latin typeface="Roboto Lt"/>
                <a:cs typeface="Roboto Lt"/>
              </a:rPr>
              <a:t>the</a:t>
            </a:r>
            <a:r>
              <a:rPr dirty="0" sz="1800" spc="-5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Roboto Lt"/>
                <a:cs typeface="Roboto Lt"/>
              </a:rPr>
              <a:t>blanks</a:t>
            </a:r>
            <a:r>
              <a:rPr dirty="0" sz="1800" spc="-5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1A1A1A"/>
                </a:solidFill>
                <a:latin typeface="Roboto Lt"/>
                <a:cs typeface="Roboto Lt"/>
              </a:rPr>
              <a:t>/</a:t>
            </a:r>
            <a:r>
              <a:rPr dirty="0" sz="1800" spc="-5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1A1A1A"/>
                </a:solidFill>
                <a:latin typeface="Roboto Lt"/>
                <a:cs typeface="Roboto Lt"/>
              </a:rPr>
              <a:t>Objective</a:t>
            </a:r>
            <a:r>
              <a:rPr dirty="0" sz="1800" spc="-60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1A1A1A"/>
                </a:solidFill>
                <a:latin typeface="Roboto Lt"/>
                <a:cs typeface="Roboto Lt"/>
              </a:rPr>
              <a:t>/</a:t>
            </a:r>
            <a:r>
              <a:rPr dirty="0" sz="1800" spc="-5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1A1A1A"/>
                </a:solidFill>
                <a:latin typeface="Roboto Lt"/>
                <a:cs typeface="Roboto Lt"/>
              </a:rPr>
              <a:t>Short</a:t>
            </a:r>
            <a:r>
              <a:rPr dirty="0" sz="1800" spc="-5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Roboto Lt"/>
                <a:cs typeface="Roboto Lt"/>
              </a:rPr>
              <a:t>Answer)</a:t>
            </a:r>
            <a:endParaRPr sz="1800">
              <a:latin typeface="Roboto Lt"/>
              <a:cs typeface="Roboto Lt"/>
            </a:endParaRPr>
          </a:p>
          <a:p>
            <a:pPr lvl="1" marL="891540" indent="-386080">
              <a:lnSpc>
                <a:spcPct val="100000"/>
              </a:lnSpc>
              <a:spcBef>
                <a:spcPts val="720"/>
              </a:spcBef>
              <a:buAutoNum type="alphaLcPeriod"/>
              <a:tabLst>
                <a:tab pos="891540" algn="l"/>
              </a:tabLst>
            </a:pPr>
            <a:r>
              <a:rPr dirty="0" sz="1600">
                <a:solidFill>
                  <a:srgbClr val="1A1A1A"/>
                </a:solidFill>
                <a:latin typeface="Roboto Lt"/>
                <a:cs typeface="Roboto Lt"/>
              </a:rPr>
              <a:t>Answer:</a:t>
            </a:r>
            <a:r>
              <a:rPr dirty="0" sz="1600" spc="-40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 spc="-35">
                <a:solidFill>
                  <a:srgbClr val="1A1A1A"/>
                </a:solidFill>
                <a:latin typeface="Roboto Lt"/>
                <a:cs typeface="Roboto Lt"/>
              </a:rPr>
              <a:t>Exact-</a:t>
            </a:r>
            <a:r>
              <a:rPr dirty="0" sz="1600" spc="-10">
                <a:solidFill>
                  <a:srgbClr val="1A1A1A"/>
                </a:solidFill>
                <a:latin typeface="Roboto Lt"/>
                <a:cs typeface="Roboto Lt"/>
              </a:rPr>
              <a:t>type</a:t>
            </a:r>
            <a:r>
              <a:rPr dirty="0" sz="1600" spc="-3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1A1A1A"/>
                </a:solidFill>
                <a:latin typeface="Roboto Lt"/>
                <a:cs typeface="Roboto Lt"/>
              </a:rPr>
              <a:t>or</a:t>
            </a:r>
            <a:r>
              <a:rPr dirty="0" sz="1600" spc="-3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 spc="-45">
                <a:solidFill>
                  <a:srgbClr val="1A1A1A"/>
                </a:solidFill>
                <a:latin typeface="Roboto Lt"/>
                <a:cs typeface="Roboto Lt"/>
              </a:rPr>
              <a:t>Range-</a:t>
            </a:r>
            <a:r>
              <a:rPr dirty="0" sz="1600" spc="-20">
                <a:solidFill>
                  <a:srgbClr val="1A1A1A"/>
                </a:solidFill>
                <a:latin typeface="Roboto Lt"/>
                <a:cs typeface="Roboto Lt"/>
              </a:rPr>
              <a:t>type</a:t>
            </a:r>
            <a:endParaRPr sz="1600">
              <a:latin typeface="Roboto Lt"/>
              <a:cs typeface="Roboto Lt"/>
            </a:endParaRPr>
          </a:p>
          <a:p>
            <a:pPr lvl="1" marL="891540" indent="-389890">
              <a:lnSpc>
                <a:spcPct val="100000"/>
              </a:lnSpc>
              <a:spcBef>
                <a:spcPts val="695"/>
              </a:spcBef>
              <a:buAutoNum type="alphaLcPeriod"/>
              <a:tabLst>
                <a:tab pos="891540" algn="l"/>
              </a:tabLst>
            </a:pPr>
            <a:r>
              <a:rPr dirty="0" sz="1600">
                <a:solidFill>
                  <a:srgbClr val="1A1A1A"/>
                </a:solidFill>
                <a:latin typeface="Roboto Lt"/>
                <a:cs typeface="Roboto Lt"/>
              </a:rPr>
              <a:t>Range</a:t>
            </a:r>
            <a:r>
              <a:rPr dirty="0" sz="1600" spc="-40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1A1A1A"/>
                </a:solidFill>
                <a:latin typeface="Roboto Lt"/>
                <a:cs typeface="Roboto Lt"/>
              </a:rPr>
              <a:t>is</a:t>
            </a:r>
            <a:r>
              <a:rPr dirty="0" sz="1600" spc="-3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 spc="-10">
                <a:solidFill>
                  <a:srgbClr val="1A1A1A"/>
                </a:solidFill>
                <a:latin typeface="Roboto Lt"/>
                <a:cs typeface="Roboto Lt"/>
              </a:rPr>
              <a:t>preferred</a:t>
            </a:r>
            <a:r>
              <a:rPr dirty="0" sz="1600" spc="-40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1A1A1A"/>
                </a:solidFill>
                <a:latin typeface="Roboto Lt"/>
                <a:cs typeface="Roboto Lt"/>
              </a:rPr>
              <a:t>to</a:t>
            </a:r>
            <a:r>
              <a:rPr dirty="0" sz="1600" spc="-3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1A1A1A"/>
                </a:solidFill>
                <a:latin typeface="Roboto Lt"/>
                <a:cs typeface="Roboto Lt"/>
              </a:rPr>
              <a:t>allow</a:t>
            </a:r>
            <a:r>
              <a:rPr dirty="0" sz="1600" spc="-40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1A1A1A"/>
                </a:solidFill>
                <a:latin typeface="Roboto Lt"/>
                <a:cs typeface="Roboto Lt"/>
              </a:rPr>
              <a:t>for</a:t>
            </a:r>
            <a:r>
              <a:rPr dirty="0" sz="1600" spc="-3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 spc="-10">
                <a:solidFill>
                  <a:srgbClr val="1A1A1A"/>
                </a:solidFill>
                <a:latin typeface="Roboto Lt"/>
                <a:cs typeface="Roboto Lt"/>
              </a:rPr>
              <a:t>approximations</a:t>
            </a:r>
            <a:endParaRPr sz="1600">
              <a:latin typeface="Roboto Lt"/>
              <a:cs typeface="Roboto Lt"/>
            </a:endParaRPr>
          </a:p>
          <a:p>
            <a:pPr lvl="1" marL="891540" indent="-381635">
              <a:lnSpc>
                <a:spcPct val="100000"/>
              </a:lnSpc>
              <a:spcBef>
                <a:spcPts val="695"/>
              </a:spcBef>
              <a:buAutoNum type="alphaLcPeriod"/>
              <a:tabLst>
                <a:tab pos="891540" algn="l"/>
              </a:tabLst>
            </a:pPr>
            <a:r>
              <a:rPr dirty="0" sz="1600">
                <a:solidFill>
                  <a:srgbClr val="1A1A1A"/>
                </a:solidFill>
                <a:latin typeface="Roboto Lt"/>
                <a:cs typeface="Roboto Lt"/>
              </a:rPr>
              <a:t>Choose</a:t>
            </a:r>
            <a:r>
              <a:rPr dirty="0" sz="1600" spc="-4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1A1A1A"/>
                </a:solidFill>
                <a:latin typeface="Roboto Lt"/>
                <a:cs typeface="Roboto Lt"/>
              </a:rPr>
              <a:t>the</a:t>
            </a:r>
            <a:r>
              <a:rPr dirty="0" sz="1600" spc="-4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 spc="-10">
                <a:solidFill>
                  <a:srgbClr val="1A1A1A"/>
                </a:solidFill>
                <a:latin typeface="Roboto Lt"/>
                <a:cs typeface="Roboto Lt"/>
              </a:rPr>
              <a:t>range</a:t>
            </a:r>
            <a:r>
              <a:rPr dirty="0" sz="1600" spc="-4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1A1A1A"/>
                </a:solidFill>
                <a:latin typeface="Roboto Lt"/>
                <a:cs typeface="Roboto Lt"/>
              </a:rPr>
              <a:t>based</a:t>
            </a:r>
            <a:r>
              <a:rPr dirty="0" sz="1600" spc="-4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 spc="-10">
                <a:solidFill>
                  <a:srgbClr val="1A1A1A"/>
                </a:solidFill>
                <a:latin typeface="Roboto Lt"/>
                <a:cs typeface="Roboto Lt"/>
              </a:rPr>
              <a:t>acceptable</a:t>
            </a:r>
            <a:r>
              <a:rPr dirty="0" sz="1600" spc="-40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 spc="-10">
                <a:solidFill>
                  <a:srgbClr val="1A1A1A"/>
                </a:solidFill>
                <a:latin typeface="Roboto Lt"/>
                <a:cs typeface="Roboto Lt"/>
              </a:rPr>
              <a:t>errors</a:t>
            </a:r>
            <a:r>
              <a:rPr dirty="0" sz="1600" spc="-4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1A1A1A"/>
                </a:solidFill>
                <a:latin typeface="Roboto Lt"/>
                <a:cs typeface="Roboto Lt"/>
              </a:rPr>
              <a:t>(e.g.,</a:t>
            </a:r>
            <a:r>
              <a:rPr dirty="0" sz="1600" spc="-4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1A1A1A"/>
                </a:solidFill>
                <a:latin typeface="Roboto Lt"/>
                <a:cs typeface="Roboto Lt"/>
              </a:rPr>
              <a:t>Range:</a:t>
            </a:r>
            <a:r>
              <a:rPr dirty="0" sz="1600" spc="-4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1A1A1A"/>
                </a:solidFill>
                <a:latin typeface="Roboto Lt"/>
                <a:cs typeface="Roboto Lt"/>
              </a:rPr>
              <a:t>1.71</a:t>
            </a:r>
            <a:r>
              <a:rPr dirty="0" sz="1600" spc="-40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1A1A1A"/>
                </a:solidFill>
                <a:latin typeface="Roboto Lt"/>
                <a:cs typeface="Roboto Lt"/>
              </a:rPr>
              <a:t>to</a:t>
            </a:r>
            <a:r>
              <a:rPr dirty="0" sz="1600" spc="-4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1A1A1A"/>
                </a:solidFill>
                <a:latin typeface="Roboto Lt"/>
                <a:cs typeface="Roboto Lt"/>
              </a:rPr>
              <a:t>1.73,</a:t>
            </a:r>
            <a:r>
              <a:rPr dirty="0" sz="1600" spc="-4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1A1A1A"/>
                </a:solidFill>
                <a:latin typeface="Roboto Lt"/>
                <a:cs typeface="Roboto Lt"/>
              </a:rPr>
              <a:t>if</a:t>
            </a:r>
            <a:r>
              <a:rPr dirty="0" sz="1600" spc="-4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 spc="-10">
                <a:solidFill>
                  <a:srgbClr val="1A1A1A"/>
                </a:solidFill>
                <a:latin typeface="Roboto Lt"/>
                <a:cs typeface="Roboto Lt"/>
              </a:rPr>
              <a:t>±0.01)</a:t>
            </a:r>
            <a:endParaRPr sz="1600">
              <a:latin typeface="Roboto Lt"/>
              <a:cs typeface="Roboto Lt"/>
            </a:endParaRPr>
          </a:p>
          <a:p>
            <a:pPr lvl="1" marL="891540" indent="-389890">
              <a:lnSpc>
                <a:spcPct val="100000"/>
              </a:lnSpc>
              <a:spcBef>
                <a:spcPts val="695"/>
              </a:spcBef>
              <a:buAutoNum type="alphaLcPeriod"/>
              <a:tabLst>
                <a:tab pos="891540" algn="l"/>
              </a:tabLst>
            </a:pPr>
            <a:r>
              <a:rPr dirty="0" sz="1600">
                <a:solidFill>
                  <a:srgbClr val="1A1A1A"/>
                </a:solidFill>
                <a:latin typeface="Roboto Lt"/>
                <a:cs typeface="Roboto Lt"/>
              </a:rPr>
              <a:t>Ensure</a:t>
            </a:r>
            <a:r>
              <a:rPr dirty="0" sz="1600" spc="-4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 spc="-20">
                <a:solidFill>
                  <a:srgbClr val="1A1A1A"/>
                </a:solidFill>
                <a:latin typeface="Roboto Lt"/>
                <a:cs typeface="Roboto Lt"/>
              </a:rPr>
              <a:t>suﬃcient</a:t>
            </a:r>
            <a:r>
              <a:rPr dirty="0" sz="1600" spc="-4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 spc="-10">
                <a:solidFill>
                  <a:srgbClr val="1A1A1A"/>
                </a:solidFill>
                <a:latin typeface="Roboto Lt"/>
                <a:cs typeface="Roboto Lt"/>
              </a:rPr>
              <a:t>range</a:t>
            </a:r>
            <a:r>
              <a:rPr dirty="0" sz="1600" spc="-4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1A1A1A"/>
                </a:solidFill>
                <a:latin typeface="Roboto Lt"/>
                <a:cs typeface="Roboto Lt"/>
              </a:rPr>
              <a:t>to</a:t>
            </a:r>
            <a:r>
              <a:rPr dirty="0" sz="1600" spc="-4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1A1A1A"/>
                </a:solidFill>
                <a:latin typeface="Roboto Lt"/>
                <a:cs typeface="Roboto Lt"/>
              </a:rPr>
              <a:t>accommodate</a:t>
            </a:r>
            <a:r>
              <a:rPr dirty="0" sz="1600" spc="-45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 spc="-10">
                <a:solidFill>
                  <a:srgbClr val="1A1A1A"/>
                </a:solidFill>
                <a:latin typeface="Roboto Lt"/>
                <a:cs typeface="Roboto Lt"/>
              </a:rPr>
              <a:t>reasonable</a:t>
            </a:r>
            <a:r>
              <a:rPr dirty="0" sz="1600" spc="-40">
                <a:solidFill>
                  <a:srgbClr val="1A1A1A"/>
                </a:solidFill>
                <a:latin typeface="Roboto Lt"/>
                <a:cs typeface="Roboto Lt"/>
              </a:rPr>
              <a:t> </a:t>
            </a:r>
            <a:r>
              <a:rPr dirty="0" sz="1600" spc="-10">
                <a:solidFill>
                  <a:srgbClr val="1A1A1A"/>
                </a:solidFill>
                <a:latin typeface="Roboto Lt"/>
                <a:cs typeface="Roboto Lt"/>
              </a:rPr>
              <a:t>approximations</a:t>
            </a:r>
            <a:endParaRPr sz="1600">
              <a:latin typeface="Roboto Lt"/>
              <a:cs typeface="Roboto Lt"/>
            </a:endParaRPr>
          </a:p>
          <a:p>
            <a:pPr lvl="1">
              <a:lnSpc>
                <a:spcPct val="100000"/>
              </a:lnSpc>
              <a:spcBef>
                <a:spcPts val="434"/>
              </a:spcBef>
              <a:buClr>
                <a:srgbClr val="1A1A1A"/>
              </a:buClr>
              <a:buFont typeface="Roboto Lt"/>
              <a:buAutoNum type="alphaLcPeriod"/>
            </a:pPr>
            <a:endParaRPr sz="1600">
              <a:latin typeface="Roboto Lt"/>
              <a:cs typeface="Roboto Lt"/>
            </a:endParaRPr>
          </a:p>
          <a:p>
            <a:pPr marL="434340" indent="-410209">
              <a:lnSpc>
                <a:spcPct val="100000"/>
              </a:lnSpc>
              <a:buAutoNum type="arabicPeriod"/>
              <a:tabLst>
                <a:tab pos="434340" algn="l"/>
              </a:tabLst>
            </a:pP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Alphanumeric</a:t>
            </a:r>
            <a:r>
              <a:rPr dirty="0" sz="1800" spc="-4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(Fill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in</a:t>
            </a:r>
            <a:r>
              <a:rPr dirty="0" sz="18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the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blanks</a:t>
            </a:r>
            <a:r>
              <a:rPr dirty="0" sz="18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/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Objective</a:t>
            </a:r>
            <a:r>
              <a:rPr dirty="0" sz="18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/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Short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Answer)</a:t>
            </a:r>
            <a:endParaRPr sz="1800">
              <a:latin typeface="Roboto Lt"/>
              <a:cs typeface="Roboto Lt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AutoNum type="arabicPeriod"/>
            </a:pPr>
            <a:endParaRPr sz="1800">
              <a:latin typeface="Roboto Lt"/>
              <a:cs typeface="Roboto Lt"/>
            </a:endParaRPr>
          </a:p>
          <a:p>
            <a:pPr marL="434340" indent="-410209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34340" algn="l"/>
              </a:tabLst>
            </a:pP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Numeric</a:t>
            </a:r>
            <a:r>
              <a:rPr dirty="0" sz="1800" spc="-10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Roboto Lt"/>
                <a:cs typeface="Roboto Lt"/>
              </a:rPr>
              <a:t>Array</a:t>
            </a:r>
            <a:endParaRPr sz="1800">
              <a:latin typeface="Roboto Lt"/>
              <a:cs typeface="Roboto Lt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AutoNum type="arabicPeriod"/>
            </a:pPr>
            <a:endParaRPr sz="1800">
              <a:latin typeface="Roboto Lt"/>
              <a:cs typeface="Roboto Lt"/>
            </a:endParaRPr>
          </a:p>
          <a:p>
            <a:pPr marL="434340" indent="-410209">
              <a:lnSpc>
                <a:spcPct val="100000"/>
              </a:lnSpc>
              <a:buAutoNum type="arabicPeriod"/>
              <a:tabLst>
                <a:tab pos="434340" algn="l"/>
              </a:tabLst>
            </a:pP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Programming</a:t>
            </a:r>
            <a:r>
              <a:rPr dirty="0" sz="1800" spc="-8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assignments</a:t>
            </a:r>
            <a:endParaRPr sz="18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399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Roboto"/>
                <a:cs typeface="Roboto"/>
              </a:rPr>
              <a:t>Types</a:t>
            </a:r>
            <a:r>
              <a:rPr dirty="0" sz="2400" spc="-2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of</a:t>
            </a:r>
            <a:r>
              <a:rPr dirty="0" sz="2400" spc="-1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Assignment</a:t>
            </a:r>
            <a:r>
              <a:rPr dirty="0" sz="2400" spc="-1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Questions:</a:t>
            </a:r>
            <a:r>
              <a:rPr dirty="0" sz="2400" spc="-20">
                <a:latin typeface="Roboto"/>
                <a:cs typeface="Roboto"/>
              </a:rPr>
              <a:t> Auto-</a:t>
            </a:r>
            <a:r>
              <a:rPr dirty="0" sz="2400" spc="-10">
                <a:latin typeface="Roboto"/>
                <a:cs typeface="Roboto"/>
              </a:rPr>
              <a:t>Graded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9885" y="627305"/>
            <a:ext cx="6476365" cy="1526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4340" indent="-410209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34340" algn="l"/>
              </a:tabLst>
            </a:pP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Multiple</a:t>
            </a:r>
            <a:r>
              <a:rPr dirty="0" sz="1800" spc="-4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choice</a:t>
            </a:r>
            <a:r>
              <a:rPr dirty="0" sz="18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/</a:t>
            </a:r>
            <a:r>
              <a:rPr dirty="0" sz="18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Multiple</a:t>
            </a:r>
            <a:r>
              <a:rPr dirty="0" sz="18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select</a:t>
            </a:r>
            <a:r>
              <a:rPr dirty="0" sz="1800" spc="-4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questions</a:t>
            </a:r>
            <a:r>
              <a:rPr dirty="0" sz="18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(MCQ</a:t>
            </a:r>
            <a:r>
              <a:rPr dirty="0" sz="18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/</a:t>
            </a:r>
            <a:r>
              <a:rPr dirty="0" sz="18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Roboto Lt"/>
                <a:cs typeface="Roboto Lt"/>
              </a:rPr>
              <a:t>MSQ)</a:t>
            </a:r>
            <a:endParaRPr sz="1800">
              <a:latin typeface="Roboto Lt"/>
              <a:cs typeface="Roboto Lt"/>
            </a:endParaRPr>
          </a:p>
          <a:p>
            <a:pPr>
              <a:lnSpc>
                <a:spcPct val="100000"/>
              </a:lnSpc>
              <a:spcBef>
                <a:spcPts val="370"/>
              </a:spcBef>
              <a:buAutoNum type="arabicPeriod"/>
            </a:pPr>
            <a:endParaRPr sz="1800">
              <a:latin typeface="Roboto Lt"/>
              <a:cs typeface="Roboto Lt"/>
            </a:endParaRPr>
          </a:p>
          <a:p>
            <a:pPr marL="434340" indent="-410209">
              <a:lnSpc>
                <a:spcPct val="100000"/>
              </a:lnSpc>
              <a:buAutoNum type="arabicPeriod"/>
              <a:tabLst>
                <a:tab pos="434340" algn="l"/>
              </a:tabLst>
            </a:pP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Numerical</a:t>
            </a:r>
            <a:r>
              <a:rPr dirty="0" sz="18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(Fill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in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the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blanks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/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Objective</a:t>
            </a:r>
            <a:r>
              <a:rPr dirty="0" sz="18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/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Short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Answer)</a:t>
            </a:r>
            <a:endParaRPr sz="1800">
              <a:latin typeface="Roboto Lt"/>
              <a:cs typeface="Roboto Lt"/>
            </a:endParaRPr>
          </a:p>
          <a:p>
            <a:pPr>
              <a:lnSpc>
                <a:spcPct val="100000"/>
              </a:lnSpc>
              <a:spcBef>
                <a:spcPts val="645"/>
              </a:spcBef>
              <a:buAutoNum type="arabicPeriod"/>
            </a:pPr>
            <a:endParaRPr sz="1800">
              <a:latin typeface="Roboto Lt"/>
              <a:cs typeface="Roboto Lt"/>
            </a:endParaRPr>
          </a:p>
          <a:p>
            <a:pPr marL="434340" indent="-42164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34340" algn="l"/>
              </a:tabLst>
            </a:pPr>
            <a:r>
              <a:rPr dirty="0" sz="1800" spc="-10">
                <a:latin typeface="Roboto Lt"/>
                <a:cs typeface="Roboto Lt"/>
              </a:rPr>
              <a:t>Alphanumeric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(Fill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in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blanks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/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Objective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/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Short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Answer)</a:t>
            </a:r>
            <a:endParaRPr sz="1800">
              <a:latin typeface="Roboto Lt"/>
              <a:cs typeface="Roboto L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9234" y="2134033"/>
            <a:ext cx="1626235" cy="739140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401955" indent="-386080">
              <a:lnSpc>
                <a:spcPct val="100000"/>
              </a:lnSpc>
              <a:spcBef>
                <a:spcPts val="985"/>
              </a:spcBef>
              <a:buAutoNum type="alphaLcPeriod"/>
              <a:tabLst>
                <a:tab pos="401955" algn="l"/>
              </a:tabLst>
            </a:pPr>
            <a:r>
              <a:rPr dirty="0" u="heavy" sz="1600" spc="-1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Assignments</a:t>
            </a:r>
            <a:r>
              <a:rPr dirty="0" sz="1600" spc="-10">
                <a:latin typeface="Roboto Lt"/>
                <a:cs typeface="Roboto Lt"/>
              </a:rPr>
              <a:t>:</a:t>
            </a:r>
            <a:endParaRPr sz="1600">
              <a:latin typeface="Roboto Lt"/>
              <a:cs typeface="Roboto Lt"/>
            </a:endParaRPr>
          </a:p>
          <a:p>
            <a:pPr marL="401955" indent="-389255">
              <a:lnSpc>
                <a:spcPct val="100000"/>
              </a:lnSpc>
              <a:spcBef>
                <a:spcPts val="890"/>
              </a:spcBef>
              <a:buAutoNum type="alphaLcPeriod"/>
              <a:tabLst>
                <a:tab pos="401955" algn="l"/>
              </a:tabLst>
            </a:pPr>
            <a:r>
              <a:rPr dirty="0" u="heavy" sz="1600" spc="-10">
                <a:uFill>
                  <a:solidFill>
                    <a:srgbClr val="000000"/>
                  </a:solidFill>
                </a:uFill>
                <a:latin typeface="Roboto Lt"/>
                <a:cs typeface="Roboto Lt"/>
              </a:rPr>
              <a:t>Exams</a:t>
            </a:r>
            <a:r>
              <a:rPr dirty="0" sz="1600" spc="-10">
                <a:latin typeface="Roboto Lt"/>
                <a:cs typeface="Roboto Lt"/>
              </a:rPr>
              <a:t>:</a:t>
            </a:r>
            <a:endParaRPr sz="1600">
              <a:latin typeface="Roboto Lt"/>
              <a:cs typeface="Roboto 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0725" y="2134033"/>
            <a:ext cx="5869940" cy="739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6300"/>
              </a:lnSpc>
              <a:spcBef>
                <a:spcPts val="100"/>
              </a:spcBef>
            </a:pPr>
            <a:r>
              <a:rPr dirty="0" sz="1600">
                <a:latin typeface="Roboto Lt"/>
                <a:cs typeface="Roboto Lt"/>
              </a:rPr>
              <a:t>Exact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Match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|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Contains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|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Starts</a:t>
            </a:r>
            <a:r>
              <a:rPr dirty="0" sz="1600" spc="-2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with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|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sz="1600" spc="-35">
                <a:latin typeface="Roboto Lt"/>
                <a:cs typeface="Roboto Lt"/>
              </a:rPr>
              <a:t>Comma-</a:t>
            </a:r>
            <a:r>
              <a:rPr dirty="0" sz="1600" spc="-10">
                <a:latin typeface="Roboto Lt"/>
                <a:cs typeface="Roboto Lt"/>
              </a:rPr>
              <a:t>separated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keywords </a:t>
            </a:r>
            <a:r>
              <a:rPr dirty="0" sz="1600">
                <a:latin typeface="Roboto Lt"/>
                <a:cs typeface="Roboto Lt"/>
              </a:rPr>
              <a:t>Only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exact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match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is</a:t>
            </a:r>
            <a:r>
              <a:rPr dirty="0" sz="1600" spc="-5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available</a:t>
            </a:r>
            <a:endParaRPr sz="1600">
              <a:latin typeface="Roboto Lt"/>
              <a:cs typeface="Roboto 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885" y="3150859"/>
            <a:ext cx="5933440" cy="154495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434340" indent="-421640">
              <a:lnSpc>
                <a:spcPct val="100000"/>
              </a:lnSpc>
              <a:spcBef>
                <a:spcPts val="470"/>
              </a:spcBef>
              <a:buAutoNum type="arabicPeriod" startAt="4"/>
              <a:tabLst>
                <a:tab pos="434340" algn="l"/>
              </a:tabLst>
            </a:pPr>
            <a:r>
              <a:rPr dirty="0" sz="1800">
                <a:latin typeface="Roboto Lt"/>
                <a:cs typeface="Roboto Lt"/>
              </a:rPr>
              <a:t>Numeric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20">
                <a:latin typeface="Roboto Lt"/>
                <a:cs typeface="Roboto Lt"/>
              </a:rPr>
              <a:t>Array</a:t>
            </a:r>
            <a:endParaRPr sz="1800">
              <a:latin typeface="Roboto Lt"/>
              <a:cs typeface="Roboto Lt"/>
            </a:endParaRPr>
          </a:p>
          <a:p>
            <a:pPr lvl="1" marL="891540" indent="-386080">
              <a:lnSpc>
                <a:spcPct val="100000"/>
              </a:lnSpc>
              <a:spcBef>
                <a:spcPts val="335"/>
              </a:spcBef>
              <a:buAutoNum type="alphaLcPeriod"/>
              <a:tabLst>
                <a:tab pos="891540" algn="l"/>
              </a:tabLst>
            </a:pPr>
            <a:r>
              <a:rPr dirty="0" sz="1600">
                <a:latin typeface="Roboto Lt"/>
                <a:cs typeface="Roboto Lt"/>
              </a:rPr>
              <a:t>Use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this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to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conﬁgure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vector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/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matrix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/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20">
                <a:latin typeface="Roboto Lt"/>
                <a:cs typeface="Roboto Lt"/>
              </a:rPr>
              <a:t>array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type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answers</a:t>
            </a:r>
            <a:endParaRPr sz="1600">
              <a:latin typeface="Roboto Lt"/>
              <a:cs typeface="Roboto Lt"/>
            </a:endParaRPr>
          </a:p>
          <a:p>
            <a:pPr lvl="1">
              <a:lnSpc>
                <a:spcPct val="100000"/>
              </a:lnSpc>
              <a:spcBef>
                <a:spcPts val="840"/>
              </a:spcBef>
              <a:buFont typeface="Roboto Lt"/>
              <a:buAutoNum type="alphaLcPeriod"/>
            </a:pPr>
            <a:endParaRPr sz="1600">
              <a:latin typeface="Roboto Lt"/>
              <a:cs typeface="Roboto Lt"/>
            </a:endParaRPr>
          </a:p>
          <a:p>
            <a:pPr marL="434340" indent="-421640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434340" algn="l"/>
              </a:tabLst>
            </a:pPr>
            <a:r>
              <a:rPr dirty="0" sz="1800" spc="-20">
                <a:latin typeface="Roboto Lt"/>
                <a:cs typeface="Roboto Lt"/>
              </a:rPr>
              <a:t>Programming</a:t>
            </a:r>
            <a:r>
              <a:rPr dirty="0" sz="1800" spc="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assignments</a:t>
            </a:r>
            <a:endParaRPr sz="1800">
              <a:latin typeface="Roboto Lt"/>
              <a:cs typeface="Roboto Lt"/>
            </a:endParaRPr>
          </a:p>
          <a:p>
            <a:pPr lvl="1" marL="891540" indent="-386080">
              <a:lnSpc>
                <a:spcPct val="100000"/>
              </a:lnSpc>
              <a:spcBef>
                <a:spcPts val="330"/>
              </a:spcBef>
              <a:buAutoNum type="alphaLcPeriod"/>
              <a:tabLst>
                <a:tab pos="891540" algn="l"/>
                <a:tab pos="1893570" algn="l"/>
              </a:tabLst>
            </a:pPr>
            <a:r>
              <a:rPr dirty="0" sz="1600" spc="-10">
                <a:latin typeface="Roboto Lt"/>
                <a:cs typeface="Roboto Lt"/>
              </a:rPr>
              <a:t>Supports:</a:t>
            </a:r>
            <a:r>
              <a:rPr dirty="0" sz="1600">
                <a:latin typeface="Roboto Lt"/>
                <a:cs typeface="Roboto Lt"/>
              </a:rPr>
              <a:t>	C,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C++,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Java,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Python,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Verilog,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Perl,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Haskell</a:t>
            </a:r>
            <a:endParaRPr sz="16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874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Roboto"/>
                <a:cs typeface="Roboto"/>
              </a:rPr>
              <a:t>Types</a:t>
            </a:r>
            <a:r>
              <a:rPr dirty="0" sz="2400" spc="-4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of</a:t>
            </a:r>
            <a:r>
              <a:rPr dirty="0" sz="2400" spc="-4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Assignment</a:t>
            </a:r>
            <a:r>
              <a:rPr dirty="0" sz="2400" spc="-4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Questions:</a:t>
            </a:r>
            <a:r>
              <a:rPr dirty="0" sz="2400" spc="-4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Manual</a:t>
            </a:r>
            <a:r>
              <a:rPr dirty="0" sz="2400" spc="-4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Grading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591294"/>
            <a:ext cx="5980430" cy="280289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000" spc="-10">
                <a:solidFill>
                  <a:srgbClr val="595959"/>
                </a:solidFill>
                <a:latin typeface="Roboto Lt"/>
                <a:cs typeface="Roboto Lt"/>
              </a:rPr>
              <a:t>Submission</a:t>
            </a:r>
            <a:r>
              <a:rPr dirty="0" sz="2000" spc="-5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Roboto Lt"/>
                <a:cs typeface="Roboto Lt"/>
              </a:rPr>
              <a:t>options</a:t>
            </a:r>
            <a:endParaRPr sz="20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24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Document</a:t>
            </a:r>
            <a:r>
              <a:rPr dirty="0" sz="1800" spc="-4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upload</a:t>
            </a:r>
            <a:endParaRPr sz="18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219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 spc="-25">
                <a:solidFill>
                  <a:srgbClr val="595959"/>
                </a:solidFill>
                <a:latin typeface="Roboto Lt"/>
                <a:cs typeface="Roboto Lt"/>
              </a:rPr>
              <a:t>Essay-</a:t>
            </a:r>
            <a:r>
              <a:rPr dirty="0" sz="1800" spc="-45">
                <a:solidFill>
                  <a:srgbClr val="595959"/>
                </a:solidFill>
                <a:latin typeface="Roboto Lt"/>
                <a:cs typeface="Roboto Lt"/>
              </a:rPr>
              <a:t>type</a:t>
            </a:r>
            <a:r>
              <a:rPr dirty="0" sz="1800" spc="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questions</a:t>
            </a:r>
            <a:endParaRPr sz="180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2000" spc="-10">
                <a:solidFill>
                  <a:srgbClr val="595959"/>
                </a:solidFill>
                <a:latin typeface="Roboto Lt"/>
                <a:cs typeface="Roboto Lt"/>
              </a:rPr>
              <a:t>Grading</a:t>
            </a:r>
            <a:r>
              <a:rPr dirty="0" sz="2000" spc="-7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Roboto Lt"/>
                <a:cs typeface="Roboto Lt"/>
              </a:rPr>
              <a:t>options</a:t>
            </a:r>
            <a:endParaRPr sz="20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25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Manual</a:t>
            </a:r>
            <a:r>
              <a:rPr dirty="0" sz="1800" spc="-9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grading</a:t>
            </a:r>
            <a:endParaRPr sz="18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21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 spc="-60">
                <a:solidFill>
                  <a:srgbClr val="595959"/>
                </a:solidFill>
                <a:latin typeface="Roboto Lt"/>
                <a:cs typeface="Roboto Lt"/>
              </a:rPr>
              <a:t>Peer-</a:t>
            </a: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reviewed</a:t>
            </a:r>
            <a:r>
              <a:rPr dirty="0" sz="1800" spc="-2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/</a:t>
            </a:r>
            <a:r>
              <a:rPr dirty="0" sz="1800" spc="-2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40">
                <a:solidFill>
                  <a:srgbClr val="595959"/>
                </a:solidFill>
                <a:latin typeface="Roboto Lt"/>
                <a:cs typeface="Roboto Lt"/>
              </a:rPr>
              <a:t>Rubric-</a:t>
            </a:r>
            <a:r>
              <a:rPr dirty="0" sz="1800" spc="-20">
                <a:solidFill>
                  <a:srgbClr val="595959"/>
                </a:solidFill>
                <a:latin typeface="Roboto Lt"/>
                <a:cs typeface="Roboto Lt"/>
              </a:rPr>
              <a:t>based </a:t>
            </a: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grading</a:t>
            </a:r>
            <a:endParaRPr sz="180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dirty="0" sz="2000">
                <a:solidFill>
                  <a:srgbClr val="595959"/>
                </a:solidFill>
                <a:latin typeface="Roboto Lt"/>
                <a:cs typeface="Roboto Lt"/>
              </a:rPr>
              <a:t>How</a:t>
            </a:r>
            <a:r>
              <a:rPr dirty="0" sz="2000" spc="-6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2000">
                <a:solidFill>
                  <a:srgbClr val="595959"/>
                </a:solidFill>
                <a:latin typeface="Roboto Lt"/>
                <a:cs typeface="Roboto Lt"/>
              </a:rPr>
              <a:t>Manual</a:t>
            </a:r>
            <a:r>
              <a:rPr dirty="0" sz="2000" spc="-6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Roboto Lt"/>
                <a:cs typeface="Roboto Lt"/>
              </a:rPr>
              <a:t>Grading</a:t>
            </a:r>
            <a:r>
              <a:rPr dirty="0" sz="2000" spc="-6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Roboto Lt"/>
                <a:cs typeface="Roboto Lt"/>
              </a:rPr>
              <a:t>works</a:t>
            </a:r>
            <a:endParaRPr sz="20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24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Add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b="1">
                <a:solidFill>
                  <a:srgbClr val="595959"/>
                </a:solidFill>
                <a:latin typeface="Roboto"/>
                <a:cs typeface="Roboto"/>
              </a:rPr>
              <a:t>Course</a:t>
            </a:r>
            <a:r>
              <a:rPr dirty="0" sz="1800" spc="-35" b="1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595959"/>
                </a:solidFill>
                <a:latin typeface="Roboto"/>
                <a:cs typeface="Roboto"/>
              </a:rPr>
              <a:t>Staff</a:t>
            </a:r>
            <a:r>
              <a:rPr dirty="0" sz="1800" spc="-30" b="1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before</a:t>
            </a:r>
            <a:r>
              <a:rPr dirty="0" sz="18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making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the</a:t>
            </a:r>
            <a:r>
              <a:rPr dirty="0" sz="18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assignment</a:t>
            </a:r>
            <a:r>
              <a:rPr dirty="0" sz="18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public</a:t>
            </a:r>
            <a:endParaRPr sz="1800">
              <a:latin typeface="Roboto Lt"/>
              <a:cs typeface="Roboto L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7821" y="3372537"/>
            <a:ext cx="6929120" cy="83058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290"/>
              </a:spcBef>
              <a:buFont typeface="Arial MT"/>
              <a:buChar char="○"/>
              <a:tabLst>
                <a:tab pos="363855" algn="l"/>
              </a:tabLst>
            </a:pPr>
            <a:r>
              <a:rPr dirty="0" sz="1600">
                <a:solidFill>
                  <a:srgbClr val="595959"/>
                </a:solidFill>
                <a:latin typeface="Roboto Lt"/>
                <a:cs typeface="Roboto Lt"/>
              </a:rPr>
              <a:t>Course</a:t>
            </a:r>
            <a:r>
              <a:rPr dirty="0" sz="16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595959"/>
                </a:solidFill>
                <a:latin typeface="Roboto Lt"/>
                <a:cs typeface="Roboto Lt"/>
              </a:rPr>
              <a:t>staff</a:t>
            </a:r>
            <a:r>
              <a:rPr dirty="0" sz="16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595959"/>
                </a:solidFill>
                <a:latin typeface="Roboto Lt"/>
                <a:cs typeface="Roboto Lt"/>
              </a:rPr>
              <a:t>are</a:t>
            </a:r>
            <a:r>
              <a:rPr dirty="0" sz="16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Roboto Lt"/>
                <a:cs typeface="Roboto Lt"/>
              </a:rPr>
              <a:t>responsible</a:t>
            </a:r>
            <a:r>
              <a:rPr dirty="0" sz="16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595959"/>
                </a:solidFill>
                <a:latin typeface="Roboto Lt"/>
                <a:cs typeface="Roboto Lt"/>
              </a:rPr>
              <a:t>for</a:t>
            </a:r>
            <a:r>
              <a:rPr dirty="0" sz="16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Roboto Lt"/>
                <a:cs typeface="Roboto Lt"/>
              </a:rPr>
              <a:t>evaluating</a:t>
            </a:r>
            <a:r>
              <a:rPr dirty="0" sz="16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595959"/>
                </a:solidFill>
                <a:latin typeface="Roboto Lt"/>
                <a:cs typeface="Roboto Lt"/>
              </a:rPr>
              <a:t>the</a:t>
            </a:r>
            <a:r>
              <a:rPr dirty="0" sz="16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Roboto Lt"/>
                <a:cs typeface="Roboto Lt"/>
              </a:rPr>
              <a:t>subjective</a:t>
            </a:r>
            <a:r>
              <a:rPr dirty="0" sz="16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Roboto Lt"/>
                <a:cs typeface="Roboto Lt"/>
              </a:rPr>
              <a:t>assignments</a:t>
            </a:r>
            <a:endParaRPr sz="1600">
              <a:latin typeface="Roboto Lt"/>
              <a:cs typeface="Roboto Lt"/>
            </a:endParaRPr>
          </a:p>
          <a:p>
            <a:pPr marL="363855" indent="-351155">
              <a:lnSpc>
                <a:spcPct val="100000"/>
              </a:lnSpc>
              <a:spcBef>
                <a:spcPts val="195"/>
              </a:spcBef>
              <a:buFont typeface="Arial MT"/>
              <a:buChar char="○"/>
              <a:tabLst>
                <a:tab pos="363855" algn="l"/>
              </a:tabLst>
            </a:pPr>
            <a:r>
              <a:rPr dirty="0" sz="1600" spc="-10">
                <a:solidFill>
                  <a:srgbClr val="595959"/>
                </a:solidFill>
                <a:latin typeface="Roboto Lt"/>
                <a:cs typeface="Roboto Lt"/>
              </a:rPr>
              <a:t>Evaluation</a:t>
            </a:r>
            <a:r>
              <a:rPr dirty="0" sz="16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Roboto Lt"/>
                <a:cs typeface="Roboto Lt"/>
              </a:rPr>
              <a:t>deadline</a:t>
            </a:r>
            <a:r>
              <a:rPr dirty="0" sz="16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595959"/>
                </a:solidFill>
                <a:latin typeface="Roboto Lt"/>
                <a:cs typeface="Roboto Lt"/>
              </a:rPr>
              <a:t>is</a:t>
            </a:r>
            <a:r>
              <a:rPr dirty="0" sz="16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595959"/>
                </a:solidFill>
                <a:latin typeface="Roboto Lt"/>
                <a:cs typeface="Roboto Lt"/>
              </a:rPr>
              <a:t>two</a:t>
            </a:r>
            <a:r>
              <a:rPr dirty="0" sz="16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595959"/>
                </a:solidFill>
                <a:latin typeface="Roboto Lt"/>
                <a:cs typeface="Roboto Lt"/>
              </a:rPr>
              <a:t>weeks</a:t>
            </a:r>
            <a:r>
              <a:rPr dirty="0" sz="16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595959"/>
                </a:solidFill>
                <a:latin typeface="Roboto Lt"/>
                <a:cs typeface="Roboto Lt"/>
              </a:rPr>
              <a:t>after</a:t>
            </a:r>
            <a:r>
              <a:rPr dirty="0" sz="16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Roboto Lt"/>
                <a:cs typeface="Roboto Lt"/>
              </a:rPr>
              <a:t>assignment</a:t>
            </a:r>
            <a:r>
              <a:rPr dirty="0" sz="16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595959"/>
                </a:solidFill>
                <a:latin typeface="Roboto Lt"/>
                <a:cs typeface="Roboto Lt"/>
              </a:rPr>
              <a:t>due</a:t>
            </a:r>
            <a:r>
              <a:rPr dirty="0" sz="16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Roboto Lt"/>
                <a:cs typeface="Roboto Lt"/>
              </a:rPr>
              <a:t>date</a:t>
            </a:r>
            <a:endParaRPr sz="1600">
              <a:latin typeface="Roboto Lt"/>
              <a:cs typeface="Roboto Lt"/>
            </a:endParaRPr>
          </a:p>
          <a:p>
            <a:pPr marL="363855" indent="-351155">
              <a:lnSpc>
                <a:spcPct val="100000"/>
              </a:lnSpc>
              <a:spcBef>
                <a:spcPts val="190"/>
              </a:spcBef>
              <a:buFont typeface="Arial MT"/>
              <a:buChar char="○"/>
              <a:tabLst>
                <a:tab pos="363855" algn="l"/>
              </a:tabLst>
            </a:pPr>
            <a:r>
              <a:rPr dirty="0" sz="1600">
                <a:solidFill>
                  <a:srgbClr val="595959"/>
                </a:solidFill>
                <a:latin typeface="Roboto Lt"/>
                <a:cs typeface="Roboto Lt"/>
              </a:rPr>
              <a:t>Course</a:t>
            </a:r>
            <a:r>
              <a:rPr dirty="0" sz="16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595959"/>
                </a:solidFill>
                <a:latin typeface="Roboto Lt"/>
                <a:cs typeface="Roboto Lt"/>
              </a:rPr>
              <a:t>Staff</a:t>
            </a:r>
            <a:r>
              <a:rPr dirty="0" sz="16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595959"/>
                </a:solidFill>
                <a:latin typeface="Roboto Lt"/>
                <a:cs typeface="Roboto Lt"/>
              </a:rPr>
              <a:t>must</a:t>
            </a:r>
            <a:r>
              <a:rPr dirty="0" sz="16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595959"/>
                </a:solidFill>
                <a:latin typeface="Roboto Lt"/>
                <a:cs typeface="Roboto Lt"/>
              </a:rPr>
              <a:t>enter</a:t>
            </a:r>
            <a:r>
              <a:rPr dirty="0" sz="16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595959"/>
                </a:solidFill>
                <a:latin typeface="Roboto Lt"/>
                <a:cs typeface="Roboto Lt"/>
              </a:rPr>
              <a:t>total</a:t>
            </a:r>
            <a:r>
              <a:rPr dirty="0" sz="16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595959"/>
                </a:solidFill>
                <a:latin typeface="Roboto Lt"/>
                <a:cs typeface="Roboto Lt"/>
              </a:rPr>
              <a:t>marks</a:t>
            </a:r>
            <a:r>
              <a:rPr dirty="0" sz="16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595959"/>
                </a:solidFill>
                <a:latin typeface="Roboto Lt"/>
                <a:cs typeface="Roboto Lt"/>
              </a:rPr>
              <a:t>out</a:t>
            </a:r>
            <a:r>
              <a:rPr dirty="0" sz="16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595959"/>
                </a:solidFill>
                <a:latin typeface="Roboto Lt"/>
                <a:cs typeface="Roboto Lt"/>
              </a:rPr>
              <a:t>of</a:t>
            </a:r>
            <a:r>
              <a:rPr dirty="0" sz="16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595959"/>
                </a:solidFill>
                <a:latin typeface="Roboto Lt"/>
                <a:cs typeface="Roboto Lt"/>
              </a:rPr>
              <a:t>100,</a:t>
            </a:r>
            <a:r>
              <a:rPr dirty="0" sz="16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>
                <a:solidFill>
                  <a:srgbClr val="595959"/>
                </a:solidFill>
                <a:latin typeface="Roboto Lt"/>
                <a:cs typeface="Roboto Lt"/>
              </a:rPr>
              <a:t>before</a:t>
            </a:r>
            <a:r>
              <a:rPr dirty="0" sz="16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Roboto Lt"/>
                <a:cs typeface="Roboto Lt"/>
              </a:rPr>
              <a:t>evaluation</a:t>
            </a:r>
            <a:r>
              <a:rPr dirty="0" sz="1600" spc="-4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Roboto Lt"/>
                <a:cs typeface="Roboto Lt"/>
              </a:rPr>
              <a:t>deadline</a:t>
            </a:r>
            <a:endParaRPr sz="1600">
              <a:latin typeface="Roboto Lt"/>
              <a:cs typeface="Roboto 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4062503"/>
            <a:ext cx="7364095" cy="896619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469265" indent="-366395">
              <a:lnSpc>
                <a:spcPct val="100000"/>
              </a:lnSpc>
              <a:spcBef>
                <a:spcPts val="118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Scores</a:t>
            </a:r>
            <a:r>
              <a:rPr dirty="0" sz="1800" spc="-5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entered</a:t>
            </a:r>
            <a:r>
              <a:rPr dirty="0" sz="1800" spc="-5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on</a:t>
            </a:r>
            <a:r>
              <a:rPr dirty="0" sz="1800" spc="-4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the</a:t>
            </a:r>
            <a:r>
              <a:rPr dirty="0" sz="1800" spc="-5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portal</a:t>
            </a:r>
            <a:r>
              <a:rPr dirty="0" sz="1800" spc="-4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will</a:t>
            </a:r>
            <a:r>
              <a:rPr dirty="0" sz="1800" spc="-5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be</a:t>
            </a:r>
            <a:r>
              <a:rPr dirty="0" sz="1800" spc="-4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visible</a:t>
            </a:r>
            <a:r>
              <a:rPr dirty="0" sz="1800" spc="-5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to</a:t>
            </a:r>
            <a:r>
              <a:rPr dirty="0" sz="1800" spc="-4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>
                <a:solidFill>
                  <a:srgbClr val="595959"/>
                </a:solidFill>
                <a:latin typeface="Roboto Lt"/>
                <a:cs typeface="Roboto Lt"/>
              </a:rPr>
              <a:t>the</a:t>
            </a:r>
            <a:r>
              <a:rPr dirty="0" sz="1800" spc="-5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Roboto Lt"/>
                <a:cs typeface="Roboto Lt"/>
              </a:rPr>
              <a:t>students</a:t>
            </a:r>
            <a:endParaRPr sz="180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dirty="0" sz="2000">
                <a:solidFill>
                  <a:srgbClr val="595959"/>
                </a:solidFill>
                <a:latin typeface="Roboto Lt"/>
                <a:cs typeface="Roboto Lt"/>
              </a:rPr>
              <a:t>Avoid</a:t>
            </a:r>
            <a:r>
              <a:rPr dirty="0" sz="20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Roboto Lt"/>
                <a:cs typeface="Roboto Lt"/>
              </a:rPr>
              <a:t>subjective</a:t>
            </a:r>
            <a:r>
              <a:rPr dirty="0" sz="20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Roboto Lt"/>
                <a:cs typeface="Roboto Lt"/>
              </a:rPr>
              <a:t>assignments</a:t>
            </a:r>
            <a:r>
              <a:rPr dirty="0" sz="20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2000">
                <a:solidFill>
                  <a:srgbClr val="595959"/>
                </a:solidFill>
                <a:latin typeface="Roboto Lt"/>
                <a:cs typeface="Roboto Lt"/>
              </a:rPr>
              <a:t>for</a:t>
            </a:r>
            <a:r>
              <a:rPr dirty="0" sz="20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2000">
                <a:solidFill>
                  <a:srgbClr val="595959"/>
                </a:solidFill>
                <a:latin typeface="Roboto Lt"/>
                <a:cs typeface="Roboto Lt"/>
              </a:rPr>
              <a:t>the</a:t>
            </a:r>
            <a:r>
              <a:rPr dirty="0" sz="20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2000">
                <a:solidFill>
                  <a:srgbClr val="595959"/>
                </a:solidFill>
                <a:latin typeface="Roboto Lt"/>
                <a:cs typeface="Roboto Lt"/>
              </a:rPr>
              <a:t>ﬁrst</a:t>
            </a:r>
            <a:r>
              <a:rPr dirty="0" sz="20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2000">
                <a:solidFill>
                  <a:srgbClr val="595959"/>
                </a:solidFill>
                <a:latin typeface="Roboto Lt"/>
                <a:cs typeface="Roboto Lt"/>
              </a:rPr>
              <a:t>two</a:t>
            </a:r>
            <a:r>
              <a:rPr dirty="0" sz="2000" spc="-35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2000">
                <a:solidFill>
                  <a:srgbClr val="595959"/>
                </a:solidFill>
                <a:latin typeface="Roboto Lt"/>
                <a:cs typeface="Roboto Lt"/>
              </a:rPr>
              <a:t>weeks</a:t>
            </a:r>
            <a:r>
              <a:rPr dirty="0" sz="20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2000">
                <a:solidFill>
                  <a:srgbClr val="595959"/>
                </a:solidFill>
                <a:latin typeface="Roboto Lt"/>
                <a:cs typeface="Roboto Lt"/>
              </a:rPr>
              <a:t>of</a:t>
            </a:r>
            <a:r>
              <a:rPr dirty="0" sz="20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2000">
                <a:solidFill>
                  <a:srgbClr val="595959"/>
                </a:solidFill>
                <a:latin typeface="Roboto Lt"/>
                <a:cs typeface="Roboto Lt"/>
              </a:rPr>
              <a:t>the</a:t>
            </a:r>
            <a:r>
              <a:rPr dirty="0" sz="2000" spc="-30">
                <a:solidFill>
                  <a:srgbClr val="595959"/>
                </a:solidFill>
                <a:latin typeface="Roboto Lt"/>
                <a:cs typeface="Roboto Lt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Roboto Lt"/>
                <a:cs typeface="Roboto Lt"/>
              </a:rPr>
              <a:t>course</a:t>
            </a:r>
            <a:endParaRPr sz="20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976" y="4525574"/>
            <a:ext cx="925674" cy="10593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634973" y="116279"/>
            <a:ext cx="5845175" cy="3054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00" b="0">
                <a:solidFill>
                  <a:srgbClr val="000000"/>
                </a:solidFill>
                <a:latin typeface="Calibri"/>
                <a:cs typeface="Calibri"/>
              </a:rPr>
              <a:t>NPTEL</a:t>
            </a:r>
            <a:r>
              <a:rPr dirty="0" sz="1800" spc="-1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000000"/>
                </a:solidFill>
                <a:latin typeface="Calibri"/>
                <a:cs typeface="Calibri"/>
              </a:rPr>
              <a:t>Online</a:t>
            </a:r>
            <a:r>
              <a:rPr dirty="0" sz="1800" spc="-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0">
                <a:solidFill>
                  <a:srgbClr val="000000"/>
                </a:solidFill>
                <a:latin typeface="Calibri"/>
                <a:cs typeface="Calibri"/>
              </a:rPr>
              <a:t>Courses:</a:t>
            </a:r>
            <a:r>
              <a:rPr dirty="0" sz="1800" spc="-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000000"/>
                </a:solidFill>
                <a:latin typeface="Calibri"/>
                <a:cs typeface="Calibri"/>
              </a:rPr>
              <a:t>Do's</a:t>
            </a:r>
            <a:r>
              <a:rPr dirty="0" sz="1800" spc="-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z="1800" spc="-9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000000"/>
                </a:solidFill>
                <a:latin typeface="Calibri"/>
                <a:cs typeface="Calibri"/>
              </a:rPr>
              <a:t>Don’t’s</a:t>
            </a:r>
            <a:r>
              <a:rPr dirty="0" sz="1800" spc="-6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dirty="0" sz="1800" spc="-8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000000"/>
                </a:solidFill>
                <a:latin typeface="Calibri"/>
                <a:cs typeface="Calibri"/>
              </a:rPr>
              <a:t>NPTEL</a:t>
            </a:r>
            <a:r>
              <a:rPr dirty="0" sz="1800" spc="-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0">
                <a:solidFill>
                  <a:srgbClr val="000000"/>
                </a:solidFill>
                <a:latin typeface="Calibri"/>
                <a:cs typeface="Calibri"/>
              </a:rPr>
              <a:t>Assignments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6568" y="412327"/>
            <a:ext cx="4056379" cy="443865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570"/>
              </a:spcBef>
            </a:pPr>
            <a:r>
              <a:rPr dirty="0" sz="1350" b="1">
                <a:latin typeface="Calibri"/>
                <a:cs typeface="Calibri"/>
              </a:rPr>
              <a:t>Things</a:t>
            </a:r>
            <a:r>
              <a:rPr dirty="0" sz="1350" spc="5" b="1">
                <a:latin typeface="Calibri"/>
                <a:cs typeface="Calibri"/>
              </a:rPr>
              <a:t> </a:t>
            </a:r>
            <a:r>
              <a:rPr dirty="0" sz="1350" b="1">
                <a:latin typeface="Calibri"/>
                <a:cs typeface="Calibri"/>
              </a:rPr>
              <a:t>to</a:t>
            </a:r>
            <a:r>
              <a:rPr dirty="0" sz="1350" spc="-25" b="1">
                <a:latin typeface="Calibri"/>
                <a:cs typeface="Calibri"/>
              </a:rPr>
              <a:t> </a:t>
            </a:r>
            <a:r>
              <a:rPr dirty="0" sz="1350" spc="-10" b="1">
                <a:latin typeface="Calibri"/>
                <a:cs typeface="Calibri"/>
              </a:rPr>
              <a:t>Avoid</a:t>
            </a:r>
            <a:r>
              <a:rPr dirty="0" sz="1350" spc="20" b="1">
                <a:latin typeface="Calibri"/>
                <a:cs typeface="Calibri"/>
              </a:rPr>
              <a:t> </a:t>
            </a:r>
            <a:r>
              <a:rPr dirty="0" sz="1350" b="1">
                <a:latin typeface="Calibri"/>
                <a:cs typeface="Calibri"/>
              </a:rPr>
              <a:t>in</a:t>
            </a:r>
            <a:r>
              <a:rPr dirty="0" sz="1350" spc="-60" b="1">
                <a:latin typeface="Calibri"/>
                <a:cs typeface="Calibri"/>
              </a:rPr>
              <a:t> </a:t>
            </a:r>
            <a:r>
              <a:rPr dirty="0" sz="1350" spc="-10" b="1">
                <a:latin typeface="Calibri"/>
                <a:cs typeface="Calibri"/>
              </a:rPr>
              <a:t>Assignments</a:t>
            </a:r>
            <a:r>
              <a:rPr dirty="0" sz="1350" spc="50" b="1">
                <a:latin typeface="Calibri"/>
                <a:cs typeface="Calibri"/>
              </a:rPr>
              <a:t> </a:t>
            </a:r>
            <a:r>
              <a:rPr dirty="0" sz="1350" b="1">
                <a:latin typeface="Calibri"/>
                <a:cs typeface="Calibri"/>
              </a:rPr>
              <a:t>(and</a:t>
            </a:r>
            <a:r>
              <a:rPr dirty="0" sz="1350" spc="5" b="1"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0790E"/>
                </a:solidFill>
                <a:latin typeface="Calibri"/>
                <a:cs typeface="Calibri"/>
              </a:rPr>
              <a:t>what</a:t>
            </a:r>
            <a:r>
              <a:rPr dirty="0" sz="1350" spc="10" b="1">
                <a:solidFill>
                  <a:srgbClr val="00790E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137E1A"/>
                </a:solidFill>
                <a:latin typeface="Calibri"/>
                <a:cs typeface="Calibri"/>
              </a:rPr>
              <a:t>to</a:t>
            </a:r>
            <a:r>
              <a:rPr dirty="0" sz="1350" spc="-55" b="1">
                <a:solidFill>
                  <a:srgbClr val="137E1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168011"/>
                </a:solidFill>
                <a:latin typeface="Calibri"/>
                <a:cs typeface="Calibri"/>
              </a:rPr>
              <a:t>do</a:t>
            </a:r>
            <a:r>
              <a:rPr dirty="0" sz="1350" spc="-75" b="1">
                <a:solidFill>
                  <a:srgbClr val="168011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latin typeface="Calibri"/>
                <a:cs typeface="Calibri"/>
              </a:rPr>
              <a:t>instead)</a:t>
            </a:r>
            <a:endParaRPr sz="1350">
              <a:latin typeface="Calibri"/>
              <a:cs typeface="Calibri"/>
            </a:endParaRPr>
          </a:p>
          <a:p>
            <a:pPr marL="186690" indent="-173990">
              <a:lnSpc>
                <a:spcPct val="100000"/>
              </a:lnSpc>
              <a:spcBef>
                <a:spcPts val="409"/>
              </a:spcBef>
              <a:buChar char="•"/>
              <a:tabLst>
                <a:tab pos="186690" algn="l"/>
              </a:tabLst>
            </a:pPr>
            <a:r>
              <a:rPr dirty="0" u="heavy" sz="115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Most</a:t>
            </a:r>
            <a:r>
              <a:rPr dirty="0" u="heavy" sz="1150" spc="7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115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common</a:t>
            </a:r>
            <a:r>
              <a:rPr dirty="0" u="heavy" sz="1150" spc="17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115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error</a:t>
            </a:r>
            <a:r>
              <a:rPr dirty="0" sz="1150">
                <a:latin typeface="Calibri"/>
                <a:cs typeface="Calibri"/>
              </a:rPr>
              <a:t>:</a:t>
            </a:r>
            <a:r>
              <a:rPr dirty="0" sz="1150" spc="-110">
                <a:latin typeface="Calibri"/>
                <a:cs typeface="Calibri"/>
              </a:rPr>
              <a:t> </a:t>
            </a:r>
            <a:r>
              <a:rPr dirty="0" sz="1150" spc="-80">
                <a:latin typeface="Calibri"/>
                <a:cs typeface="Calibri"/>
              </a:rPr>
              <a:t>Giving</a:t>
            </a:r>
            <a:r>
              <a:rPr dirty="0" sz="1150" spc="50">
                <a:latin typeface="Calibri"/>
                <a:cs typeface="Calibri"/>
              </a:rPr>
              <a:t> </a:t>
            </a:r>
            <a:r>
              <a:rPr dirty="0" sz="1150" spc="-85">
                <a:latin typeface="Calibri"/>
                <a:cs typeface="Calibri"/>
              </a:rPr>
              <a:t>Incorrect</a:t>
            </a:r>
            <a:r>
              <a:rPr dirty="0" sz="1150" spc="85">
                <a:latin typeface="Calibri"/>
                <a:cs typeface="Calibri"/>
              </a:rPr>
              <a:t> </a:t>
            </a:r>
            <a:r>
              <a:rPr dirty="0" sz="1150" spc="-90">
                <a:latin typeface="Calibri"/>
                <a:cs typeface="Calibri"/>
              </a:rPr>
              <a:t>Answers</a:t>
            </a:r>
            <a:r>
              <a:rPr dirty="0" sz="1150" spc="65">
                <a:latin typeface="Calibri"/>
                <a:cs typeface="Calibri"/>
              </a:rPr>
              <a:t> </a:t>
            </a:r>
            <a:r>
              <a:rPr dirty="0" sz="1150" spc="-75">
                <a:solidFill>
                  <a:srgbClr val="030303"/>
                </a:solidFill>
                <a:latin typeface="Calibri"/>
                <a:cs typeface="Calibri"/>
              </a:rPr>
              <a:t>as</a:t>
            </a:r>
            <a:r>
              <a:rPr dirty="0" sz="1150" spc="-25">
                <a:solidFill>
                  <a:srgbClr val="030303"/>
                </a:solidFill>
                <a:latin typeface="Calibri"/>
                <a:cs typeface="Calibri"/>
              </a:rPr>
              <a:t> </a:t>
            </a:r>
            <a:r>
              <a:rPr dirty="0" sz="1150" spc="-85">
                <a:latin typeface="Calibri"/>
                <a:cs typeface="Calibri"/>
              </a:rPr>
              <a:t>Correct</a:t>
            </a:r>
            <a:r>
              <a:rPr dirty="0" sz="1150" spc="3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Answers</a:t>
            </a:r>
            <a:endParaRPr sz="1150">
              <a:latin typeface="Calibri"/>
              <a:cs typeface="Calibri"/>
            </a:endParaRPr>
          </a:p>
          <a:p>
            <a:pPr lvl="1" marL="527050" indent="-334645">
              <a:lnSpc>
                <a:spcPct val="100000"/>
              </a:lnSpc>
              <a:spcBef>
                <a:spcPts val="125"/>
              </a:spcBef>
              <a:buAutoNum type="arabicPeriod"/>
              <a:tabLst>
                <a:tab pos="527050" algn="l"/>
              </a:tabLst>
            </a:pPr>
            <a:r>
              <a:rPr dirty="0" sz="1150" spc="-65">
                <a:latin typeface="Calibri"/>
                <a:cs typeface="Calibri"/>
              </a:rPr>
              <a:t>Which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 spc="-65">
                <a:latin typeface="Calibri"/>
                <a:cs typeface="Calibri"/>
              </a:rPr>
              <a:t>of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 spc="-50">
                <a:latin typeface="Calibri"/>
                <a:cs typeface="Calibri"/>
              </a:rPr>
              <a:t>the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 spc="-50">
                <a:latin typeface="Calibri"/>
                <a:cs typeface="Calibri"/>
              </a:rPr>
              <a:t>following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 spc="-55">
                <a:latin typeface="Calibri"/>
                <a:cs typeface="Calibri"/>
              </a:rPr>
              <a:t>are</a:t>
            </a:r>
            <a:r>
              <a:rPr dirty="0" sz="1150" spc="-40">
                <a:latin typeface="Calibri"/>
                <a:cs typeface="Calibri"/>
              </a:rPr>
              <a:t> </a:t>
            </a:r>
            <a:r>
              <a:rPr dirty="0" sz="1150" spc="-45">
                <a:latin typeface="Calibri"/>
                <a:cs typeface="Calibri"/>
              </a:rPr>
              <a:t>prime</a:t>
            </a:r>
            <a:r>
              <a:rPr dirty="0" sz="1150" spc="4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numbers</a:t>
            </a:r>
            <a:endParaRPr sz="1150">
              <a:latin typeface="Calibri"/>
              <a:cs typeface="Calibri"/>
            </a:endParaRPr>
          </a:p>
          <a:p>
            <a:pPr marL="528320">
              <a:lnSpc>
                <a:spcPct val="100000"/>
              </a:lnSpc>
              <a:spcBef>
                <a:spcPts val="295"/>
              </a:spcBef>
              <a:tabLst>
                <a:tab pos="1044575" algn="l"/>
                <a:tab pos="1732914" algn="l"/>
                <a:tab pos="2599055" algn="l"/>
              </a:tabLst>
            </a:pPr>
            <a:r>
              <a:rPr dirty="0" sz="1050">
                <a:solidFill>
                  <a:srgbClr val="382DA3"/>
                </a:solidFill>
                <a:latin typeface="Calibri"/>
                <a:cs typeface="Calibri"/>
              </a:rPr>
              <a:t>(a)</a:t>
            </a:r>
            <a:r>
              <a:rPr dirty="0" sz="1050" spc="30">
                <a:solidFill>
                  <a:srgbClr val="382DA3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261AED"/>
                </a:solidFill>
                <a:latin typeface="Calibri"/>
                <a:cs typeface="Calibri"/>
              </a:rPr>
              <a:t>2</a:t>
            </a:r>
            <a:r>
              <a:rPr dirty="0" sz="1050">
                <a:solidFill>
                  <a:srgbClr val="261AED"/>
                </a:solidFill>
                <a:latin typeface="Calibri"/>
                <a:cs typeface="Calibri"/>
              </a:rPr>
              <a:t>	</a:t>
            </a:r>
            <a:r>
              <a:rPr dirty="0" sz="1050">
                <a:solidFill>
                  <a:srgbClr val="161CA8"/>
                </a:solidFill>
                <a:latin typeface="Calibri"/>
                <a:cs typeface="Calibri"/>
              </a:rPr>
              <a:t>(b)</a:t>
            </a:r>
            <a:r>
              <a:rPr dirty="0" sz="1050" spc="35">
                <a:solidFill>
                  <a:srgbClr val="161CA8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0E11D4"/>
                </a:solidFill>
                <a:latin typeface="Calibri"/>
                <a:cs typeface="Calibri"/>
              </a:rPr>
              <a:t>3</a:t>
            </a:r>
            <a:r>
              <a:rPr dirty="0" sz="1050">
                <a:solidFill>
                  <a:srgbClr val="0E11D4"/>
                </a:solidFill>
                <a:latin typeface="Calibri"/>
                <a:cs typeface="Calibri"/>
              </a:rPr>
              <a:t>	</a:t>
            </a:r>
            <a:r>
              <a:rPr dirty="0" sz="1050">
                <a:solidFill>
                  <a:srgbClr val="232BC8"/>
                </a:solidFill>
                <a:latin typeface="Calibri"/>
                <a:cs typeface="Calibri"/>
              </a:rPr>
              <a:t>(c) </a:t>
            </a:r>
            <a:r>
              <a:rPr dirty="0" sz="1050" spc="-25">
                <a:solidFill>
                  <a:srgbClr val="1626ED"/>
                </a:solidFill>
                <a:latin typeface="Calibri"/>
                <a:cs typeface="Calibri"/>
              </a:rPr>
              <a:t>10</a:t>
            </a:r>
            <a:r>
              <a:rPr dirty="0" sz="1050">
                <a:solidFill>
                  <a:srgbClr val="1626ED"/>
                </a:solidFill>
                <a:latin typeface="Calibri"/>
                <a:cs typeface="Calibri"/>
              </a:rPr>
              <a:t>	</a:t>
            </a:r>
            <a:r>
              <a:rPr dirty="0" sz="1050">
                <a:solidFill>
                  <a:srgbClr val="262DC3"/>
                </a:solidFill>
                <a:latin typeface="Calibri"/>
                <a:cs typeface="Calibri"/>
              </a:rPr>
              <a:t>(d)</a:t>
            </a:r>
            <a:r>
              <a:rPr dirty="0" sz="1050" spc="-5">
                <a:solidFill>
                  <a:srgbClr val="262DC3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0A23DF"/>
                </a:solidFill>
                <a:latin typeface="Calibri"/>
                <a:cs typeface="Calibri"/>
              </a:rPr>
              <a:t>15</a:t>
            </a:r>
            <a:endParaRPr sz="1050">
              <a:latin typeface="Calibri"/>
              <a:cs typeface="Calibri"/>
            </a:endParaRPr>
          </a:p>
          <a:p>
            <a:pPr marL="192405" indent="-179705">
              <a:lnSpc>
                <a:spcPct val="100000"/>
              </a:lnSpc>
              <a:spcBef>
                <a:spcPts val="260"/>
              </a:spcBef>
              <a:buChar char="•"/>
              <a:tabLst>
                <a:tab pos="192405" algn="l"/>
              </a:tabLst>
            </a:pPr>
            <a:r>
              <a:rPr dirty="0" u="heavy" sz="12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Another</a:t>
            </a:r>
            <a:r>
              <a:rPr dirty="0" u="heavy" sz="1200" spc="-3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12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common</a:t>
            </a:r>
            <a:r>
              <a:rPr dirty="0" u="heavy" sz="1200" spc="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12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error</a:t>
            </a:r>
            <a:r>
              <a:rPr dirty="0" sz="1200">
                <a:latin typeface="Calibri"/>
                <a:cs typeface="Calibri"/>
              </a:rPr>
              <a:t>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giving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correct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MCQ</a:t>
            </a:r>
            <a:endParaRPr sz="1200">
              <a:latin typeface="Calibri"/>
              <a:cs typeface="Calibri"/>
            </a:endParaRPr>
          </a:p>
          <a:p>
            <a:pPr marL="197485">
              <a:lnSpc>
                <a:spcPct val="100000"/>
              </a:lnSpc>
              <a:spcBef>
                <a:spcPts val="285"/>
              </a:spcBef>
              <a:tabLst>
                <a:tab pos="527050" algn="l"/>
              </a:tabLst>
            </a:pPr>
            <a:r>
              <a:rPr dirty="0" sz="1050" spc="-25">
                <a:latin typeface="Calibri"/>
                <a:cs typeface="Calibri"/>
              </a:rPr>
              <a:t>2.</a:t>
            </a:r>
            <a:r>
              <a:rPr dirty="0" sz="1050">
                <a:latin typeface="Calibri"/>
                <a:cs typeface="Calibri"/>
              </a:rPr>
              <a:t>	Which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of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following</a:t>
            </a:r>
            <a:r>
              <a:rPr dirty="0" sz="1050" spc="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are</a:t>
            </a:r>
            <a:r>
              <a:rPr dirty="0" sz="1050" spc="-7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prime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numbers</a:t>
            </a:r>
            <a:endParaRPr sz="1050">
              <a:latin typeface="Calibri"/>
              <a:cs typeface="Calibri"/>
            </a:endParaRPr>
          </a:p>
          <a:p>
            <a:pPr marL="528320">
              <a:lnSpc>
                <a:spcPct val="100000"/>
              </a:lnSpc>
              <a:spcBef>
                <a:spcPts val="220"/>
              </a:spcBef>
              <a:tabLst>
                <a:tab pos="1044575" algn="l"/>
                <a:tab pos="1732914" algn="l"/>
                <a:tab pos="2599055" algn="l"/>
              </a:tabLst>
            </a:pPr>
            <a:r>
              <a:rPr dirty="0" sz="1050">
                <a:solidFill>
                  <a:srgbClr val="38369A"/>
                </a:solidFill>
                <a:latin typeface="Calibri"/>
                <a:cs typeface="Calibri"/>
              </a:rPr>
              <a:t>(a)</a:t>
            </a:r>
            <a:r>
              <a:rPr dirty="0" sz="1050" spc="20">
                <a:solidFill>
                  <a:srgbClr val="38369A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1F28DF"/>
                </a:solidFill>
                <a:latin typeface="Calibri"/>
                <a:cs typeface="Calibri"/>
              </a:rPr>
              <a:t>4</a:t>
            </a:r>
            <a:r>
              <a:rPr dirty="0" sz="1050">
                <a:solidFill>
                  <a:srgbClr val="1F28DF"/>
                </a:solidFill>
                <a:latin typeface="Calibri"/>
                <a:cs typeface="Calibri"/>
              </a:rPr>
              <a:t>	</a:t>
            </a:r>
            <a:r>
              <a:rPr dirty="0" sz="1050">
                <a:solidFill>
                  <a:srgbClr val="2326C8"/>
                </a:solidFill>
                <a:latin typeface="Calibri"/>
                <a:cs typeface="Calibri"/>
              </a:rPr>
              <a:t>(b)</a:t>
            </a:r>
            <a:r>
              <a:rPr dirty="0" sz="1050" spc="35">
                <a:solidFill>
                  <a:srgbClr val="2326C8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132DCD"/>
                </a:solidFill>
                <a:latin typeface="Calibri"/>
                <a:cs typeface="Calibri"/>
              </a:rPr>
              <a:t>6</a:t>
            </a:r>
            <a:r>
              <a:rPr dirty="0" sz="1050">
                <a:solidFill>
                  <a:srgbClr val="132DCD"/>
                </a:solidFill>
                <a:latin typeface="Calibri"/>
                <a:cs typeface="Calibri"/>
              </a:rPr>
              <a:t>	</a:t>
            </a:r>
            <a:r>
              <a:rPr dirty="0" sz="1050">
                <a:solidFill>
                  <a:srgbClr val="1C1FC8"/>
                </a:solidFill>
                <a:latin typeface="Calibri"/>
                <a:cs typeface="Calibri"/>
              </a:rPr>
              <a:t>(c) </a:t>
            </a:r>
            <a:r>
              <a:rPr dirty="0" sz="1050" spc="-25">
                <a:solidFill>
                  <a:srgbClr val="071DE6"/>
                </a:solidFill>
                <a:latin typeface="Calibri"/>
                <a:cs typeface="Calibri"/>
              </a:rPr>
              <a:t>10</a:t>
            </a:r>
            <a:r>
              <a:rPr dirty="0" sz="1050">
                <a:solidFill>
                  <a:srgbClr val="071DE6"/>
                </a:solidFill>
                <a:latin typeface="Calibri"/>
                <a:cs typeface="Calibri"/>
              </a:rPr>
              <a:t>	</a:t>
            </a:r>
            <a:r>
              <a:rPr dirty="0" sz="1050">
                <a:solidFill>
                  <a:srgbClr val="1C1CDA"/>
                </a:solidFill>
                <a:latin typeface="Calibri"/>
                <a:cs typeface="Calibri"/>
              </a:rPr>
              <a:t>(d) </a:t>
            </a:r>
            <a:r>
              <a:rPr dirty="0" sz="1050" spc="-25">
                <a:solidFill>
                  <a:srgbClr val="071FF6"/>
                </a:solidFill>
                <a:latin typeface="Calibri"/>
                <a:cs typeface="Calibri"/>
              </a:rPr>
              <a:t>1S</a:t>
            </a:r>
            <a:endParaRPr sz="1050">
              <a:latin typeface="Calibri"/>
              <a:cs typeface="Calibri"/>
            </a:endParaRPr>
          </a:p>
          <a:p>
            <a:pPr marL="191770">
              <a:lnSpc>
                <a:spcPct val="100000"/>
              </a:lnSpc>
              <a:spcBef>
                <a:spcPts val="305"/>
              </a:spcBef>
            </a:pPr>
            <a:r>
              <a:rPr dirty="0" sz="1200">
                <a:solidFill>
                  <a:srgbClr val="267C26"/>
                </a:solidFill>
                <a:latin typeface="Calibri"/>
                <a:cs typeface="Calibri"/>
              </a:rPr>
              <a:t>Please</a:t>
            </a:r>
            <a:r>
              <a:rPr dirty="0" sz="1200" spc="20">
                <a:solidFill>
                  <a:srgbClr val="267C2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D7521"/>
                </a:solidFill>
                <a:latin typeface="Calibri"/>
                <a:cs typeface="Calibri"/>
              </a:rPr>
              <a:t>get</a:t>
            </a:r>
            <a:r>
              <a:rPr dirty="0" sz="1200" spc="-30">
                <a:solidFill>
                  <a:srgbClr val="1D75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7923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1C792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68726"/>
                </a:solidFill>
                <a:latin typeface="Calibri"/>
                <a:cs typeface="Calibri"/>
              </a:rPr>
              <a:t>questions</a:t>
            </a:r>
            <a:r>
              <a:rPr dirty="0" sz="1200" spc="25">
                <a:solidFill>
                  <a:srgbClr val="268726"/>
                </a:solidFill>
                <a:latin typeface="Calibri"/>
                <a:cs typeface="Calibri"/>
              </a:rPr>
              <a:t> </a:t>
            </a:r>
            <a:r>
              <a:rPr dirty="0" u="heavy" sz="1200" spc="-10">
                <a:solidFill>
                  <a:srgbClr val="3B6944"/>
                </a:solidFill>
                <a:uFill>
                  <a:solidFill>
                    <a:srgbClr val="1C701F"/>
                  </a:solidFill>
                </a:uFill>
                <a:latin typeface="Calibri"/>
                <a:cs typeface="Calibri"/>
              </a:rPr>
              <a:t>independently</a:t>
            </a:r>
            <a:r>
              <a:rPr dirty="0" sz="1200" spc="25">
                <a:solidFill>
                  <a:srgbClr val="3B694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8701A"/>
                </a:solidFill>
                <a:latin typeface="Calibri"/>
                <a:cs typeface="Calibri"/>
              </a:rPr>
              <a:t>verified</a:t>
            </a:r>
            <a:r>
              <a:rPr dirty="0" sz="1200" spc="-10">
                <a:solidFill>
                  <a:srgbClr val="18701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7C31"/>
                </a:solidFill>
                <a:latin typeface="Calibri"/>
                <a:cs typeface="Calibri"/>
              </a:rPr>
              <a:t>by</a:t>
            </a:r>
            <a:r>
              <a:rPr dirty="0" sz="1200" spc="-5">
                <a:solidFill>
                  <a:srgbClr val="217C3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F602B"/>
                </a:solidFill>
                <a:latin typeface="Calibri"/>
                <a:cs typeface="Calibri"/>
              </a:rPr>
              <a:t>a</a:t>
            </a:r>
            <a:r>
              <a:rPr dirty="0" sz="1200" spc="-30">
                <a:solidFill>
                  <a:srgbClr val="2F602B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0C7C08"/>
                </a:solidFill>
                <a:latin typeface="Calibri"/>
                <a:cs typeface="Calibri"/>
              </a:rPr>
              <a:t>TA.</a:t>
            </a:r>
            <a:endParaRPr sz="1200">
              <a:latin typeface="Calibri"/>
              <a:cs typeface="Calibri"/>
            </a:endParaRPr>
          </a:p>
          <a:p>
            <a:pPr marL="192405" marR="238125">
              <a:lnSpc>
                <a:spcPts val="1110"/>
              </a:lnSpc>
              <a:spcBef>
                <a:spcPts val="495"/>
              </a:spcBef>
            </a:pPr>
            <a:r>
              <a:rPr dirty="0" sz="1100" spc="-20">
                <a:latin typeface="Calibri"/>
                <a:cs typeface="Calibri"/>
              </a:rPr>
              <a:t>For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35">
                <a:latin typeface="Calibri"/>
                <a:cs typeface="Calibri"/>
              </a:rPr>
              <a:t>example,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if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-60">
                <a:latin typeface="Calibri"/>
                <a:cs typeface="Calibri"/>
              </a:rPr>
              <a:t>TA-</a:t>
            </a:r>
            <a:r>
              <a:rPr dirty="0" sz="1100">
                <a:latin typeface="Calibri"/>
                <a:cs typeface="Calibri"/>
              </a:rPr>
              <a:t>1 </a:t>
            </a:r>
            <a:r>
              <a:rPr dirty="0" sz="1100" spc="-30">
                <a:latin typeface="Calibri"/>
                <a:cs typeface="Calibri"/>
              </a:rPr>
              <a:t>has </a:t>
            </a:r>
            <a:r>
              <a:rPr dirty="0" sz="1100" spc="-10">
                <a:latin typeface="Calibri"/>
                <a:cs typeface="Calibri"/>
              </a:rPr>
              <a:t>not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 spc="-35">
                <a:latin typeface="Calibri"/>
                <a:cs typeface="Calibri"/>
              </a:rPr>
              <a:t>formulated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the </a:t>
            </a:r>
            <a:r>
              <a:rPr dirty="0" sz="1100" spc="-25">
                <a:latin typeface="Calibri"/>
                <a:cs typeface="Calibri"/>
              </a:rPr>
              <a:t>questions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and/or </a:t>
            </a:r>
            <a:r>
              <a:rPr dirty="0" sz="1100" spc="-35">
                <a:latin typeface="Calibri"/>
                <a:cs typeface="Calibri"/>
              </a:rPr>
              <a:t>configured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40">
                <a:latin typeface="Calibri"/>
                <a:cs typeface="Calibri"/>
              </a:rPr>
              <a:t>NPTEL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website,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then ask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60">
                <a:latin typeface="Calibri"/>
                <a:cs typeface="Calibri"/>
              </a:rPr>
              <a:t>TA-</a:t>
            </a:r>
            <a:r>
              <a:rPr dirty="0" sz="1100">
                <a:latin typeface="Calibri"/>
                <a:cs typeface="Calibri"/>
              </a:rPr>
              <a:t>1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60">
                <a:latin typeface="Calibri"/>
                <a:cs typeface="Calibri"/>
              </a:rPr>
              <a:t> </a:t>
            </a:r>
            <a:r>
              <a:rPr dirty="0" sz="1100" spc="-30">
                <a:latin typeface="Calibri"/>
                <a:cs typeface="Calibri"/>
              </a:rPr>
              <a:t>solve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30">
                <a:latin typeface="Calibri"/>
                <a:cs typeface="Calibri"/>
              </a:rPr>
              <a:t>verify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 spc="-35">
                <a:latin typeface="Calibri"/>
                <a:cs typeface="Calibri"/>
              </a:rPr>
              <a:t>answers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NPTEL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website.</a:t>
            </a:r>
            <a:endParaRPr sz="11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1040"/>
              </a:spcBef>
              <a:buChar char="•"/>
              <a:tabLst>
                <a:tab pos="187325" algn="l"/>
              </a:tabLst>
            </a:pPr>
            <a:r>
              <a:rPr dirty="0" u="heavy" sz="12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Please</a:t>
            </a:r>
            <a:r>
              <a:rPr dirty="0" u="heavy" sz="12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avoid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excessive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"none/all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above"</a:t>
            </a:r>
            <a:endParaRPr sz="1200">
              <a:latin typeface="Calibri"/>
              <a:cs typeface="Calibri"/>
            </a:endParaRPr>
          </a:p>
          <a:p>
            <a:pPr lvl="1" marL="527050" indent="-334645">
              <a:lnSpc>
                <a:spcPct val="100000"/>
              </a:lnSpc>
              <a:spcBef>
                <a:spcPts val="240"/>
              </a:spcBef>
              <a:buAutoNum type="arabicPeriod" startAt="3"/>
              <a:tabLst>
                <a:tab pos="527050" algn="l"/>
              </a:tabLst>
            </a:pPr>
            <a:r>
              <a:rPr dirty="0" sz="1050">
                <a:latin typeface="Calibri"/>
                <a:cs typeface="Calibri"/>
              </a:rPr>
              <a:t>Which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of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following</a:t>
            </a:r>
            <a:r>
              <a:rPr dirty="0" sz="1050" spc="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are</a:t>
            </a:r>
            <a:r>
              <a:rPr dirty="0" sz="1050" spc="-7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prime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numbers</a:t>
            </a:r>
            <a:endParaRPr sz="1050">
              <a:latin typeface="Calibri"/>
              <a:cs typeface="Calibri"/>
            </a:endParaRPr>
          </a:p>
          <a:p>
            <a:pPr marL="528320">
              <a:lnSpc>
                <a:spcPct val="100000"/>
              </a:lnSpc>
              <a:spcBef>
                <a:spcPts val="265"/>
              </a:spcBef>
              <a:tabLst>
                <a:tab pos="1044575" algn="l"/>
                <a:tab pos="1732914" algn="l"/>
              </a:tabLst>
            </a:pPr>
            <a:r>
              <a:rPr dirty="0" sz="1050">
                <a:solidFill>
                  <a:srgbClr val="3A36A0"/>
                </a:solidFill>
                <a:latin typeface="Calibri"/>
                <a:cs typeface="Calibri"/>
              </a:rPr>
              <a:t>(a)</a:t>
            </a:r>
            <a:r>
              <a:rPr dirty="0" sz="1050" spc="30">
                <a:solidFill>
                  <a:srgbClr val="3A36A0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1F21B6"/>
                </a:solidFill>
                <a:latin typeface="Calibri"/>
                <a:cs typeface="Calibri"/>
              </a:rPr>
              <a:t>2</a:t>
            </a:r>
            <a:r>
              <a:rPr dirty="0" sz="1050">
                <a:solidFill>
                  <a:srgbClr val="1F21B6"/>
                </a:solidFill>
                <a:latin typeface="Calibri"/>
                <a:cs typeface="Calibri"/>
              </a:rPr>
              <a:t>	</a:t>
            </a:r>
            <a:r>
              <a:rPr dirty="0" sz="1050">
                <a:solidFill>
                  <a:srgbClr val="1C1FB8"/>
                </a:solidFill>
                <a:latin typeface="Calibri"/>
                <a:cs typeface="Calibri"/>
              </a:rPr>
              <a:t>(b)</a:t>
            </a:r>
            <a:r>
              <a:rPr dirty="0" sz="1050" spc="35">
                <a:solidFill>
                  <a:srgbClr val="1C1FB8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1D21DF"/>
                </a:solidFill>
                <a:latin typeface="Calibri"/>
                <a:cs typeface="Calibri"/>
              </a:rPr>
              <a:t>3</a:t>
            </a:r>
            <a:r>
              <a:rPr dirty="0" sz="1050">
                <a:solidFill>
                  <a:srgbClr val="1D21DF"/>
                </a:solidFill>
                <a:latin typeface="Calibri"/>
                <a:cs typeface="Calibri"/>
              </a:rPr>
              <a:t>	</a:t>
            </a:r>
            <a:r>
              <a:rPr dirty="0" sz="1050">
                <a:solidFill>
                  <a:srgbClr val="1C16B1"/>
                </a:solidFill>
                <a:latin typeface="Calibri"/>
                <a:cs typeface="Calibri"/>
              </a:rPr>
              <a:t>(c)</a:t>
            </a:r>
            <a:r>
              <a:rPr dirty="0" sz="1050" spc="-25">
                <a:solidFill>
                  <a:srgbClr val="1C16B1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F21E4"/>
                </a:solidFill>
                <a:latin typeface="Calibri"/>
                <a:cs typeface="Calibri"/>
              </a:rPr>
              <a:t>All </a:t>
            </a:r>
            <a:r>
              <a:rPr dirty="0" sz="1050">
                <a:solidFill>
                  <a:srgbClr val="1A1CBF"/>
                </a:solidFill>
                <a:latin typeface="Calibri"/>
                <a:cs typeface="Calibri"/>
              </a:rPr>
              <a:t>of</a:t>
            </a:r>
            <a:r>
              <a:rPr dirty="0" sz="1050" spc="15">
                <a:solidFill>
                  <a:srgbClr val="1A1CB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23E6"/>
                </a:solidFill>
                <a:latin typeface="Calibri"/>
                <a:cs typeface="Calibri"/>
              </a:rPr>
              <a:t>the</a:t>
            </a:r>
            <a:r>
              <a:rPr dirty="0" sz="1050" spc="40">
                <a:solidFill>
                  <a:srgbClr val="1A23E6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D2BE4"/>
                </a:solidFill>
                <a:latin typeface="Calibri"/>
                <a:cs typeface="Calibri"/>
              </a:rPr>
              <a:t>above</a:t>
            </a:r>
            <a:r>
              <a:rPr dirty="0" sz="1050" spc="265">
                <a:solidFill>
                  <a:srgbClr val="1D2BE4"/>
                </a:solidFill>
                <a:latin typeface="Calibri"/>
                <a:cs typeface="Calibri"/>
              </a:rPr>
              <a:t>  </a:t>
            </a:r>
            <a:r>
              <a:rPr dirty="0" sz="1050">
                <a:solidFill>
                  <a:srgbClr val="2B28A0"/>
                </a:solidFill>
                <a:latin typeface="Calibri"/>
                <a:cs typeface="Calibri"/>
              </a:rPr>
              <a:t>(d)</a:t>
            </a:r>
            <a:r>
              <a:rPr dirty="0" sz="1050" spc="20">
                <a:solidFill>
                  <a:srgbClr val="2B28A0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0E1CC6"/>
                </a:solidFill>
                <a:latin typeface="Calibri"/>
                <a:cs typeface="Calibri"/>
              </a:rPr>
              <a:t>None</a:t>
            </a:r>
            <a:endParaRPr sz="1050">
              <a:latin typeface="Calibri"/>
              <a:cs typeface="Calibri"/>
            </a:endParaRPr>
          </a:p>
          <a:p>
            <a:pPr marL="193040">
              <a:lnSpc>
                <a:spcPct val="100000"/>
              </a:lnSpc>
              <a:spcBef>
                <a:spcPts val="685"/>
              </a:spcBef>
            </a:pPr>
            <a:r>
              <a:rPr dirty="0" sz="1100">
                <a:solidFill>
                  <a:srgbClr val="1A7B2A"/>
                </a:solidFill>
                <a:latin typeface="Calibri"/>
                <a:cs typeface="Calibri"/>
              </a:rPr>
              <a:t>Use</a:t>
            </a:r>
            <a:r>
              <a:rPr dirty="0" sz="1100" spc="180">
                <a:solidFill>
                  <a:srgbClr val="1A7B2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85D2D"/>
                </a:solidFill>
                <a:latin typeface="Calibri"/>
                <a:cs typeface="Calibri"/>
              </a:rPr>
              <a:t>"All"</a:t>
            </a:r>
            <a:r>
              <a:rPr dirty="0" sz="1100" spc="114">
                <a:solidFill>
                  <a:srgbClr val="285D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D752F"/>
                </a:solidFill>
                <a:latin typeface="Calibri"/>
                <a:cs typeface="Calibri"/>
              </a:rPr>
              <a:t>or</a:t>
            </a:r>
            <a:r>
              <a:rPr dirty="0" sz="1100" spc="140">
                <a:solidFill>
                  <a:srgbClr val="2D752F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346E34"/>
                </a:solidFill>
                <a:latin typeface="Calibri"/>
                <a:cs typeface="Calibri"/>
              </a:rPr>
              <a:t>"None"</a:t>
            </a:r>
            <a:r>
              <a:rPr dirty="0" sz="1100" spc="195">
                <a:solidFill>
                  <a:srgbClr val="346E3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6626"/>
                </a:solidFill>
                <a:latin typeface="Calibri"/>
                <a:cs typeface="Calibri"/>
              </a:rPr>
              <a:t>only</a:t>
            </a:r>
            <a:r>
              <a:rPr dirty="0" sz="1100" spc="190">
                <a:solidFill>
                  <a:srgbClr val="21662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68E2A"/>
                </a:solidFill>
                <a:latin typeface="Calibri"/>
                <a:cs typeface="Calibri"/>
              </a:rPr>
              <a:t>for</a:t>
            </a:r>
            <a:r>
              <a:rPr dirty="0" sz="1100" spc="140">
                <a:solidFill>
                  <a:srgbClr val="168E2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86926"/>
                </a:solidFill>
                <a:latin typeface="Calibri"/>
                <a:cs typeface="Calibri"/>
              </a:rPr>
              <a:t>pedagogical</a:t>
            </a:r>
            <a:r>
              <a:rPr dirty="0" sz="1100" spc="250">
                <a:solidFill>
                  <a:srgbClr val="186926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D6234"/>
                </a:solidFill>
                <a:latin typeface="Calibri"/>
                <a:cs typeface="Calibri"/>
              </a:rPr>
              <a:t>reasons.</a:t>
            </a:r>
            <a:endParaRPr sz="1100">
              <a:latin typeface="Calibri"/>
              <a:cs typeface="Calibri"/>
            </a:endParaRPr>
          </a:p>
          <a:p>
            <a:pPr lvl="2" marL="410209" indent="-211454">
              <a:lnSpc>
                <a:spcPct val="100000"/>
              </a:lnSpc>
              <a:spcBef>
                <a:spcPts val="310"/>
              </a:spcBef>
              <a:buChar char="•"/>
              <a:tabLst>
                <a:tab pos="410209" algn="l"/>
              </a:tabLst>
            </a:pPr>
            <a:r>
              <a:rPr dirty="0" sz="1000">
                <a:latin typeface="Calibri"/>
                <a:cs typeface="Calibri"/>
              </a:rPr>
              <a:t>Avoid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using</a:t>
            </a:r>
            <a:r>
              <a:rPr dirty="0" sz="1000" spc="1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"AND"</a:t>
            </a:r>
            <a:r>
              <a:rPr dirty="0" sz="1000" spc="114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 spc="55">
                <a:latin typeface="Calibri"/>
                <a:cs typeface="Calibri"/>
              </a:rPr>
              <a:t>"None"</a:t>
            </a:r>
            <a:r>
              <a:rPr dirty="0" sz="1000" spc="1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same</a:t>
            </a:r>
            <a:r>
              <a:rPr dirty="0" sz="1000" spc="5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question</a:t>
            </a:r>
            <a:endParaRPr sz="1000">
              <a:latin typeface="Calibri"/>
              <a:cs typeface="Calibri"/>
            </a:endParaRPr>
          </a:p>
          <a:p>
            <a:pPr lvl="2" marL="410209" indent="-211454">
              <a:lnSpc>
                <a:spcPct val="100000"/>
              </a:lnSpc>
              <a:spcBef>
                <a:spcPts val="330"/>
              </a:spcBef>
              <a:buChar char="•"/>
              <a:tabLst>
                <a:tab pos="410209" algn="l"/>
              </a:tabLst>
            </a:pPr>
            <a:r>
              <a:rPr dirty="0" sz="1000">
                <a:latin typeface="Calibri"/>
                <a:cs typeface="Calibri"/>
              </a:rPr>
              <a:t>Avoid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using</a:t>
            </a:r>
            <a:r>
              <a:rPr dirty="0" sz="1000" spc="1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it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when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you</a:t>
            </a:r>
            <a:r>
              <a:rPr dirty="0" sz="1000" spc="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don't</a:t>
            </a:r>
            <a:r>
              <a:rPr dirty="0" sz="1000" spc="10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have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good</a:t>
            </a:r>
            <a:r>
              <a:rPr dirty="0" sz="1000" spc="1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third/fourth</a:t>
            </a:r>
            <a:r>
              <a:rPr dirty="0" sz="1000" spc="19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choice</a:t>
            </a:r>
            <a:endParaRPr sz="10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1010"/>
              </a:spcBef>
              <a:buChar char="•"/>
              <a:tabLst>
                <a:tab pos="187325" algn="l"/>
              </a:tabLst>
            </a:pPr>
            <a:r>
              <a:rPr dirty="0" u="heavy" sz="12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Numerical</a:t>
            </a:r>
            <a:r>
              <a:rPr dirty="0" u="heavy" sz="1200" spc="5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12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questions: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Prefer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giving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range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possible</a:t>
            </a:r>
            <a:endParaRPr sz="12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  <a:spcBef>
                <a:spcPts val="284"/>
              </a:spcBef>
              <a:tabLst>
                <a:tab pos="524510" algn="l"/>
              </a:tabLst>
            </a:pPr>
            <a:r>
              <a:rPr dirty="0" sz="1050" spc="-25">
                <a:latin typeface="Calibri"/>
                <a:cs typeface="Calibri"/>
              </a:rPr>
              <a:t>4.</a:t>
            </a:r>
            <a:r>
              <a:rPr dirty="0" sz="1050">
                <a:latin typeface="Calibri"/>
                <a:cs typeface="Calibri"/>
              </a:rPr>
              <a:t>	The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value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of</a:t>
            </a:r>
            <a:r>
              <a:rPr dirty="0" sz="1050" spc="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sin(n) </a:t>
            </a:r>
            <a:r>
              <a:rPr dirty="0" sz="1050" spc="-25">
                <a:latin typeface="Calibri"/>
                <a:cs typeface="Calibri"/>
              </a:rPr>
              <a:t>is</a:t>
            </a:r>
            <a:endParaRPr sz="1050">
              <a:latin typeface="Calibri"/>
              <a:cs typeface="Calibri"/>
            </a:endParaRPr>
          </a:p>
          <a:p>
            <a:pPr marL="196850" marR="262890" indent="1053465">
              <a:lnSpc>
                <a:spcPct val="117700"/>
              </a:lnSpc>
            </a:pPr>
            <a:r>
              <a:rPr dirty="0" sz="1050">
                <a:solidFill>
                  <a:srgbClr val="212FC4"/>
                </a:solidFill>
                <a:latin typeface="Calibri"/>
                <a:cs typeface="Calibri"/>
              </a:rPr>
              <a:t>0</a:t>
            </a:r>
            <a:r>
              <a:rPr dirty="0" sz="1050" spc="235">
                <a:solidFill>
                  <a:srgbClr val="212FC4"/>
                </a:solidFill>
                <a:latin typeface="Calibri"/>
                <a:cs typeface="Calibri"/>
              </a:rPr>
              <a:t>  </a:t>
            </a:r>
            <a:r>
              <a:rPr dirty="0" sz="1050">
                <a:latin typeface="Calibri"/>
                <a:cs typeface="Calibri"/>
              </a:rPr>
              <a:t>(Avoid,</a:t>
            </a:r>
            <a:r>
              <a:rPr dirty="0" sz="1050" spc="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as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sin(3.1415)</a:t>
            </a:r>
            <a:r>
              <a:rPr dirty="0" sz="1050" spc="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in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calculator</a:t>
            </a:r>
            <a:r>
              <a:rPr dirty="0" sz="1050" spc="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is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not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 spc="-25">
                <a:latin typeface="Calibri"/>
                <a:cs typeface="Calibri"/>
              </a:rPr>
              <a:t>0) </a:t>
            </a:r>
            <a:r>
              <a:rPr dirty="0" sz="1050">
                <a:solidFill>
                  <a:srgbClr val="11751A"/>
                </a:solidFill>
                <a:latin typeface="Calibri"/>
                <a:cs typeface="Calibri"/>
              </a:rPr>
              <a:t>Ans.</a:t>
            </a:r>
            <a:r>
              <a:rPr dirty="0" sz="1050" spc="140">
                <a:solidFill>
                  <a:srgbClr val="11751A"/>
                </a:solidFill>
                <a:latin typeface="Calibri"/>
                <a:cs typeface="Calibri"/>
              </a:rPr>
              <a:t>  </a:t>
            </a:r>
            <a:r>
              <a:rPr dirty="0" sz="1050">
                <a:solidFill>
                  <a:srgbClr val="13620F"/>
                </a:solidFill>
                <a:latin typeface="Calibri"/>
                <a:cs typeface="Calibri"/>
              </a:rPr>
              <a:t>Range:</a:t>
            </a:r>
            <a:r>
              <a:rPr dirty="0" sz="1050" spc="180">
                <a:solidFill>
                  <a:srgbClr val="13620F"/>
                </a:solidFill>
                <a:latin typeface="Calibri"/>
                <a:cs typeface="Calibri"/>
              </a:rPr>
              <a:t>  </a:t>
            </a:r>
            <a:r>
              <a:rPr dirty="0" sz="1050" spc="-100">
                <a:solidFill>
                  <a:srgbClr val="212AE4"/>
                </a:solidFill>
                <a:latin typeface="Calibri"/>
                <a:cs typeface="Calibri"/>
              </a:rPr>
              <a:t>—</a:t>
            </a:r>
            <a:r>
              <a:rPr dirty="0" sz="1050" spc="-50">
                <a:solidFill>
                  <a:srgbClr val="212AE4"/>
                </a:solidFill>
                <a:latin typeface="Calibri"/>
                <a:cs typeface="Calibri"/>
              </a:rPr>
              <a:t>0.001,</a:t>
            </a:r>
            <a:r>
              <a:rPr dirty="0" sz="1050" spc="-10">
                <a:solidFill>
                  <a:srgbClr val="212AE4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C28E2"/>
                </a:solidFill>
                <a:latin typeface="Calibri"/>
                <a:cs typeface="Calibri"/>
              </a:rPr>
              <a:t>0.001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89534" y="412327"/>
            <a:ext cx="4095750" cy="466344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93040" indent="-142875">
              <a:lnSpc>
                <a:spcPct val="100000"/>
              </a:lnSpc>
              <a:spcBef>
                <a:spcPts val="570"/>
              </a:spcBef>
            </a:pPr>
            <a:r>
              <a:rPr dirty="0" sz="1350" b="1">
                <a:latin typeface="Calibri"/>
                <a:cs typeface="Calibri"/>
              </a:rPr>
              <a:t>Things</a:t>
            </a:r>
            <a:r>
              <a:rPr dirty="0" sz="1350" spc="5" b="1">
                <a:latin typeface="Calibri"/>
                <a:cs typeface="Calibri"/>
              </a:rPr>
              <a:t> </a:t>
            </a:r>
            <a:r>
              <a:rPr dirty="0" sz="1350" b="1">
                <a:latin typeface="Calibri"/>
                <a:cs typeface="Calibri"/>
              </a:rPr>
              <a:t>to</a:t>
            </a:r>
            <a:r>
              <a:rPr dirty="0" sz="1350" spc="-35" b="1">
                <a:latin typeface="Calibri"/>
                <a:cs typeface="Calibri"/>
              </a:rPr>
              <a:t> </a:t>
            </a:r>
            <a:r>
              <a:rPr dirty="0" sz="1350" spc="-10" b="1">
                <a:latin typeface="Calibri"/>
                <a:cs typeface="Calibri"/>
              </a:rPr>
              <a:t>Avoid</a:t>
            </a:r>
            <a:r>
              <a:rPr dirty="0" sz="1350" spc="15" b="1">
                <a:latin typeface="Calibri"/>
                <a:cs typeface="Calibri"/>
              </a:rPr>
              <a:t> </a:t>
            </a:r>
            <a:r>
              <a:rPr dirty="0" sz="1350" b="1">
                <a:latin typeface="Calibri"/>
                <a:cs typeface="Calibri"/>
              </a:rPr>
              <a:t>in</a:t>
            </a:r>
            <a:r>
              <a:rPr dirty="0" sz="1350" spc="-65" b="1">
                <a:latin typeface="Calibri"/>
                <a:cs typeface="Calibri"/>
              </a:rPr>
              <a:t> </a:t>
            </a:r>
            <a:r>
              <a:rPr dirty="0" sz="1350" spc="-10" b="1">
                <a:latin typeface="Calibri"/>
                <a:cs typeface="Calibri"/>
              </a:rPr>
              <a:t>Assignments</a:t>
            </a:r>
            <a:r>
              <a:rPr dirty="0" sz="1350" spc="45" b="1">
                <a:latin typeface="Calibri"/>
                <a:cs typeface="Calibri"/>
              </a:rPr>
              <a:t> </a:t>
            </a:r>
            <a:r>
              <a:rPr dirty="0" sz="1350" b="1">
                <a:latin typeface="Calibri"/>
                <a:cs typeface="Calibri"/>
              </a:rPr>
              <a:t>(and</a:t>
            </a:r>
            <a:r>
              <a:rPr dirty="0" sz="1350" spc="-5" b="1"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13851A"/>
                </a:solidFill>
                <a:latin typeface="Calibri"/>
                <a:cs typeface="Calibri"/>
              </a:rPr>
              <a:t>what</a:t>
            </a:r>
            <a:r>
              <a:rPr dirty="0" sz="1350" spc="5" b="1">
                <a:solidFill>
                  <a:srgbClr val="13851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187C1A"/>
                </a:solidFill>
                <a:latin typeface="Calibri"/>
                <a:cs typeface="Calibri"/>
              </a:rPr>
              <a:t>to</a:t>
            </a:r>
            <a:r>
              <a:rPr dirty="0" sz="1350" spc="-15" b="1">
                <a:solidFill>
                  <a:srgbClr val="187C1A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1A7918"/>
                </a:solidFill>
                <a:latin typeface="Calibri"/>
                <a:cs typeface="Calibri"/>
              </a:rPr>
              <a:t>do</a:t>
            </a:r>
            <a:r>
              <a:rPr dirty="0" sz="1350" spc="-75" b="1">
                <a:solidFill>
                  <a:srgbClr val="1A7918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latin typeface="Calibri"/>
                <a:cs typeface="Calibri"/>
              </a:rPr>
              <a:t>instead)</a:t>
            </a:r>
            <a:endParaRPr sz="1350">
              <a:latin typeface="Calibri"/>
              <a:cs typeface="Calibri"/>
            </a:endParaRPr>
          </a:p>
          <a:p>
            <a:pPr marL="192405" marR="190500">
              <a:lnSpc>
                <a:spcPts val="1320"/>
              </a:lnSpc>
              <a:spcBef>
                <a:spcPts val="505"/>
              </a:spcBef>
            </a:pPr>
            <a:r>
              <a:rPr dirty="0" u="heavy" sz="1150">
                <a:solidFill>
                  <a:srgbClr val="2B6E21"/>
                </a:solidFill>
                <a:uFill>
                  <a:solidFill>
                    <a:srgbClr val="1F701F"/>
                  </a:solidFill>
                </a:uFill>
                <a:latin typeface="Calibri"/>
                <a:cs typeface="Calibri"/>
              </a:rPr>
              <a:t>Good</a:t>
            </a:r>
            <a:r>
              <a:rPr dirty="0" u="heavy" sz="1150" spc="60">
                <a:solidFill>
                  <a:srgbClr val="2B6E21"/>
                </a:solidFill>
                <a:uFill>
                  <a:solidFill>
                    <a:srgbClr val="1F701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1150">
                <a:solidFill>
                  <a:srgbClr val="236724"/>
                </a:solidFill>
                <a:uFill>
                  <a:solidFill>
                    <a:srgbClr val="1F701F"/>
                  </a:solidFill>
                </a:uFill>
                <a:latin typeface="Calibri"/>
                <a:cs typeface="Calibri"/>
              </a:rPr>
              <a:t>practice</a:t>
            </a:r>
            <a:r>
              <a:rPr dirty="0" sz="1150">
                <a:solidFill>
                  <a:srgbClr val="236724"/>
                </a:solidFill>
                <a:latin typeface="Calibri"/>
                <a:cs typeface="Calibri"/>
              </a:rPr>
              <a:t>:</a:t>
            </a:r>
            <a:r>
              <a:rPr dirty="0" sz="1150" spc="155">
                <a:solidFill>
                  <a:srgbClr val="23672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C6724"/>
                </a:solidFill>
                <a:latin typeface="Calibri"/>
                <a:cs typeface="Calibri"/>
              </a:rPr>
              <a:t>is</a:t>
            </a:r>
            <a:r>
              <a:rPr dirty="0" sz="1150" spc="30">
                <a:solidFill>
                  <a:srgbClr val="0C672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C741A"/>
                </a:solidFill>
                <a:latin typeface="Calibri"/>
                <a:cs typeface="Calibri"/>
              </a:rPr>
              <a:t>to</a:t>
            </a:r>
            <a:r>
              <a:rPr dirty="0" sz="1150" spc="55">
                <a:solidFill>
                  <a:srgbClr val="0C741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F6926"/>
                </a:solidFill>
                <a:latin typeface="Calibri"/>
                <a:cs typeface="Calibri"/>
              </a:rPr>
              <a:t>sort</a:t>
            </a:r>
            <a:r>
              <a:rPr dirty="0" sz="1150" spc="65">
                <a:solidFill>
                  <a:srgbClr val="1F692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B7031"/>
                </a:solidFill>
                <a:latin typeface="Calibri"/>
                <a:cs typeface="Calibri"/>
              </a:rPr>
              <a:t>the</a:t>
            </a:r>
            <a:r>
              <a:rPr dirty="0" sz="1150" spc="65">
                <a:solidFill>
                  <a:srgbClr val="2B703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346631"/>
                </a:solidFill>
                <a:latin typeface="Calibri"/>
                <a:cs typeface="Calibri"/>
              </a:rPr>
              <a:t>solutions</a:t>
            </a:r>
            <a:r>
              <a:rPr dirty="0" sz="1150" spc="110">
                <a:solidFill>
                  <a:srgbClr val="34663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D692A"/>
                </a:solidFill>
                <a:latin typeface="Calibri"/>
                <a:cs typeface="Calibri"/>
              </a:rPr>
              <a:t>in</a:t>
            </a:r>
            <a:r>
              <a:rPr dirty="0" sz="1150" spc="55">
                <a:solidFill>
                  <a:srgbClr val="2D692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D7536"/>
                </a:solidFill>
                <a:latin typeface="Calibri"/>
                <a:cs typeface="Calibri"/>
              </a:rPr>
              <a:t>either</a:t>
            </a:r>
            <a:r>
              <a:rPr dirty="0" sz="1150" spc="120">
                <a:solidFill>
                  <a:srgbClr val="2D753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A7C3A"/>
                </a:solidFill>
                <a:latin typeface="Calibri"/>
                <a:cs typeface="Calibri"/>
              </a:rPr>
              <a:t>ascending</a:t>
            </a:r>
            <a:r>
              <a:rPr dirty="0" sz="1150" spc="165">
                <a:solidFill>
                  <a:srgbClr val="2A7C3A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11621F"/>
                </a:solidFill>
                <a:latin typeface="Calibri"/>
                <a:cs typeface="Calibri"/>
              </a:rPr>
              <a:t>or </a:t>
            </a:r>
            <a:r>
              <a:rPr dirty="0" sz="1150">
                <a:solidFill>
                  <a:srgbClr val="167423"/>
                </a:solidFill>
                <a:latin typeface="Calibri"/>
                <a:cs typeface="Calibri"/>
              </a:rPr>
              <a:t>descending</a:t>
            </a:r>
            <a:r>
              <a:rPr dirty="0" sz="1150" spc="160">
                <a:solidFill>
                  <a:srgbClr val="16742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236E2A"/>
                </a:solidFill>
                <a:latin typeface="Calibri"/>
                <a:cs typeface="Calibri"/>
              </a:rPr>
              <a:t>order</a:t>
            </a:r>
            <a:endParaRPr sz="1150">
              <a:latin typeface="Calibri"/>
              <a:cs typeface="Calibri"/>
            </a:endParaRPr>
          </a:p>
          <a:p>
            <a:pPr marL="191770" marR="106680" indent="-179705">
              <a:lnSpc>
                <a:spcPts val="1300"/>
              </a:lnSpc>
              <a:spcBef>
                <a:spcPts val="1150"/>
              </a:spcBef>
              <a:buChar char="•"/>
              <a:tabLst>
                <a:tab pos="191770" algn="l"/>
                <a:tab pos="193040" algn="l"/>
              </a:tabLst>
            </a:pPr>
            <a:r>
              <a:rPr dirty="0" sz="1250">
                <a:latin typeface="Calibri"/>
                <a:cs typeface="Calibri"/>
              </a:rPr>
              <a:t>	</a:t>
            </a:r>
            <a:r>
              <a:rPr dirty="0" u="heavy" sz="1250" spc="-3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Common</a:t>
            </a:r>
            <a:r>
              <a:rPr dirty="0" u="heavy" sz="1250" spc="-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1250" spc="-3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causes </a:t>
            </a:r>
            <a:r>
              <a:rPr dirty="0" u="heavy" sz="125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dirty="0" u="heavy" sz="1250" spc="-2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1250" spc="-3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confusion</a:t>
            </a:r>
            <a:r>
              <a:rPr dirty="0" u="heavy" sz="1250" spc="-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125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dirty="0" u="heavy" sz="1250" spc="-4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1250" spc="-4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students:</a:t>
            </a:r>
            <a:r>
              <a:rPr dirty="0" sz="1250" spc="45">
                <a:latin typeface="Calibri"/>
                <a:cs typeface="Calibri"/>
              </a:rPr>
              <a:t> </a:t>
            </a:r>
            <a:r>
              <a:rPr dirty="0" sz="1250" spc="-35">
                <a:latin typeface="Calibri"/>
                <a:cs typeface="Calibri"/>
              </a:rPr>
              <a:t>Ambiguous;</a:t>
            </a:r>
            <a:r>
              <a:rPr dirty="0" sz="1250">
                <a:latin typeface="Calibri"/>
                <a:cs typeface="Calibri"/>
              </a:rPr>
              <a:t> </a:t>
            </a:r>
            <a:r>
              <a:rPr dirty="0" sz="1250" spc="-10">
                <a:latin typeface="Calibri"/>
                <a:cs typeface="Calibri"/>
              </a:rPr>
              <a:t>Using </a:t>
            </a:r>
            <a:r>
              <a:rPr dirty="0" sz="1250" spc="-35">
                <a:latin typeface="Calibri"/>
                <a:cs typeface="Calibri"/>
              </a:rPr>
              <a:t>qualifiers</a:t>
            </a:r>
            <a:r>
              <a:rPr dirty="0" sz="1250" spc="20">
                <a:latin typeface="Calibri"/>
                <a:cs typeface="Calibri"/>
              </a:rPr>
              <a:t> </a:t>
            </a:r>
            <a:r>
              <a:rPr dirty="0" sz="1250" spc="-25">
                <a:latin typeface="Calibri"/>
                <a:cs typeface="Calibri"/>
              </a:rPr>
              <a:t>like</a:t>
            </a:r>
            <a:r>
              <a:rPr dirty="0" sz="1250" spc="5">
                <a:latin typeface="Calibri"/>
                <a:cs typeface="Calibri"/>
              </a:rPr>
              <a:t> </a:t>
            </a:r>
            <a:r>
              <a:rPr dirty="0" sz="1250" spc="-30">
                <a:latin typeface="Calibri"/>
                <a:cs typeface="Calibri"/>
              </a:rPr>
              <a:t>"most”/“some";</a:t>
            </a:r>
            <a:r>
              <a:rPr dirty="0" sz="1250" spc="-4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or</a:t>
            </a:r>
            <a:r>
              <a:rPr dirty="0" sz="1250" spc="-35">
                <a:latin typeface="Calibri"/>
                <a:cs typeface="Calibri"/>
              </a:rPr>
              <a:t> </a:t>
            </a:r>
            <a:r>
              <a:rPr dirty="0" sz="1250" spc="-20">
                <a:latin typeface="Calibri"/>
                <a:cs typeface="Calibri"/>
              </a:rPr>
              <a:t>rely</a:t>
            </a:r>
            <a:r>
              <a:rPr dirty="0" sz="1250" spc="-1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on</a:t>
            </a:r>
            <a:r>
              <a:rPr dirty="0" sz="1250" spc="-45">
                <a:latin typeface="Calibri"/>
                <a:cs typeface="Calibri"/>
              </a:rPr>
              <a:t> </a:t>
            </a:r>
            <a:r>
              <a:rPr dirty="0" sz="1250" spc="-35">
                <a:latin typeface="Calibri"/>
                <a:cs typeface="Calibri"/>
              </a:rPr>
              <a:t>personal</a:t>
            </a:r>
            <a:r>
              <a:rPr dirty="0" sz="1250" spc="20">
                <a:latin typeface="Calibri"/>
                <a:cs typeface="Calibri"/>
              </a:rPr>
              <a:t> </a:t>
            </a:r>
            <a:r>
              <a:rPr dirty="0" sz="1250" spc="-10">
                <a:latin typeface="Calibri"/>
                <a:cs typeface="Calibri"/>
              </a:rPr>
              <a:t>experience</a:t>
            </a:r>
            <a:endParaRPr sz="1250">
              <a:latin typeface="Calibri"/>
              <a:cs typeface="Calibri"/>
            </a:endParaRPr>
          </a:p>
          <a:p>
            <a:pPr marL="192405">
              <a:lnSpc>
                <a:spcPct val="100000"/>
              </a:lnSpc>
              <a:spcBef>
                <a:spcPts val="215"/>
              </a:spcBef>
              <a:tabLst>
                <a:tab pos="563245" algn="l"/>
              </a:tabLst>
            </a:pPr>
            <a:r>
              <a:rPr dirty="0" sz="1100" spc="-25">
                <a:latin typeface="Calibri"/>
                <a:cs typeface="Calibri"/>
              </a:rPr>
              <a:t>5.</a:t>
            </a:r>
            <a:r>
              <a:rPr dirty="0" sz="1100">
                <a:latin typeface="Calibri"/>
                <a:cs typeface="Calibri"/>
              </a:rPr>
              <a:t>	</a:t>
            </a:r>
            <a:r>
              <a:rPr dirty="0" sz="1100" spc="-30">
                <a:latin typeface="Calibri"/>
                <a:cs typeface="Calibri"/>
              </a:rPr>
              <a:t>Which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35">
                <a:latin typeface="Calibri"/>
                <a:cs typeface="Calibri"/>
              </a:rPr>
              <a:t>number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not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identified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as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30">
                <a:latin typeface="Calibri"/>
                <a:cs typeface="Calibri"/>
              </a:rPr>
              <a:t>prime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by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most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students?</a:t>
            </a:r>
            <a:endParaRPr sz="1100">
              <a:latin typeface="Calibri"/>
              <a:cs typeface="Calibri"/>
            </a:endParaRPr>
          </a:p>
          <a:p>
            <a:pPr marL="528320">
              <a:lnSpc>
                <a:spcPct val="100000"/>
              </a:lnSpc>
              <a:spcBef>
                <a:spcPts val="160"/>
              </a:spcBef>
              <a:tabLst>
                <a:tab pos="1050925" algn="l"/>
                <a:tab pos="1732914" algn="l"/>
                <a:tab pos="2599690" algn="l"/>
              </a:tabLst>
            </a:pPr>
            <a:r>
              <a:rPr dirty="0" sz="1100">
                <a:solidFill>
                  <a:srgbClr val="2A28E6"/>
                </a:solidFill>
                <a:latin typeface="Calibri"/>
                <a:cs typeface="Calibri"/>
              </a:rPr>
              <a:t>(a)</a:t>
            </a:r>
            <a:r>
              <a:rPr dirty="0" sz="1100" spc="-50">
                <a:solidFill>
                  <a:srgbClr val="2A28E6"/>
                </a:solidFill>
                <a:latin typeface="Calibri"/>
                <a:cs typeface="Calibri"/>
              </a:rPr>
              <a:t> </a:t>
            </a:r>
            <a:r>
              <a:rPr dirty="0" sz="1100" spc="-50">
                <a:solidFill>
                  <a:srgbClr val="1126E8"/>
                </a:solidFill>
                <a:latin typeface="Calibri"/>
                <a:cs typeface="Calibri"/>
              </a:rPr>
              <a:t>2</a:t>
            </a:r>
            <a:r>
              <a:rPr dirty="0" sz="1100">
                <a:solidFill>
                  <a:srgbClr val="1126E8"/>
                </a:solidFill>
                <a:latin typeface="Calibri"/>
                <a:cs typeface="Calibri"/>
              </a:rPr>
              <a:t>	</a:t>
            </a:r>
            <a:r>
              <a:rPr dirty="0" sz="1100" spc="-20">
                <a:solidFill>
                  <a:srgbClr val="343A8A"/>
                </a:solidFill>
                <a:latin typeface="Calibri"/>
                <a:cs typeface="Calibri"/>
              </a:rPr>
              <a:t>(b)</a:t>
            </a:r>
            <a:r>
              <a:rPr dirty="0" sz="1100" spc="-40">
                <a:solidFill>
                  <a:srgbClr val="343A8A"/>
                </a:solidFill>
                <a:latin typeface="Calibri"/>
                <a:cs typeface="Calibri"/>
              </a:rPr>
              <a:t> </a:t>
            </a:r>
            <a:r>
              <a:rPr dirty="0" sz="1100" spc="-50">
                <a:solidFill>
                  <a:srgbClr val="1F28C8"/>
                </a:solidFill>
                <a:latin typeface="Calibri"/>
                <a:cs typeface="Calibri"/>
              </a:rPr>
              <a:t>3</a:t>
            </a:r>
            <a:r>
              <a:rPr dirty="0" sz="1100">
                <a:solidFill>
                  <a:srgbClr val="1F28C8"/>
                </a:solidFill>
                <a:latin typeface="Calibri"/>
                <a:cs typeface="Calibri"/>
              </a:rPr>
              <a:t>	</a:t>
            </a:r>
            <a:r>
              <a:rPr dirty="0" sz="1100" spc="-10">
                <a:solidFill>
                  <a:srgbClr val="1D1CBF"/>
                </a:solidFill>
                <a:latin typeface="Calibri"/>
                <a:cs typeface="Calibri"/>
              </a:rPr>
              <a:t>(c)</a:t>
            </a:r>
            <a:r>
              <a:rPr dirty="0" sz="1100" spc="-45">
                <a:solidFill>
                  <a:srgbClr val="1D1CB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1C2DC8"/>
                </a:solidFill>
                <a:latin typeface="Calibri"/>
                <a:cs typeface="Calibri"/>
              </a:rPr>
              <a:t>10</a:t>
            </a:r>
            <a:r>
              <a:rPr dirty="0" sz="1100">
                <a:solidFill>
                  <a:srgbClr val="1C2DC8"/>
                </a:solidFill>
                <a:latin typeface="Calibri"/>
                <a:cs typeface="Calibri"/>
              </a:rPr>
              <a:t>	</a:t>
            </a:r>
            <a:r>
              <a:rPr dirty="0" sz="1100" spc="-20">
                <a:solidFill>
                  <a:srgbClr val="3428BF"/>
                </a:solidFill>
                <a:latin typeface="Calibri"/>
                <a:cs typeface="Calibri"/>
              </a:rPr>
              <a:t>(d)</a:t>
            </a:r>
            <a:r>
              <a:rPr dirty="0" sz="1100" spc="-30">
                <a:solidFill>
                  <a:srgbClr val="3428B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1D1FD1"/>
                </a:solidFill>
                <a:latin typeface="Calibri"/>
                <a:cs typeface="Calibri"/>
              </a:rPr>
              <a:t>15</a:t>
            </a:r>
            <a:endParaRPr sz="1100">
              <a:latin typeface="Calibri"/>
              <a:cs typeface="Calibri"/>
            </a:endParaRPr>
          </a:p>
          <a:p>
            <a:pPr marL="193675" marR="60325" indent="-635">
              <a:lnSpc>
                <a:spcPct val="86000"/>
              </a:lnSpc>
              <a:spcBef>
                <a:spcPts val="350"/>
              </a:spcBef>
            </a:pP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65">
                <a:latin typeface="Calibri"/>
                <a:cs typeface="Calibri"/>
              </a:rPr>
              <a:t> </a:t>
            </a:r>
            <a:r>
              <a:rPr dirty="0" sz="1100" spc="-35">
                <a:latin typeface="Calibri"/>
                <a:cs typeface="Calibri"/>
              </a:rPr>
              <a:t>careful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35">
                <a:latin typeface="Calibri"/>
                <a:cs typeface="Calibri"/>
              </a:rPr>
              <a:t>when</a:t>
            </a:r>
            <a:r>
              <a:rPr dirty="0" sz="1100" spc="-25">
                <a:latin typeface="Calibri"/>
                <a:cs typeface="Calibri"/>
              </a:rPr>
              <a:t> preparing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such</a:t>
            </a:r>
            <a:r>
              <a:rPr dirty="0" sz="1100" spc="-25">
                <a:latin typeface="Calibri"/>
                <a:cs typeface="Calibri"/>
              </a:rPr>
              <a:t> question.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55">
                <a:latin typeface="Calibri"/>
                <a:cs typeface="Calibri"/>
              </a:rPr>
              <a:t>may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6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confusing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 spc="-35">
                <a:latin typeface="Calibri"/>
                <a:cs typeface="Calibri"/>
              </a:rPr>
              <a:t>for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two </a:t>
            </a:r>
            <a:r>
              <a:rPr dirty="0" sz="1100" spc="-30">
                <a:latin typeface="Calibri"/>
                <a:cs typeface="Calibri"/>
              </a:rPr>
              <a:t>reasons: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(ij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"some"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30">
                <a:latin typeface="Calibri"/>
                <a:cs typeface="Calibri"/>
              </a:rPr>
              <a:t>or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"most"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40">
                <a:latin typeface="Calibri"/>
                <a:cs typeface="Calibri"/>
              </a:rPr>
              <a:t>makes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6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ambiguous;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and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(ii)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some </a:t>
            </a:r>
            <a:r>
              <a:rPr dirty="0" sz="1100" spc="-25">
                <a:latin typeface="Calibri"/>
                <a:cs typeface="Calibri"/>
              </a:rPr>
              <a:t>students </a:t>
            </a:r>
            <a:r>
              <a:rPr dirty="0" sz="1100" spc="-35">
                <a:latin typeface="Calibri"/>
                <a:cs typeface="Calibri"/>
              </a:rPr>
              <a:t>may </a:t>
            </a:r>
            <a:r>
              <a:rPr dirty="0" sz="1100" spc="-30">
                <a:latin typeface="Calibri"/>
                <a:cs typeface="Calibri"/>
              </a:rPr>
              <a:t>mark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15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"not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identified</a:t>
            </a:r>
            <a:r>
              <a:rPr dirty="0" sz="1100">
                <a:latin typeface="Calibri"/>
                <a:cs typeface="Calibri"/>
              </a:rPr>
              <a:t> as</a:t>
            </a:r>
            <a:r>
              <a:rPr dirty="0" sz="1100" spc="-8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prime"</a:t>
            </a:r>
            <a:r>
              <a:rPr dirty="0" sz="1100" spc="-30">
                <a:latin typeface="Calibri"/>
                <a:cs typeface="Calibri"/>
              </a:rPr>
              <a:t> (experience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based!)</a:t>
            </a:r>
            <a:endParaRPr sz="11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1035"/>
              </a:spcBef>
              <a:buChar char="•"/>
              <a:tabLst>
                <a:tab pos="187325" algn="l"/>
              </a:tabLst>
            </a:pPr>
            <a:r>
              <a:rPr dirty="0" u="heavy" sz="1200" spc="-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Text-</a:t>
            </a:r>
            <a:r>
              <a:rPr dirty="0" u="heavy" sz="12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based</a:t>
            </a:r>
            <a:r>
              <a:rPr dirty="0" u="heavy" sz="1200" spc="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1200" spc="-2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auto-</a:t>
            </a:r>
            <a:r>
              <a:rPr dirty="0" u="heavy" sz="12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graded</a:t>
            </a:r>
            <a:r>
              <a:rPr dirty="0" u="heavy" sz="1200" spc="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12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questions: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careful!!</a:t>
            </a:r>
            <a:endParaRPr sz="1200">
              <a:latin typeface="Calibri"/>
              <a:cs typeface="Calibri"/>
            </a:endParaRPr>
          </a:p>
          <a:p>
            <a:pPr marL="198755">
              <a:lnSpc>
                <a:spcPct val="100000"/>
              </a:lnSpc>
              <a:spcBef>
                <a:spcPts val="290"/>
              </a:spcBef>
              <a:tabLst>
                <a:tab pos="527050" algn="l"/>
              </a:tabLst>
            </a:pPr>
            <a:r>
              <a:rPr dirty="0" sz="1000" spc="-25">
                <a:latin typeface="Calibri"/>
                <a:cs typeface="Calibri"/>
              </a:rPr>
              <a:t>6.</a:t>
            </a:r>
            <a:r>
              <a:rPr dirty="0" sz="1000">
                <a:latin typeface="Calibri"/>
                <a:cs typeface="Calibri"/>
              </a:rPr>
              <a:t>	Name</a:t>
            </a:r>
            <a:r>
              <a:rPr dirty="0" sz="1000" spc="9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capital</a:t>
            </a:r>
            <a:r>
              <a:rPr dirty="0" sz="1000" spc="1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11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India</a:t>
            </a:r>
            <a:endParaRPr sz="1000">
              <a:latin typeface="Calibri"/>
              <a:cs typeface="Calibri"/>
            </a:endParaRPr>
          </a:p>
          <a:p>
            <a:pPr marL="197485">
              <a:lnSpc>
                <a:spcPct val="100000"/>
              </a:lnSpc>
              <a:spcBef>
                <a:spcPts val="280"/>
              </a:spcBef>
            </a:pPr>
            <a:r>
              <a:rPr dirty="0" sz="1000">
                <a:latin typeface="Calibri"/>
                <a:cs typeface="Calibri"/>
              </a:rPr>
              <a:t>Ans.</a:t>
            </a:r>
            <a:r>
              <a:rPr dirty="0" sz="1000" spc="220">
                <a:latin typeface="Calibri"/>
                <a:cs typeface="Calibri"/>
              </a:rPr>
              <a:t>  </a:t>
            </a:r>
            <a:r>
              <a:rPr dirty="0" sz="1000">
                <a:solidFill>
                  <a:srgbClr val="0A28FF"/>
                </a:solidFill>
                <a:latin typeface="Calibri"/>
                <a:cs typeface="Calibri"/>
              </a:rPr>
              <a:t>New</a:t>
            </a:r>
            <a:r>
              <a:rPr dirty="0" sz="1000" spc="495">
                <a:solidFill>
                  <a:srgbClr val="0A28FF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2121FD"/>
                </a:solidFill>
                <a:latin typeface="Calibri"/>
                <a:cs typeface="Calibri"/>
              </a:rPr>
              <a:t>De1h1</a:t>
            </a:r>
            <a:r>
              <a:rPr dirty="0" sz="1000" spc="70">
                <a:solidFill>
                  <a:srgbClr val="2121FD"/>
                </a:solidFill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(Think</a:t>
            </a:r>
            <a:r>
              <a:rPr dirty="0" sz="1000" spc="10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about</a:t>
            </a:r>
            <a:r>
              <a:rPr dirty="0" sz="1000" spc="8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extra</a:t>
            </a:r>
            <a:r>
              <a:rPr dirty="0" sz="1000" spc="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spaces,</a:t>
            </a:r>
            <a:r>
              <a:rPr dirty="0" sz="1000" spc="1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capitalization,</a:t>
            </a:r>
            <a:r>
              <a:rPr dirty="0" sz="1000" spc="8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etc.)</a:t>
            </a:r>
            <a:endParaRPr sz="1000">
              <a:latin typeface="Calibri"/>
              <a:cs typeface="Calibri"/>
            </a:endParaRPr>
          </a:p>
          <a:p>
            <a:pPr marL="193040">
              <a:lnSpc>
                <a:spcPct val="100000"/>
              </a:lnSpc>
              <a:spcBef>
                <a:spcPts val="415"/>
              </a:spcBef>
            </a:pPr>
            <a:r>
              <a:rPr dirty="0" sz="1100">
                <a:solidFill>
                  <a:srgbClr val="28752A"/>
                </a:solidFill>
                <a:latin typeface="Calibri"/>
                <a:cs typeface="Calibri"/>
              </a:rPr>
              <a:t>Consider</a:t>
            </a:r>
            <a:r>
              <a:rPr dirty="0" sz="1100" spc="300">
                <a:solidFill>
                  <a:srgbClr val="28752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8752D"/>
                </a:solidFill>
                <a:latin typeface="Calibri"/>
                <a:cs typeface="Calibri"/>
              </a:rPr>
              <a:t>using</a:t>
            </a:r>
            <a:r>
              <a:rPr dirty="0" sz="1100" spc="235">
                <a:solidFill>
                  <a:srgbClr val="2875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D5E2A"/>
                </a:solidFill>
                <a:latin typeface="Calibri"/>
                <a:cs typeface="Calibri"/>
              </a:rPr>
              <a:t>regular</a:t>
            </a:r>
            <a:r>
              <a:rPr dirty="0" sz="1100" spc="220">
                <a:solidFill>
                  <a:srgbClr val="2D5E2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66E2F"/>
                </a:solidFill>
                <a:latin typeface="Calibri"/>
                <a:cs typeface="Calibri"/>
              </a:rPr>
              <a:t>expressions</a:t>
            </a:r>
            <a:r>
              <a:rPr dirty="0" sz="1100" spc="335">
                <a:solidFill>
                  <a:srgbClr val="166E2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38013"/>
                </a:solidFill>
                <a:latin typeface="Calibri"/>
                <a:cs typeface="Calibri"/>
              </a:rPr>
              <a:t>for</a:t>
            </a:r>
            <a:r>
              <a:rPr dirty="0" sz="1100" spc="265">
                <a:solidFill>
                  <a:srgbClr val="13801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A6431"/>
                </a:solidFill>
                <a:latin typeface="Calibri"/>
                <a:cs typeface="Calibri"/>
              </a:rPr>
              <a:t>such</a:t>
            </a:r>
            <a:r>
              <a:rPr dirty="0" sz="1100" spc="260">
                <a:solidFill>
                  <a:srgbClr val="2A6431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17918"/>
                </a:solidFill>
                <a:latin typeface="Calibri"/>
                <a:cs typeface="Calibri"/>
              </a:rPr>
              <a:t>questions</a:t>
            </a:r>
            <a:endParaRPr sz="11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310"/>
              </a:spcBef>
              <a:tabLst>
                <a:tab pos="2080260" algn="l"/>
              </a:tabLst>
            </a:pPr>
            <a:r>
              <a:rPr dirty="0" sz="1000" spc="10">
                <a:solidFill>
                  <a:srgbClr val="3B7238"/>
                </a:solidFill>
                <a:latin typeface="Calibri"/>
                <a:cs typeface="Calibri"/>
              </a:rPr>
              <a:t>Regular</a:t>
            </a:r>
            <a:r>
              <a:rPr dirty="0" sz="1000" spc="165">
                <a:solidFill>
                  <a:srgbClr val="3B7238"/>
                </a:solidFill>
                <a:latin typeface="Calibri"/>
                <a:cs typeface="Calibri"/>
              </a:rPr>
              <a:t> </a:t>
            </a:r>
            <a:r>
              <a:rPr dirty="0" sz="1000" spc="10">
                <a:solidFill>
                  <a:srgbClr val="1F721C"/>
                </a:solidFill>
                <a:latin typeface="Calibri"/>
                <a:cs typeface="Calibri"/>
              </a:rPr>
              <a:t>Expression</a:t>
            </a:r>
            <a:r>
              <a:rPr dirty="0" sz="1000" spc="140">
                <a:solidFill>
                  <a:srgbClr val="1F721C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Answer:</a:t>
            </a:r>
            <a:r>
              <a:rPr dirty="0" sz="1000">
                <a:latin typeface="Calibri"/>
                <a:cs typeface="Calibri"/>
              </a:rPr>
              <a:t>	</a:t>
            </a:r>
            <a:r>
              <a:rPr dirty="0" sz="1000" spc="110">
                <a:solidFill>
                  <a:srgbClr val="182DF2"/>
                </a:solidFill>
                <a:latin typeface="Calibri"/>
                <a:cs typeface="Calibri"/>
              </a:rPr>
              <a:t>de1h1</a:t>
            </a:r>
            <a:r>
              <a:rPr dirty="0" sz="1000" spc="265">
                <a:solidFill>
                  <a:srgbClr val="182DF2"/>
                </a:solidFill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or</a:t>
            </a:r>
            <a:r>
              <a:rPr dirty="0" sz="1000" spc="210">
                <a:latin typeface="Calibri"/>
                <a:cs typeface="Calibri"/>
              </a:rPr>
              <a:t>  </a:t>
            </a:r>
            <a:r>
              <a:rPr dirty="0" sz="1000" spc="90">
                <a:solidFill>
                  <a:srgbClr val="2D28FF"/>
                </a:solidFill>
                <a:latin typeface="Calibri"/>
                <a:cs typeface="Calibri"/>
              </a:rPr>
              <a:t>De1h1</a:t>
            </a:r>
            <a:endParaRPr sz="10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330"/>
              </a:spcBef>
            </a:pPr>
            <a:r>
              <a:rPr dirty="0" sz="1000">
                <a:latin typeface="Calibri"/>
                <a:cs typeface="Calibri"/>
              </a:rPr>
              <a:t>Note:</a:t>
            </a:r>
            <a:r>
              <a:rPr dirty="0" sz="1000" spc="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any</a:t>
            </a:r>
            <a:r>
              <a:rPr dirty="0" sz="1000" spc="9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solution</a:t>
            </a:r>
            <a:r>
              <a:rPr dirty="0" sz="1000" spc="10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containing</a:t>
            </a:r>
            <a:r>
              <a:rPr dirty="0" sz="1000" spc="1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Delhi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is</a:t>
            </a:r>
            <a:r>
              <a:rPr dirty="0" sz="1000" spc="1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marked</a:t>
            </a:r>
            <a:r>
              <a:rPr dirty="0" sz="1000" spc="1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right</a:t>
            </a:r>
            <a:r>
              <a:rPr dirty="0" sz="1000" spc="1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(incl.</a:t>
            </a:r>
            <a:r>
              <a:rPr dirty="0" sz="1000" spc="100">
                <a:latin typeface="Calibri"/>
                <a:cs typeface="Calibri"/>
              </a:rPr>
              <a:t> </a:t>
            </a:r>
            <a:r>
              <a:rPr dirty="0" u="heavy" sz="10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Purani</a:t>
            </a:r>
            <a:r>
              <a:rPr dirty="0" u="heavy" sz="1000" spc="14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10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Delhi</a:t>
            </a:r>
            <a:r>
              <a:rPr dirty="0" sz="1000" spc="10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:-</a:t>
            </a:r>
            <a:r>
              <a:rPr dirty="0" sz="1000" spc="-50">
                <a:latin typeface="Calibri"/>
                <a:cs typeface="Calibri"/>
              </a:rPr>
              <a:t>)</a:t>
            </a:r>
            <a:endParaRPr sz="10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1055"/>
              </a:spcBef>
              <a:buChar char="•"/>
              <a:tabLst>
                <a:tab pos="187325" algn="l"/>
              </a:tabLst>
            </a:pPr>
            <a:r>
              <a:rPr dirty="0" u="heavy" sz="12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Using</a:t>
            </a:r>
            <a:r>
              <a:rPr dirty="0" u="heavy" sz="1200" spc="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12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text</a:t>
            </a:r>
            <a:r>
              <a:rPr dirty="0" u="heavy" sz="1200" spc="-4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12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answers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numerical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questions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avoided</a:t>
            </a:r>
            <a:endParaRPr sz="1200">
              <a:latin typeface="Calibri"/>
              <a:cs typeface="Calibri"/>
            </a:endParaRPr>
          </a:p>
          <a:p>
            <a:pPr marL="193040">
              <a:lnSpc>
                <a:spcPct val="100000"/>
              </a:lnSpc>
              <a:spcBef>
                <a:spcPts val="240"/>
              </a:spcBef>
              <a:tabLst>
                <a:tab pos="530860" algn="l"/>
              </a:tabLst>
            </a:pPr>
            <a:r>
              <a:rPr dirty="0" sz="1050" spc="-25">
                <a:latin typeface="Calibri"/>
                <a:cs typeface="Calibri"/>
              </a:rPr>
              <a:t>7.</a:t>
            </a:r>
            <a:r>
              <a:rPr dirty="0" sz="1050">
                <a:latin typeface="Calibri"/>
                <a:cs typeface="Calibri"/>
              </a:rPr>
              <a:t>	The</a:t>
            </a:r>
            <a:r>
              <a:rPr dirty="0" sz="1050" spc="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result</a:t>
            </a:r>
            <a:r>
              <a:rPr dirty="0" sz="1050" spc="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of</a:t>
            </a:r>
            <a:r>
              <a:rPr dirty="0" sz="1050" spc="1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vector</a:t>
            </a:r>
            <a:r>
              <a:rPr dirty="0" sz="1050" spc="5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multiplication:</a:t>
            </a:r>
            <a:r>
              <a:rPr dirty="0" sz="1050" spc="-4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v =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2”[1</a:t>
            </a:r>
            <a:r>
              <a:rPr dirty="0" sz="1050" spc="135">
                <a:latin typeface="Calibri"/>
                <a:cs typeface="Calibri"/>
              </a:rPr>
              <a:t>  </a:t>
            </a:r>
            <a:r>
              <a:rPr dirty="0" sz="1050">
                <a:latin typeface="Calibri"/>
                <a:cs typeface="Calibri"/>
              </a:rPr>
              <a:t>2</a:t>
            </a:r>
            <a:r>
              <a:rPr dirty="0" sz="1050" spc="44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3]</a:t>
            </a:r>
            <a:r>
              <a:rPr dirty="0" sz="1050" spc="240">
                <a:latin typeface="Calibri"/>
                <a:cs typeface="Calibri"/>
              </a:rPr>
              <a:t> </a:t>
            </a:r>
            <a:r>
              <a:rPr dirty="0" sz="1050" spc="-25">
                <a:latin typeface="Calibri"/>
                <a:cs typeface="Calibri"/>
              </a:rPr>
              <a:t>is:</a:t>
            </a:r>
            <a:endParaRPr sz="1050">
              <a:latin typeface="Calibri"/>
              <a:cs typeface="Calibri"/>
            </a:endParaRPr>
          </a:p>
          <a:p>
            <a:pPr marL="193040">
              <a:lnSpc>
                <a:spcPct val="100000"/>
              </a:lnSpc>
              <a:spcBef>
                <a:spcPts val="275"/>
              </a:spcBef>
              <a:tabLst>
                <a:tab pos="935355" algn="l"/>
              </a:tabLst>
            </a:pPr>
            <a:r>
              <a:rPr dirty="0" sz="1000">
                <a:latin typeface="Cambria"/>
                <a:cs typeface="Cambria"/>
              </a:rPr>
              <a:t>Ans.</a:t>
            </a:r>
            <a:r>
              <a:rPr dirty="0" sz="1000" spc="180">
                <a:latin typeface="Cambria"/>
                <a:cs typeface="Cambria"/>
              </a:rPr>
              <a:t>  </a:t>
            </a:r>
            <a:r>
              <a:rPr dirty="0" sz="1000" spc="-10">
                <a:latin typeface="Cambria"/>
                <a:cs typeface="Cambria"/>
              </a:rPr>
              <a:t>Text:</a:t>
            </a:r>
            <a:r>
              <a:rPr dirty="0" sz="1000">
                <a:latin typeface="Cambria"/>
                <a:cs typeface="Cambria"/>
              </a:rPr>
              <a:t>	</a:t>
            </a:r>
            <a:r>
              <a:rPr dirty="0" sz="1000">
                <a:solidFill>
                  <a:srgbClr val="131AC1"/>
                </a:solidFill>
                <a:latin typeface="Cambria"/>
                <a:cs typeface="Cambria"/>
              </a:rPr>
              <a:t>{</a:t>
            </a:r>
            <a:r>
              <a:rPr dirty="0" sz="1000">
                <a:solidFill>
                  <a:srgbClr val="111DFD"/>
                </a:solidFill>
                <a:latin typeface="Cambria"/>
                <a:cs typeface="Cambria"/>
              </a:rPr>
              <a:t>2</a:t>
            </a:r>
            <a:r>
              <a:rPr dirty="0" sz="1000" spc="20">
                <a:solidFill>
                  <a:srgbClr val="111DFD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1C28E2"/>
                </a:solidFill>
                <a:latin typeface="Cambria"/>
                <a:cs typeface="Cambria"/>
              </a:rPr>
              <a:t>,</a:t>
            </a:r>
            <a:r>
              <a:rPr dirty="0" sz="1000" spc="65">
                <a:solidFill>
                  <a:srgbClr val="1C28E2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1126EB"/>
                </a:solidFill>
                <a:latin typeface="Cambria"/>
                <a:cs typeface="Cambria"/>
              </a:rPr>
              <a:t>4</a:t>
            </a:r>
            <a:r>
              <a:rPr dirty="0" sz="1000" spc="40">
                <a:solidFill>
                  <a:srgbClr val="1126EB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181FA7"/>
                </a:solidFill>
                <a:latin typeface="Cambria"/>
                <a:cs typeface="Cambria"/>
              </a:rPr>
              <a:t>,</a:t>
            </a:r>
            <a:r>
              <a:rPr dirty="0" sz="1000" spc="60">
                <a:solidFill>
                  <a:srgbClr val="181FA7"/>
                </a:solidFill>
                <a:latin typeface="Cambria"/>
                <a:cs typeface="Cambria"/>
              </a:rPr>
              <a:t> </a:t>
            </a:r>
            <a:r>
              <a:rPr dirty="0" sz="1000" spc="-25">
                <a:solidFill>
                  <a:srgbClr val="1A26DD"/>
                </a:solidFill>
                <a:latin typeface="Cambria"/>
                <a:cs typeface="Cambria"/>
              </a:rPr>
              <a:t>6)</a:t>
            </a:r>
            <a:endParaRPr sz="1000">
              <a:latin typeface="Cambria"/>
              <a:cs typeface="Cambria"/>
            </a:endParaRPr>
          </a:p>
          <a:p>
            <a:pPr marL="192405">
              <a:lnSpc>
                <a:spcPct val="100000"/>
              </a:lnSpc>
              <a:spcBef>
                <a:spcPts val="590"/>
              </a:spcBef>
            </a:pPr>
            <a:r>
              <a:rPr dirty="0" sz="1200">
                <a:solidFill>
                  <a:srgbClr val="287534"/>
                </a:solidFill>
                <a:latin typeface="Calibri"/>
                <a:cs typeface="Calibri"/>
              </a:rPr>
              <a:t>Use</a:t>
            </a:r>
            <a:r>
              <a:rPr dirty="0" sz="1200" spc="-15">
                <a:solidFill>
                  <a:srgbClr val="287534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A7736"/>
                </a:solidFill>
                <a:latin typeface="Calibri"/>
                <a:cs typeface="Calibri"/>
              </a:rPr>
              <a:t>"Question</a:t>
            </a:r>
            <a:r>
              <a:rPr dirty="0" sz="1200" spc="35">
                <a:solidFill>
                  <a:srgbClr val="2A773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8721F"/>
                </a:solidFill>
                <a:latin typeface="Calibri"/>
                <a:cs typeface="Calibri"/>
              </a:rPr>
              <a:t>Group" </a:t>
            </a:r>
            <a:r>
              <a:rPr dirty="0" sz="1200" spc="-10">
                <a:solidFill>
                  <a:srgbClr val="424242"/>
                </a:solidFill>
                <a:latin typeface="Calibri"/>
                <a:cs typeface="Calibri"/>
              </a:rPr>
              <a:t>instead:</a:t>
            </a:r>
            <a:endParaRPr sz="1200">
              <a:latin typeface="Calibri"/>
              <a:cs typeface="Calibri"/>
            </a:endParaRPr>
          </a:p>
          <a:p>
            <a:pPr marL="447675" indent="-254635">
              <a:lnSpc>
                <a:spcPct val="100000"/>
              </a:lnSpc>
              <a:spcBef>
                <a:spcPts val="235"/>
              </a:spcBef>
              <a:buAutoNum type="arabicPeriod" startAt="7"/>
              <a:tabLst>
                <a:tab pos="447675" algn="l"/>
                <a:tab pos="1974850" algn="l"/>
                <a:tab pos="2110105" algn="l"/>
              </a:tabLst>
            </a:pPr>
            <a:r>
              <a:rPr dirty="0" sz="1050">
                <a:latin typeface="Calibri"/>
                <a:cs typeface="Calibri"/>
              </a:rPr>
              <a:t>The value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of v(1) is:</a:t>
            </a:r>
            <a:r>
              <a:rPr dirty="0" sz="1050" spc="75">
                <a:latin typeface="Calibri"/>
                <a:cs typeface="Calibri"/>
              </a:rPr>
              <a:t> </a:t>
            </a:r>
            <a:r>
              <a:rPr dirty="0" u="heavy" sz="1050">
                <a:uFill>
                  <a:solidFill>
                    <a:srgbClr val="2B2B2B"/>
                  </a:solidFill>
                </a:uFill>
                <a:latin typeface="Calibri"/>
                <a:cs typeface="Calibri"/>
              </a:rPr>
              <a:t>	</a:t>
            </a:r>
            <a:r>
              <a:rPr dirty="0" sz="1050">
                <a:latin typeface="Calibri"/>
                <a:cs typeface="Calibri"/>
              </a:rPr>
              <a:t>	</a:t>
            </a:r>
            <a:r>
              <a:rPr dirty="0" sz="1100" spc="-50">
                <a:solidFill>
                  <a:srgbClr val="0A1CED"/>
                </a:solidFill>
                <a:latin typeface="Courier New"/>
                <a:cs typeface="Courier New"/>
              </a:rPr>
              <a:t>2</a:t>
            </a:r>
            <a:endParaRPr sz="1100">
              <a:latin typeface="Courier New"/>
              <a:cs typeface="Courier New"/>
            </a:endParaRPr>
          </a:p>
          <a:p>
            <a:pPr marL="447675" indent="-253365">
              <a:lnSpc>
                <a:spcPct val="100000"/>
              </a:lnSpc>
              <a:spcBef>
                <a:spcPts val="165"/>
              </a:spcBef>
              <a:buAutoNum type="arabicPeriod" startAt="7"/>
              <a:tabLst>
                <a:tab pos="447675" algn="l"/>
                <a:tab pos="1974850" algn="l"/>
                <a:tab pos="2108835" algn="l"/>
              </a:tabLst>
            </a:pPr>
            <a:r>
              <a:rPr dirty="0" sz="1050">
                <a:latin typeface="Calibri"/>
                <a:cs typeface="Calibri"/>
              </a:rPr>
              <a:t>The value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of v(3) is:</a:t>
            </a:r>
            <a:r>
              <a:rPr dirty="0" sz="1050" spc="75">
                <a:latin typeface="Calibri"/>
                <a:cs typeface="Calibri"/>
              </a:rPr>
              <a:t> </a:t>
            </a:r>
            <a:r>
              <a:rPr dirty="0" u="heavy" sz="1050">
                <a:uFill>
                  <a:solidFill>
                    <a:srgbClr val="2B2B2B"/>
                  </a:solidFill>
                </a:uFill>
                <a:latin typeface="Calibri"/>
                <a:cs typeface="Calibri"/>
              </a:rPr>
              <a:t>	</a:t>
            </a:r>
            <a:r>
              <a:rPr dirty="0" sz="1050">
                <a:latin typeface="Calibri"/>
                <a:cs typeface="Calibri"/>
              </a:rPr>
              <a:t>	</a:t>
            </a:r>
            <a:r>
              <a:rPr dirty="0" sz="1100" spc="-50">
                <a:solidFill>
                  <a:srgbClr val="2838D8"/>
                </a:solidFill>
                <a:latin typeface="Courier New"/>
                <a:cs typeface="Courier New"/>
              </a:rPr>
              <a:t>6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-6517"/>
            <a:ext cx="364172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Roboto"/>
                <a:cs typeface="Roboto"/>
              </a:rPr>
              <a:t>Rescoring</a:t>
            </a:r>
            <a:r>
              <a:rPr dirty="0" sz="2400" spc="3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of</a:t>
            </a:r>
            <a:r>
              <a:rPr dirty="0" sz="2400" spc="3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Assignments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456364"/>
            <a:ext cx="8371205" cy="4359910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900" spc="-10" b="1">
                <a:latin typeface="Roboto"/>
                <a:cs typeface="Roboto"/>
              </a:rPr>
              <a:t>Summary:</a:t>
            </a:r>
            <a:r>
              <a:rPr dirty="0" sz="1900" spc="-100" b="1">
                <a:latin typeface="Roboto"/>
                <a:cs typeface="Roboto"/>
              </a:rPr>
              <a:t> </a:t>
            </a:r>
            <a:r>
              <a:rPr dirty="0" sz="1900" spc="-10">
                <a:latin typeface="Roboto Lt"/>
                <a:cs typeface="Roboto Lt"/>
              </a:rPr>
              <a:t>Too</a:t>
            </a:r>
            <a:r>
              <a:rPr dirty="0" sz="1900" spc="-60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many</a:t>
            </a:r>
            <a:r>
              <a:rPr dirty="0" sz="1900" spc="-65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errors</a:t>
            </a:r>
            <a:r>
              <a:rPr dirty="0" sz="1900" spc="-60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in</a:t>
            </a:r>
            <a:r>
              <a:rPr dirty="0" sz="1900" spc="-60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the</a:t>
            </a:r>
            <a:r>
              <a:rPr dirty="0" sz="1900" spc="-60">
                <a:latin typeface="Roboto Lt"/>
                <a:cs typeface="Roboto Lt"/>
              </a:rPr>
              <a:t> </a:t>
            </a:r>
            <a:r>
              <a:rPr dirty="0" sz="1900" spc="-10">
                <a:latin typeface="Roboto Lt"/>
                <a:cs typeface="Roboto Lt"/>
              </a:rPr>
              <a:t>assignments</a:t>
            </a:r>
            <a:r>
              <a:rPr dirty="0" sz="1900" spc="-60">
                <a:latin typeface="Roboto Lt"/>
                <a:cs typeface="Roboto Lt"/>
              </a:rPr>
              <a:t> </a:t>
            </a:r>
            <a:r>
              <a:rPr dirty="0" sz="1900" spc="-10">
                <a:latin typeface="Roboto Lt"/>
                <a:cs typeface="Roboto Lt"/>
              </a:rPr>
              <a:t>conﬁgured</a:t>
            </a:r>
            <a:r>
              <a:rPr dirty="0" sz="1900" spc="-65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on</a:t>
            </a:r>
            <a:r>
              <a:rPr dirty="0" sz="1900" spc="-60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the</a:t>
            </a:r>
            <a:r>
              <a:rPr dirty="0" sz="1900" spc="-60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online</a:t>
            </a:r>
            <a:r>
              <a:rPr dirty="0" sz="1900" spc="-60">
                <a:latin typeface="Roboto Lt"/>
                <a:cs typeface="Roboto Lt"/>
              </a:rPr>
              <a:t> </a:t>
            </a:r>
            <a:r>
              <a:rPr dirty="0" sz="1900" spc="-10">
                <a:latin typeface="Roboto Lt"/>
                <a:cs typeface="Roboto Lt"/>
              </a:rPr>
              <a:t>Portal</a:t>
            </a:r>
            <a:endParaRPr sz="1900">
              <a:latin typeface="Roboto Lt"/>
              <a:cs typeface="Roboto Lt"/>
            </a:endParaRPr>
          </a:p>
          <a:p>
            <a:pPr marL="12700" marR="810895">
              <a:lnSpc>
                <a:spcPct val="158900"/>
              </a:lnSpc>
            </a:pPr>
            <a:r>
              <a:rPr dirty="0" sz="1900" spc="-10" b="1">
                <a:latin typeface="Roboto"/>
                <a:cs typeface="Roboto"/>
              </a:rPr>
              <a:t>Solution:</a:t>
            </a:r>
            <a:r>
              <a:rPr dirty="0" sz="1900" spc="-80" b="1">
                <a:latin typeface="Roboto"/>
                <a:cs typeface="Roboto"/>
              </a:rPr>
              <a:t> </a:t>
            </a:r>
            <a:r>
              <a:rPr dirty="0" sz="1900">
                <a:latin typeface="Roboto Lt"/>
                <a:cs typeface="Roboto Lt"/>
              </a:rPr>
              <a:t>TAs</a:t>
            </a:r>
            <a:r>
              <a:rPr dirty="0" sz="1900" spc="-45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to</a:t>
            </a:r>
            <a:r>
              <a:rPr dirty="0" sz="1900" spc="-40">
                <a:latin typeface="Roboto Lt"/>
                <a:cs typeface="Roboto Lt"/>
              </a:rPr>
              <a:t> </a:t>
            </a:r>
            <a:r>
              <a:rPr dirty="0" sz="1900" spc="-10">
                <a:latin typeface="Roboto Lt"/>
                <a:cs typeface="Roboto Lt"/>
              </a:rPr>
              <a:t>carefully</a:t>
            </a:r>
            <a:r>
              <a:rPr dirty="0" sz="1900" spc="-45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check</a:t>
            </a:r>
            <a:r>
              <a:rPr dirty="0" sz="1900" spc="-45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all</a:t>
            </a:r>
            <a:r>
              <a:rPr dirty="0" sz="1900" spc="-45">
                <a:latin typeface="Roboto Lt"/>
                <a:cs typeface="Roboto Lt"/>
              </a:rPr>
              <a:t> </a:t>
            </a:r>
            <a:r>
              <a:rPr dirty="0" sz="1900" spc="-10">
                <a:latin typeface="Roboto Lt"/>
                <a:cs typeface="Roboto Lt"/>
              </a:rPr>
              <a:t>solutions</a:t>
            </a:r>
            <a:r>
              <a:rPr dirty="0" sz="1900" spc="-40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as</a:t>
            </a:r>
            <a:r>
              <a:rPr dirty="0" sz="1900" spc="-45">
                <a:latin typeface="Roboto Lt"/>
                <a:cs typeface="Roboto Lt"/>
              </a:rPr>
              <a:t> </a:t>
            </a:r>
            <a:r>
              <a:rPr dirty="0" sz="1900" spc="-10">
                <a:latin typeface="Roboto Lt"/>
                <a:cs typeface="Roboto Lt"/>
              </a:rPr>
              <a:t>conﬁgured</a:t>
            </a:r>
            <a:r>
              <a:rPr dirty="0" sz="1900" spc="-45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on</a:t>
            </a:r>
            <a:r>
              <a:rPr dirty="0" sz="1900" spc="-45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the</a:t>
            </a:r>
            <a:r>
              <a:rPr dirty="0" sz="1900" spc="-40">
                <a:latin typeface="Roboto Lt"/>
                <a:cs typeface="Roboto Lt"/>
              </a:rPr>
              <a:t> </a:t>
            </a:r>
            <a:r>
              <a:rPr dirty="0" sz="1900" spc="-10">
                <a:latin typeface="Roboto Lt"/>
                <a:cs typeface="Roboto Lt"/>
              </a:rPr>
              <a:t>portal </a:t>
            </a:r>
            <a:r>
              <a:rPr dirty="0" sz="1900">
                <a:latin typeface="Roboto Lt"/>
                <a:cs typeface="Roboto Lt"/>
              </a:rPr>
              <a:t>Give</a:t>
            </a:r>
            <a:r>
              <a:rPr dirty="0" sz="1900" spc="-60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enough</a:t>
            </a:r>
            <a:r>
              <a:rPr dirty="0" sz="1900" spc="-55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time</a:t>
            </a:r>
            <a:r>
              <a:rPr dirty="0" sz="1900" spc="-60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for</a:t>
            </a:r>
            <a:r>
              <a:rPr dirty="0" sz="1900" spc="-55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NPTEL</a:t>
            </a:r>
            <a:r>
              <a:rPr dirty="0" sz="1900" spc="-60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oﬃce</a:t>
            </a:r>
            <a:r>
              <a:rPr dirty="0" sz="1900" spc="-55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to</a:t>
            </a:r>
            <a:r>
              <a:rPr dirty="0" sz="1900" spc="-60">
                <a:latin typeface="Roboto Lt"/>
                <a:cs typeface="Roboto Lt"/>
              </a:rPr>
              <a:t> </a:t>
            </a:r>
            <a:r>
              <a:rPr dirty="0" sz="1900" spc="-10">
                <a:latin typeface="Roboto Lt"/>
                <a:cs typeface="Roboto Lt"/>
              </a:rPr>
              <a:t>conﬁgure</a:t>
            </a:r>
            <a:r>
              <a:rPr dirty="0" sz="1900" spc="-55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and</a:t>
            </a:r>
            <a:r>
              <a:rPr dirty="0" sz="1900" spc="-90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TAs</a:t>
            </a:r>
            <a:r>
              <a:rPr dirty="0" sz="1900" spc="-55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to</a:t>
            </a:r>
            <a:r>
              <a:rPr dirty="0" sz="1900" spc="-60">
                <a:latin typeface="Roboto Lt"/>
                <a:cs typeface="Roboto Lt"/>
              </a:rPr>
              <a:t> </a:t>
            </a:r>
            <a:r>
              <a:rPr dirty="0" sz="1900" spc="-10">
                <a:latin typeface="Roboto Lt"/>
                <a:cs typeface="Roboto Lt"/>
              </a:rPr>
              <a:t>verify</a:t>
            </a:r>
            <a:endParaRPr sz="190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900" spc="-20">
                <a:latin typeface="Roboto Lt"/>
                <a:cs typeface="Roboto Lt"/>
              </a:rPr>
              <a:t>Why?</a:t>
            </a:r>
            <a:endParaRPr sz="1900">
              <a:latin typeface="Roboto Lt"/>
              <a:cs typeface="Roboto Lt"/>
            </a:endParaRPr>
          </a:p>
          <a:p>
            <a:pPr marL="469265" indent="-374015">
              <a:lnSpc>
                <a:spcPct val="100000"/>
              </a:lnSpc>
              <a:spcBef>
                <a:spcPts val="34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900">
                <a:latin typeface="Roboto Lt"/>
                <a:cs typeface="Roboto Lt"/>
              </a:rPr>
              <a:t>Errors</a:t>
            </a:r>
            <a:r>
              <a:rPr dirty="0" sz="1900" spc="-60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take</a:t>
            </a:r>
            <a:r>
              <a:rPr dirty="0" sz="1900" spc="-55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time</a:t>
            </a:r>
            <a:r>
              <a:rPr dirty="0" sz="1900" spc="-55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to</a:t>
            </a:r>
            <a:r>
              <a:rPr dirty="0" sz="1900" spc="-55">
                <a:latin typeface="Roboto Lt"/>
                <a:cs typeface="Roboto Lt"/>
              </a:rPr>
              <a:t> </a:t>
            </a:r>
            <a:r>
              <a:rPr dirty="0" sz="1900" spc="-10">
                <a:latin typeface="Roboto Lt"/>
                <a:cs typeface="Roboto Lt"/>
              </a:rPr>
              <a:t>handle</a:t>
            </a:r>
            <a:endParaRPr sz="1900">
              <a:latin typeface="Roboto Lt"/>
              <a:cs typeface="Roboto Lt"/>
            </a:endParaRPr>
          </a:p>
          <a:p>
            <a:pPr lvl="1" marL="926465" indent="-358775">
              <a:lnSpc>
                <a:spcPct val="100000"/>
              </a:lnSpc>
              <a:spcBef>
                <a:spcPts val="350"/>
              </a:spcBef>
              <a:buFont typeface="Arial MT"/>
              <a:buChar char="○"/>
              <a:tabLst>
                <a:tab pos="926465" algn="l"/>
              </a:tabLst>
            </a:pPr>
            <a:r>
              <a:rPr dirty="0" sz="1700">
                <a:latin typeface="Roboto Lt"/>
                <a:cs typeface="Roboto Lt"/>
              </a:rPr>
              <a:t>For</a:t>
            </a:r>
            <a:r>
              <a:rPr dirty="0" sz="1700" spc="-5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each</a:t>
            </a:r>
            <a:r>
              <a:rPr dirty="0" sz="1700" spc="-45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error:</a:t>
            </a:r>
            <a:r>
              <a:rPr dirty="0" sz="1700" spc="-5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(i)</a:t>
            </a:r>
            <a:r>
              <a:rPr dirty="0" sz="1700" spc="-75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The</a:t>
            </a:r>
            <a:r>
              <a:rPr dirty="0" sz="1700" spc="-45">
                <a:latin typeface="Roboto Lt"/>
                <a:cs typeface="Roboto Lt"/>
              </a:rPr>
              <a:t> </a:t>
            </a:r>
            <a:r>
              <a:rPr dirty="0" sz="1700" spc="-10">
                <a:latin typeface="Roboto Lt"/>
                <a:cs typeface="Roboto Lt"/>
              </a:rPr>
              <a:t>assignment</a:t>
            </a:r>
            <a:r>
              <a:rPr dirty="0" sz="1700" spc="-45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is</a:t>
            </a:r>
            <a:r>
              <a:rPr dirty="0" sz="1700" spc="-5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made</a:t>
            </a:r>
            <a:r>
              <a:rPr dirty="0" sz="1700" spc="-45">
                <a:latin typeface="Roboto Lt"/>
                <a:cs typeface="Roboto Lt"/>
              </a:rPr>
              <a:t> </a:t>
            </a:r>
            <a:r>
              <a:rPr dirty="0" sz="1700" spc="-10">
                <a:latin typeface="Roboto Lt"/>
                <a:cs typeface="Roboto Lt"/>
              </a:rPr>
              <a:t>private;</a:t>
            </a:r>
            <a:r>
              <a:rPr dirty="0" sz="1700" spc="-5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(ii)</a:t>
            </a:r>
            <a:r>
              <a:rPr dirty="0" sz="1700" spc="-45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solution</a:t>
            </a:r>
            <a:r>
              <a:rPr dirty="0" sz="1700" spc="-45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are</a:t>
            </a:r>
            <a:r>
              <a:rPr dirty="0" sz="1700" spc="-50">
                <a:latin typeface="Roboto Lt"/>
                <a:cs typeface="Roboto Lt"/>
              </a:rPr>
              <a:t> </a:t>
            </a:r>
            <a:r>
              <a:rPr dirty="0" sz="1700" spc="-10">
                <a:latin typeface="Roboto Lt"/>
                <a:cs typeface="Roboto Lt"/>
              </a:rPr>
              <a:t>changed;</a:t>
            </a:r>
            <a:endParaRPr sz="1700">
              <a:latin typeface="Roboto Lt"/>
              <a:cs typeface="Roboto Lt"/>
            </a:endParaRPr>
          </a:p>
          <a:p>
            <a:pPr marL="927100">
              <a:lnSpc>
                <a:spcPct val="100000"/>
              </a:lnSpc>
              <a:spcBef>
                <a:spcPts val="305"/>
              </a:spcBef>
            </a:pPr>
            <a:r>
              <a:rPr dirty="0" sz="1700">
                <a:latin typeface="Roboto Lt"/>
                <a:cs typeface="Roboto Lt"/>
              </a:rPr>
              <a:t>(iii)</a:t>
            </a:r>
            <a:r>
              <a:rPr dirty="0" sz="1700" spc="-45">
                <a:latin typeface="Roboto Lt"/>
                <a:cs typeface="Roboto Lt"/>
              </a:rPr>
              <a:t> </a:t>
            </a:r>
            <a:r>
              <a:rPr dirty="0" sz="1700" spc="-60">
                <a:latin typeface="Roboto Lt"/>
                <a:cs typeface="Roboto Lt"/>
              </a:rPr>
              <a:t>re-</a:t>
            </a:r>
            <a:r>
              <a:rPr dirty="0" sz="1700" spc="-25">
                <a:latin typeface="Roboto Lt"/>
                <a:cs typeface="Roboto Lt"/>
              </a:rPr>
              <a:t>grading</a:t>
            </a:r>
            <a:r>
              <a:rPr dirty="0" sz="1700" spc="-4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job</a:t>
            </a:r>
            <a:r>
              <a:rPr dirty="0" sz="1700" spc="-4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is</a:t>
            </a:r>
            <a:r>
              <a:rPr dirty="0" sz="1700" spc="-4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started;</a:t>
            </a:r>
            <a:r>
              <a:rPr dirty="0" sz="1700" spc="-4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(iv)</a:t>
            </a:r>
            <a:r>
              <a:rPr dirty="0" sz="1700" spc="-40">
                <a:latin typeface="Roboto Lt"/>
                <a:cs typeface="Roboto Lt"/>
              </a:rPr>
              <a:t> </a:t>
            </a:r>
            <a:r>
              <a:rPr dirty="0" sz="1700" spc="-10">
                <a:latin typeface="Roboto Lt"/>
                <a:cs typeface="Roboto Lt"/>
              </a:rPr>
              <a:t>announcement</a:t>
            </a:r>
            <a:r>
              <a:rPr dirty="0" sz="1700" spc="-4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is</a:t>
            </a:r>
            <a:r>
              <a:rPr dirty="0" sz="1700" spc="-40">
                <a:latin typeface="Roboto Lt"/>
                <a:cs typeface="Roboto Lt"/>
              </a:rPr>
              <a:t> </a:t>
            </a:r>
            <a:r>
              <a:rPr dirty="0" sz="1700" spc="-10">
                <a:latin typeface="Roboto Lt"/>
                <a:cs typeface="Roboto Lt"/>
              </a:rPr>
              <a:t>posted</a:t>
            </a:r>
            <a:endParaRPr sz="1700">
              <a:latin typeface="Roboto Lt"/>
              <a:cs typeface="Roboto Lt"/>
            </a:endParaRPr>
          </a:p>
          <a:p>
            <a:pPr marL="469265" indent="-374015">
              <a:lnSpc>
                <a:spcPct val="100000"/>
              </a:lnSpc>
              <a:spcBef>
                <a:spcPts val="30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900">
                <a:latin typeface="Roboto Lt"/>
                <a:cs typeface="Roboto Lt"/>
              </a:rPr>
              <a:t>Errors</a:t>
            </a:r>
            <a:r>
              <a:rPr dirty="0" sz="1900" spc="-60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are</a:t>
            </a:r>
            <a:r>
              <a:rPr dirty="0" sz="1900" spc="-60">
                <a:latin typeface="Roboto Lt"/>
                <a:cs typeface="Roboto Lt"/>
              </a:rPr>
              <a:t> </a:t>
            </a:r>
            <a:r>
              <a:rPr dirty="0" sz="1900" spc="-10">
                <a:latin typeface="Roboto Lt"/>
                <a:cs typeface="Roboto Lt"/>
              </a:rPr>
              <a:t>expensive</a:t>
            </a:r>
            <a:endParaRPr sz="1900">
              <a:latin typeface="Roboto Lt"/>
              <a:cs typeface="Roboto Lt"/>
            </a:endParaRPr>
          </a:p>
          <a:p>
            <a:pPr lvl="1" marL="926465" indent="-358775">
              <a:lnSpc>
                <a:spcPct val="100000"/>
              </a:lnSpc>
              <a:spcBef>
                <a:spcPts val="350"/>
              </a:spcBef>
              <a:buFont typeface="Arial MT"/>
              <a:buChar char="○"/>
              <a:tabLst>
                <a:tab pos="926465" algn="l"/>
              </a:tabLst>
            </a:pPr>
            <a:r>
              <a:rPr dirty="0" sz="1700" spc="-10">
                <a:latin typeface="Roboto Lt"/>
                <a:cs typeface="Roboto Lt"/>
              </a:rPr>
              <a:t>Approximately</a:t>
            </a:r>
            <a:r>
              <a:rPr dirty="0" sz="1700" spc="-5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Rs.</a:t>
            </a:r>
            <a:r>
              <a:rPr dirty="0" sz="1700" spc="-35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25,000</a:t>
            </a:r>
            <a:r>
              <a:rPr dirty="0" sz="1700" spc="-35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to</a:t>
            </a:r>
            <a:r>
              <a:rPr dirty="0" sz="1700" spc="-4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50,000</a:t>
            </a:r>
            <a:r>
              <a:rPr dirty="0" sz="1700" spc="-35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per</a:t>
            </a:r>
            <a:r>
              <a:rPr dirty="0" sz="1700" spc="-35">
                <a:latin typeface="Roboto Lt"/>
                <a:cs typeface="Roboto Lt"/>
              </a:rPr>
              <a:t> </a:t>
            </a:r>
            <a:r>
              <a:rPr dirty="0" sz="1700" spc="-20">
                <a:latin typeface="Roboto Lt"/>
                <a:cs typeface="Roboto Lt"/>
              </a:rPr>
              <a:t>week</a:t>
            </a:r>
            <a:endParaRPr sz="1700">
              <a:latin typeface="Roboto Lt"/>
              <a:cs typeface="Roboto Lt"/>
            </a:endParaRPr>
          </a:p>
          <a:p>
            <a:pPr marL="469265" indent="-374015">
              <a:lnSpc>
                <a:spcPct val="100000"/>
              </a:lnSpc>
              <a:spcBef>
                <a:spcPts val="29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900">
                <a:latin typeface="Roboto Lt"/>
                <a:cs typeface="Roboto Lt"/>
              </a:rPr>
              <a:t>Errors</a:t>
            </a:r>
            <a:r>
              <a:rPr dirty="0" sz="1900" spc="-40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are</a:t>
            </a:r>
            <a:r>
              <a:rPr dirty="0" sz="1900" spc="-35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a</a:t>
            </a:r>
            <a:r>
              <a:rPr dirty="0" sz="1900" spc="-40">
                <a:latin typeface="Roboto Lt"/>
                <a:cs typeface="Roboto Lt"/>
              </a:rPr>
              <a:t> </a:t>
            </a:r>
            <a:r>
              <a:rPr dirty="0" sz="1900" spc="-10">
                <a:latin typeface="Roboto Lt"/>
                <a:cs typeface="Roboto Lt"/>
              </a:rPr>
              <a:t>reﬂection</a:t>
            </a:r>
            <a:r>
              <a:rPr dirty="0" sz="1900" spc="-35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of</a:t>
            </a:r>
            <a:r>
              <a:rPr dirty="0" sz="1900" spc="-40">
                <a:latin typeface="Roboto Lt"/>
                <a:cs typeface="Roboto Lt"/>
              </a:rPr>
              <a:t> </a:t>
            </a:r>
            <a:r>
              <a:rPr dirty="0" sz="1900">
                <a:latin typeface="Roboto Lt"/>
                <a:cs typeface="Roboto Lt"/>
              </a:rPr>
              <a:t>our</a:t>
            </a:r>
            <a:r>
              <a:rPr dirty="0" sz="1900" spc="-35">
                <a:latin typeface="Roboto Lt"/>
                <a:cs typeface="Roboto Lt"/>
              </a:rPr>
              <a:t> </a:t>
            </a:r>
            <a:r>
              <a:rPr dirty="0" sz="1900" spc="-10">
                <a:latin typeface="Roboto Lt"/>
                <a:cs typeface="Roboto Lt"/>
              </a:rPr>
              <a:t>quality</a:t>
            </a:r>
            <a:endParaRPr sz="1900">
              <a:latin typeface="Roboto Lt"/>
              <a:cs typeface="Roboto Lt"/>
            </a:endParaRPr>
          </a:p>
          <a:p>
            <a:pPr lvl="1" marL="927100" marR="5080" indent="-359410">
              <a:lnSpc>
                <a:spcPct val="114999"/>
              </a:lnSpc>
              <a:spcBef>
                <a:spcPts val="45"/>
              </a:spcBef>
              <a:buFont typeface="Arial MT"/>
              <a:buChar char="○"/>
              <a:tabLst>
                <a:tab pos="927100" algn="l"/>
              </a:tabLst>
            </a:pPr>
            <a:r>
              <a:rPr dirty="0" sz="1700">
                <a:latin typeface="Roboto Lt"/>
                <a:cs typeface="Roboto Lt"/>
              </a:rPr>
              <a:t>When</a:t>
            </a:r>
            <a:r>
              <a:rPr dirty="0" sz="1700" spc="-60">
                <a:latin typeface="Roboto Lt"/>
                <a:cs typeface="Roboto Lt"/>
              </a:rPr>
              <a:t> </a:t>
            </a:r>
            <a:r>
              <a:rPr dirty="0" sz="1700" spc="-10">
                <a:latin typeface="Roboto Lt"/>
                <a:cs typeface="Roboto Lt"/>
              </a:rPr>
              <a:t>students</a:t>
            </a:r>
            <a:r>
              <a:rPr dirty="0" sz="1700" spc="-6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ask</a:t>
            </a:r>
            <a:r>
              <a:rPr dirty="0" sz="1700" spc="-6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queries</a:t>
            </a:r>
            <a:r>
              <a:rPr dirty="0" sz="1700" spc="-6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about</a:t>
            </a:r>
            <a:r>
              <a:rPr dirty="0" sz="1700" spc="-6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their</a:t>
            </a:r>
            <a:r>
              <a:rPr dirty="0" sz="1700" spc="-6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exams,</a:t>
            </a:r>
            <a:r>
              <a:rPr dirty="0" sz="1700" spc="-6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they</a:t>
            </a:r>
            <a:r>
              <a:rPr dirty="0" sz="1700" spc="-6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say</a:t>
            </a:r>
            <a:r>
              <a:rPr dirty="0" sz="1700" spc="-6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that</a:t>
            </a:r>
            <a:r>
              <a:rPr dirty="0" sz="1700" spc="-6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if</a:t>
            </a:r>
            <a:r>
              <a:rPr dirty="0" sz="1700" spc="-6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there</a:t>
            </a:r>
            <a:r>
              <a:rPr dirty="0" sz="1700" spc="-6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were</a:t>
            </a:r>
            <a:r>
              <a:rPr dirty="0" sz="1700" spc="-5">
                <a:latin typeface="Roboto Lt"/>
                <a:cs typeface="Roboto Lt"/>
              </a:rPr>
              <a:t> </a:t>
            </a:r>
            <a:r>
              <a:rPr dirty="0" sz="1700" spc="-10">
                <a:latin typeface="Roboto Lt"/>
                <a:cs typeface="Roboto Lt"/>
              </a:rPr>
              <a:t>errors </a:t>
            </a:r>
            <a:r>
              <a:rPr dirty="0" sz="1700">
                <a:latin typeface="Roboto Lt"/>
                <a:cs typeface="Roboto Lt"/>
              </a:rPr>
              <a:t>in</a:t>
            </a:r>
            <a:r>
              <a:rPr dirty="0" sz="1700" spc="-4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the</a:t>
            </a:r>
            <a:r>
              <a:rPr dirty="0" sz="1700" spc="-40">
                <a:latin typeface="Roboto Lt"/>
                <a:cs typeface="Roboto Lt"/>
              </a:rPr>
              <a:t> </a:t>
            </a:r>
            <a:r>
              <a:rPr dirty="0" sz="1700" spc="-10">
                <a:latin typeface="Roboto Lt"/>
                <a:cs typeface="Roboto Lt"/>
              </a:rPr>
              <a:t>assignments,</a:t>
            </a:r>
            <a:r>
              <a:rPr dirty="0" sz="1700" spc="-4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how</a:t>
            </a:r>
            <a:r>
              <a:rPr dirty="0" sz="1700" spc="-4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sure</a:t>
            </a:r>
            <a:r>
              <a:rPr dirty="0" sz="1700" spc="-4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are</a:t>
            </a:r>
            <a:r>
              <a:rPr dirty="0" sz="1700" spc="-4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we</a:t>
            </a:r>
            <a:r>
              <a:rPr dirty="0" sz="1700" spc="-4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that</a:t>
            </a:r>
            <a:r>
              <a:rPr dirty="0" sz="1700" spc="-4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exam</a:t>
            </a:r>
            <a:r>
              <a:rPr dirty="0" sz="1700" spc="-35">
                <a:latin typeface="Roboto Lt"/>
                <a:cs typeface="Roboto Lt"/>
              </a:rPr>
              <a:t> </a:t>
            </a:r>
            <a:r>
              <a:rPr dirty="0" sz="1700" spc="-10">
                <a:latin typeface="Roboto Lt"/>
                <a:cs typeface="Roboto Lt"/>
              </a:rPr>
              <a:t>questions</a:t>
            </a:r>
            <a:r>
              <a:rPr dirty="0" sz="1700" spc="-40">
                <a:latin typeface="Roboto Lt"/>
                <a:cs typeface="Roboto Lt"/>
              </a:rPr>
              <a:t> </a:t>
            </a:r>
            <a:r>
              <a:rPr dirty="0" sz="1700">
                <a:latin typeface="Roboto Lt"/>
                <a:cs typeface="Roboto Lt"/>
              </a:rPr>
              <a:t>are</a:t>
            </a:r>
            <a:r>
              <a:rPr dirty="0" sz="1700" spc="-40">
                <a:latin typeface="Roboto Lt"/>
                <a:cs typeface="Roboto Lt"/>
              </a:rPr>
              <a:t> </a:t>
            </a:r>
            <a:r>
              <a:rPr dirty="0" sz="1700" spc="-45">
                <a:latin typeface="Roboto Lt"/>
                <a:cs typeface="Roboto Lt"/>
              </a:rPr>
              <a:t>error-</a:t>
            </a:r>
            <a:r>
              <a:rPr dirty="0" sz="1700" spc="-10">
                <a:latin typeface="Roboto Lt"/>
                <a:cs typeface="Roboto Lt"/>
              </a:rPr>
              <a:t>free.</a:t>
            </a:r>
            <a:endParaRPr sz="17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67467"/>
            <a:ext cx="9142095" cy="4611370"/>
          </a:xfrm>
          <a:custGeom>
            <a:avLst/>
            <a:gdLst/>
            <a:ahLst/>
            <a:cxnLst/>
            <a:rect l="l" t="t" r="r" b="b"/>
            <a:pathLst>
              <a:path w="9142095" h="4611370">
                <a:moveTo>
                  <a:pt x="9141713" y="4611290"/>
                </a:moveTo>
                <a:lnTo>
                  <a:pt x="0" y="4611290"/>
                </a:lnTo>
                <a:lnTo>
                  <a:pt x="0" y="0"/>
                </a:lnTo>
                <a:lnTo>
                  <a:pt x="9141713" y="0"/>
                </a:lnTo>
                <a:lnTo>
                  <a:pt x="9141713" y="4611290"/>
                </a:lnTo>
                <a:close/>
              </a:path>
            </a:pathLst>
          </a:custGeom>
          <a:solidFill>
            <a:srgbClr val="C96329">
              <a:alpha val="16862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85724"/>
            <a:ext cx="9142095" cy="382270"/>
            <a:chOff x="0" y="85724"/>
            <a:chExt cx="9142095" cy="382270"/>
          </a:xfrm>
        </p:grpSpPr>
        <p:sp>
          <p:nvSpPr>
            <p:cNvPr id="4" name="object 4"/>
            <p:cNvSpPr/>
            <p:nvPr/>
          </p:nvSpPr>
          <p:spPr>
            <a:xfrm>
              <a:off x="0" y="404659"/>
              <a:ext cx="5243830" cy="62865"/>
            </a:xfrm>
            <a:custGeom>
              <a:avLst/>
              <a:gdLst/>
              <a:ahLst/>
              <a:cxnLst/>
              <a:rect l="l" t="t" r="r" b="b"/>
              <a:pathLst>
                <a:path w="5243830" h="62865">
                  <a:moveTo>
                    <a:pt x="5243369" y="62807"/>
                  </a:moveTo>
                  <a:lnTo>
                    <a:pt x="0" y="62807"/>
                  </a:lnTo>
                  <a:lnTo>
                    <a:pt x="0" y="0"/>
                  </a:lnTo>
                  <a:lnTo>
                    <a:pt x="5243369" y="0"/>
                  </a:lnTo>
                  <a:lnTo>
                    <a:pt x="5243369" y="62807"/>
                  </a:lnTo>
                  <a:close/>
                </a:path>
              </a:pathLst>
            </a:custGeom>
            <a:solidFill>
              <a:srgbClr val="ABD1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243369" y="404659"/>
              <a:ext cx="3898900" cy="62865"/>
            </a:xfrm>
            <a:custGeom>
              <a:avLst/>
              <a:gdLst/>
              <a:ahLst/>
              <a:cxnLst/>
              <a:rect l="l" t="t" r="r" b="b"/>
              <a:pathLst>
                <a:path w="3898900" h="62865">
                  <a:moveTo>
                    <a:pt x="3898343" y="62807"/>
                  </a:moveTo>
                  <a:lnTo>
                    <a:pt x="0" y="62807"/>
                  </a:lnTo>
                  <a:lnTo>
                    <a:pt x="0" y="0"/>
                  </a:lnTo>
                  <a:lnTo>
                    <a:pt x="3898343" y="0"/>
                  </a:lnTo>
                  <a:lnTo>
                    <a:pt x="3898343" y="62807"/>
                  </a:lnTo>
                  <a:close/>
                </a:path>
              </a:pathLst>
            </a:custGeom>
            <a:solidFill>
              <a:srgbClr val="46A7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5725" y="85724"/>
              <a:ext cx="4286885" cy="327660"/>
            </a:xfrm>
            <a:custGeom>
              <a:avLst/>
              <a:gdLst/>
              <a:ahLst/>
              <a:cxnLst/>
              <a:rect l="l" t="t" r="r" b="b"/>
              <a:pathLst>
                <a:path w="4286885" h="327659">
                  <a:moveTo>
                    <a:pt x="4286840" y="327659"/>
                  </a:moveTo>
                  <a:lnTo>
                    <a:pt x="0" y="327659"/>
                  </a:lnTo>
                  <a:lnTo>
                    <a:pt x="0" y="0"/>
                  </a:lnTo>
                  <a:lnTo>
                    <a:pt x="4286840" y="0"/>
                  </a:lnTo>
                  <a:lnTo>
                    <a:pt x="4286840" y="3276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64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10"/>
              <a:t>MATLAB</a:t>
            </a:r>
            <a:r>
              <a:rPr dirty="0" sz="2150" spc="-90"/>
              <a:t> </a:t>
            </a:r>
            <a:r>
              <a:rPr dirty="0" sz="2150"/>
              <a:t>software</a:t>
            </a:r>
            <a:r>
              <a:rPr dirty="0" sz="2150" spc="-85"/>
              <a:t> </a:t>
            </a:r>
            <a:r>
              <a:rPr dirty="0" sz="2150"/>
              <a:t>in</a:t>
            </a:r>
            <a:r>
              <a:rPr dirty="0" sz="2150" spc="-90"/>
              <a:t> </a:t>
            </a:r>
            <a:r>
              <a:rPr dirty="0" sz="2150"/>
              <a:t>your</a:t>
            </a:r>
            <a:r>
              <a:rPr dirty="0" sz="2150" spc="-85"/>
              <a:t> </a:t>
            </a:r>
            <a:r>
              <a:rPr dirty="0" sz="2150" spc="-10"/>
              <a:t>course</a:t>
            </a:r>
            <a:endParaRPr sz="2150"/>
          </a:p>
        </p:txBody>
      </p:sp>
      <p:sp>
        <p:nvSpPr>
          <p:cNvPr id="8" name="object 8"/>
          <p:cNvSpPr txBox="1"/>
          <p:nvPr/>
        </p:nvSpPr>
        <p:spPr>
          <a:xfrm>
            <a:off x="287975" y="641687"/>
            <a:ext cx="8175625" cy="3439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89535" indent="-336550">
              <a:lnSpc>
                <a:spcPct val="100000"/>
              </a:lnSpc>
              <a:spcBef>
                <a:spcPts val="100"/>
              </a:spcBef>
              <a:buChar char="●"/>
              <a:tabLst>
                <a:tab pos="469900" algn="l"/>
              </a:tabLst>
            </a:pPr>
            <a:r>
              <a:rPr dirty="0" sz="1400">
                <a:latin typeface="Arial MT"/>
                <a:cs typeface="Arial MT"/>
              </a:rPr>
              <a:t>MathWorks,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developer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MATLAB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Simulink,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partnering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with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NPTEL</a:t>
            </a:r>
            <a:r>
              <a:rPr dirty="0" sz="1400" spc="-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provide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support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online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courses.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●"/>
            </a:pPr>
            <a:endParaRPr sz="1400">
              <a:latin typeface="Arial MT"/>
              <a:cs typeface="Arial MT"/>
            </a:endParaRPr>
          </a:p>
          <a:p>
            <a:pPr marL="469900" marR="695325" indent="-336550">
              <a:lnSpc>
                <a:spcPct val="100000"/>
              </a:lnSpc>
              <a:buChar char="●"/>
              <a:tabLst>
                <a:tab pos="469900" algn="l"/>
              </a:tabLst>
            </a:pPr>
            <a:r>
              <a:rPr dirty="0" sz="1400">
                <a:latin typeface="Arial MT"/>
                <a:cs typeface="Arial MT"/>
              </a:rPr>
              <a:t>MathWorks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will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collaborate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with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NPTEL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course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teams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their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online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courses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that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include </a:t>
            </a:r>
            <a:r>
              <a:rPr dirty="0" sz="1400">
                <a:latin typeface="Arial MT"/>
                <a:cs typeface="Arial MT"/>
              </a:rPr>
              <a:t>programming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tasks.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●"/>
            </a:pPr>
            <a:endParaRPr sz="1400">
              <a:latin typeface="Arial MT"/>
              <a:cs typeface="Arial MT"/>
            </a:endParaRPr>
          </a:p>
          <a:p>
            <a:pPr marL="469900" marR="404495" indent="-336550">
              <a:lnSpc>
                <a:spcPct val="100000"/>
              </a:lnSpc>
              <a:buChar char="●"/>
              <a:tabLst>
                <a:tab pos="469900" algn="l"/>
              </a:tabLst>
            </a:pPr>
            <a:r>
              <a:rPr dirty="0" sz="1400">
                <a:latin typeface="Arial MT"/>
                <a:cs typeface="Arial MT"/>
              </a:rPr>
              <a:t>This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support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includes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video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tutorials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basic</a:t>
            </a:r>
            <a:r>
              <a:rPr dirty="0" sz="1400" spc="-20">
                <a:latin typeface="Arial MT"/>
                <a:cs typeface="Arial MT"/>
              </a:rPr>
              <a:t> MATLAB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skills,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technical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support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discussion </a:t>
            </a:r>
            <a:r>
              <a:rPr dirty="0" sz="1400">
                <a:latin typeface="Arial MT"/>
                <a:cs typeface="Arial MT"/>
              </a:rPr>
              <a:t>forums,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free</a:t>
            </a:r>
            <a:r>
              <a:rPr dirty="0" sz="1400" spc="-20">
                <a:latin typeface="Arial MT"/>
                <a:cs typeface="Arial MT"/>
              </a:rPr>
              <a:t> MATLAB </a:t>
            </a:r>
            <a:r>
              <a:rPr dirty="0" sz="1400">
                <a:latin typeface="Arial MT"/>
                <a:cs typeface="Arial MT"/>
              </a:rPr>
              <a:t>license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duration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course.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●"/>
            </a:pPr>
            <a:endParaRPr sz="140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400">
                <a:latin typeface="Arial MT"/>
                <a:cs typeface="Arial MT"/>
              </a:rPr>
              <a:t>This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has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worked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quite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well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last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13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semesters.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latin typeface="Arial MT"/>
                <a:cs typeface="Arial MT"/>
              </a:rPr>
              <a:t>Incase,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if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your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course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will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require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access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Matlab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software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put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you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touch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with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the </a:t>
            </a:r>
            <a:r>
              <a:rPr dirty="0" sz="1400">
                <a:latin typeface="Arial MT"/>
                <a:cs typeface="Arial MT"/>
              </a:rPr>
              <a:t>Mathworks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team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who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will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guide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you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setup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access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also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help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with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forum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questions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related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10">
                <a:latin typeface="Arial MT"/>
                <a:cs typeface="Arial MT"/>
              </a:rPr>
              <a:t> this.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Arial MT"/>
                <a:cs typeface="Arial MT"/>
              </a:rPr>
              <a:t>We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have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sent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out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email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already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this,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Please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revert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if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your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course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required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30">
                <a:latin typeface="Arial MT"/>
                <a:cs typeface="Arial MT"/>
              </a:rPr>
              <a:t>MATLAB</a:t>
            </a:r>
            <a:r>
              <a:rPr dirty="0" sz="1400" spc="-8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Access.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33850" y="2023501"/>
            <a:ext cx="428879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95" b="0">
                <a:latin typeface="Arial Black"/>
                <a:cs typeface="Arial Black"/>
              </a:rPr>
              <a:t>Best</a:t>
            </a:r>
            <a:r>
              <a:rPr dirty="0" sz="4800" spc="-355" b="0">
                <a:latin typeface="Arial Black"/>
                <a:cs typeface="Arial Black"/>
              </a:rPr>
              <a:t> </a:t>
            </a:r>
            <a:r>
              <a:rPr dirty="0" sz="4800" spc="-380" b="0">
                <a:latin typeface="Arial Black"/>
                <a:cs typeface="Arial Black"/>
              </a:rPr>
              <a:t>Practices</a:t>
            </a:r>
            <a:endParaRPr sz="4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3264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110"/>
              </a:spcBef>
            </a:pPr>
            <a:r>
              <a:rPr dirty="0" sz="2150">
                <a:latin typeface="Roboto"/>
                <a:cs typeface="Roboto"/>
              </a:rPr>
              <a:t>Best</a:t>
            </a:r>
            <a:r>
              <a:rPr dirty="0" sz="2150" spc="-10">
                <a:latin typeface="Roboto"/>
                <a:cs typeface="Roboto"/>
              </a:rPr>
              <a:t> </a:t>
            </a:r>
            <a:r>
              <a:rPr dirty="0" sz="2150">
                <a:latin typeface="Roboto"/>
                <a:cs typeface="Roboto"/>
              </a:rPr>
              <a:t>Practices:</a:t>
            </a:r>
            <a:r>
              <a:rPr dirty="0" sz="2150" spc="-10">
                <a:latin typeface="Roboto"/>
                <a:cs typeface="Roboto"/>
              </a:rPr>
              <a:t> </a:t>
            </a:r>
            <a:r>
              <a:rPr dirty="0" sz="2150">
                <a:latin typeface="Roboto"/>
                <a:cs typeface="Roboto"/>
              </a:rPr>
              <a:t>Videos</a:t>
            </a:r>
            <a:r>
              <a:rPr dirty="0" sz="2150" spc="-10">
                <a:latin typeface="Roboto"/>
                <a:cs typeface="Roboto"/>
              </a:rPr>
              <a:t> </a:t>
            </a:r>
            <a:r>
              <a:rPr dirty="0" sz="2150">
                <a:latin typeface="Roboto"/>
                <a:cs typeface="Roboto"/>
              </a:rPr>
              <a:t>and</a:t>
            </a:r>
            <a:r>
              <a:rPr dirty="0" sz="2150" spc="-10">
                <a:latin typeface="Roboto"/>
                <a:cs typeface="Roboto"/>
              </a:rPr>
              <a:t> Interactions</a:t>
            </a:r>
            <a:endParaRPr sz="215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586157"/>
            <a:ext cx="8027034" cy="406527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800" b="1">
                <a:latin typeface="Roboto"/>
                <a:cs typeface="Roboto"/>
              </a:rPr>
              <a:t>For</a:t>
            </a:r>
            <a:r>
              <a:rPr dirty="0" sz="1800" spc="-20" b="1">
                <a:latin typeface="Roboto"/>
                <a:cs typeface="Roboto"/>
              </a:rPr>
              <a:t> </a:t>
            </a:r>
            <a:r>
              <a:rPr dirty="0" sz="1800" b="1">
                <a:latin typeface="Roboto"/>
                <a:cs typeface="Roboto"/>
              </a:rPr>
              <a:t>every</a:t>
            </a:r>
            <a:r>
              <a:rPr dirty="0" sz="1800" spc="-20" b="1">
                <a:latin typeface="Roboto"/>
                <a:cs typeface="Roboto"/>
              </a:rPr>
              <a:t> </a:t>
            </a:r>
            <a:r>
              <a:rPr dirty="0" sz="1800" b="1">
                <a:latin typeface="Roboto"/>
                <a:cs typeface="Roboto"/>
              </a:rPr>
              <a:t>10</a:t>
            </a:r>
            <a:r>
              <a:rPr dirty="0" sz="1800" spc="-15" b="1">
                <a:latin typeface="Roboto"/>
                <a:cs typeface="Roboto"/>
              </a:rPr>
              <a:t> </a:t>
            </a:r>
            <a:r>
              <a:rPr dirty="0" sz="1800" b="1">
                <a:latin typeface="Roboto"/>
                <a:cs typeface="Roboto"/>
              </a:rPr>
              <a:t>minutes</a:t>
            </a:r>
            <a:r>
              <a:rPr dirty="0" sz="1800" spc="-20" b="1">
                <a:latin typeface="Roboto"/>
                <a:cs typeface="Roboto"/>
              </a:rPr>
              <a:t> </a:t>
            </a:r>
            <a:r>
              <a:rPr dirty="0" sz="1800" b="1">
                <a:latin typeface="Roboto"/>
                <a:cs typeface="Roboto"/>
              </a:rPr>
              <a:t>of</a:t>
            </a:r>
            <a:r>
              <a:rPr dirty="0" sz="1800" spc="-20" b="1">
                <a:latin typeface="Roboto"/>
                <a:cs typeface="Roboto"/>
              </a:rPr>
              <a:t> </a:t>
            </a:r>
            <a:r>
              <a:rPr dirty="0" sz="1800" b="1">
                <a:latin typeface="Roboto"/>
                <a:cs typeface="Roboto"/>
              </a:rPr>
              <a:t>the</a:t>
            </a:r>
            <a:r>
              <a:rPr dirty="0" sz="1800" spc="-15" b="1">
                <a:latin typeface="Roboto"/>
                <a:cs typeface="Roboto"/>
              </a:rPr>
              <a:t> </a:t>
            </a:r>
            <a:r>
              <a:rPr dirty="0" sz="1800" spc="-20" b="1">
                <a:latin typeface="Roboto"/>
                <a:cs typeface="Roboto"/>
              </a:rPr>
              <a:t>video</a:t>
            </a:r>
            <a:endParaRPr sz="1800">
              <a:latin typeface="Roboto"/>
              <a:cs typeface="Roboto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Create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90">
                <a:latin typeface="Roboto Lt"/>
                <a:cs typeface="Roboto Lt"/>
              </a:rPr>
              <a:t>2-</a:t>
            </a:r>
            <a:r>
              <a:rPr dirty="0" sz="1800">
                <a:latin typeface="Roboto Lt"/>
                <a:cs typeface="Roboto Lt"/>
              </a:rPr>
              <a:t>3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questions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that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learner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can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use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for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self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evaluation</a:t>
            </a:r>
            <a:endParaRPr sz="18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Will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be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conﬁgured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below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video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and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not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graded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but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just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used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for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self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test.</a:t>
            </a:r>
            <a:endParaRPr sz="180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1800" b="1">
                <a:latin typeface="Roboto"/>
                <a:cs typeface="Roboto"/>
              </a:rPr>
              <a:t>Oﬃce</a:t>
            </a:r>
            <a:r>
              <a:rPr dirty="0" sz="1800" spc="-70" b="1">
                <a:latin typeface="Roboto"/>
                <a:cs typeface="Roboto"/>
              </a:rPr>
              <a:t> </a:t>
            </a:r>
            <a:r>
              <a:rPr dirty="0" sz="1800" spc="-10" b="1">
                <a:latin typeface="Roboto"/>
                <a:cs typeface="Roboto"/>
              </a:rPr>
              <a:t>Hours</a:t>
            </a:r>
            <a:endParaRPr sz="1800">
              <a:latin typeface="Roboto"/>
              <a:cs typeface="Roboto"/>
            </a:endParaRPr>
          </a:p>
          <a:p>
            <a:pPr marL="469900" marR="186690" indent="-367030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800">
                <a:latin typeface="Roboto Lt"/>
                <a:cs typeface="Roboto Lt"/>
              </a:rPr>
              <a:t>One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hour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per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week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on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live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session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(with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consent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of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instructor)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to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answer questions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about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assignment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that</a:t>
            </a:r>
            <a:r>
              <a:rPr dirty="0" sz="1800" spc="-2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just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got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closed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or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about</a:t>
            </a:r>
            <a:r>
              <a:rPr dirty="0" sz="1800" spc="-2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upcoming assignments</a:t>
            </a:r>
            <a:endParaRPr sz="18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Faculty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available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online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during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these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 spc="-30">
                <a:latin typeface="Roboto Lt"/>
                <a:cs typeface="Roboto Lt"/>
              </a:rPr>
              <a:t>“oﬃce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hours”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for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doubt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clearing.</a:t>
            </a:r>
            <a:endParaRPr sz="180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1800" spc="-10" b="1">
                <a:latin typeface="Roboto"/>
                <a:cs typeface="Roboto"/>
              </a:rPr>
              <a:t>Discussion</a:t>
            </a:r>
            <a:r>
              <a:rPr dirty="0" sz="1800" spc="-40" b="1">
                <a:latin typeface="Roboto"/>
                <a:cs typeface="Roboto"/>
              </a:rPr>
              <a:t> </a:t>
            </a:r>
            <a:r>
              <a:rPr dirty="0" sz="1800" spc="-10" b="1">
                <a:latin typeface="Roboto"/>
                <a:cs typeface="Roboto"/>
              </a:rPr>
              <a:t>Forum</a:t>
            </a:r>
            <a:endParaRPr sz="1800">
              <a:latin typeface="Roboto"/>
              <a:cs typeface="Roboto"/>
            </a:endParaRPr>
          </a:p>
          <a:p>
            <a:pPr marL="469265" indent="-366395">
              <a:lnSpc>
                <a:spcPct val="100000"/>
              </a:lnSpc>
              <a:spcBef>
                <a:spcPts val="32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Introduce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yourself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on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forum</a:t>
            </a:r>
            <a:endParaRPr sz="18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Check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forum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twice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everyday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and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answer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queries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raised</a:t>
            </a:r>
            <a:endParaRPr sz="18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If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there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are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not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many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queries,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ask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questions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to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start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discussion.</a:t>
            </a:r>
            <a:endParaRPr sz="18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49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Best</a:t>
            </a:r>
            <a:r>
              <a:rPr dirty="0" sz="2400" spc="-70"/>
              <a:t> </a:t>
            </a:r>
            <a:r>
              <a:rPr dirty="0" sz="2400"/>
              <a:t>Practices:</a:t>
            </a:r>
            <a:r>
              <a:rPr dirty="0" sz="2400" spc="-70"/>
              <a:t> </a:t>
            </a:r>
            <a:r>
              <a:rPr dirty="0" sz="2400" spc="-20"/>
              <a:t>Weekly</a:t>
            </a:r>
            <a:r>
              <a:rPr dirty="0" sz="2400" spc="-145"/>
              <a:t> </a:t>
            </a:r>
            <a:r>
              <a:rPr dirty="0" sz="2400" spc="-10"/>
              <a:t>Assignments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254000" y="626290"/>
            <a:ext cx="8576945" cy="2105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latin typeface="Roboto"/>
                <a:cs typeface="Roboto"/>
              </a:rPr>
              <a:t>Assignments</a:t>
            </a:r>
            <a:endParaRPr sz="2000">
              <a:latin typeface="Roboto"/>
              <a:cs typeface="Roboto"/>
            </a:endParaRPr>
          </a:p>
          <a:p>
            <a:pPr marL="469265" indent="-366395">
              <a:lnSpc>
                <a:spcPct val="100000"/>
              </a:lnSpc>
              <a:spcBef>
                <a:spcPts val="136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Please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have</a:t>
            </a:r>
            <a:r>
              <a:rPr dirty="0" sz="1800" spc="-7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TAs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check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carefully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before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assignments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go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20">
                <a:latin typeface="Roboto Lt"/>
                <a:cs typeface="Roboto Lt"/>
              </a:rPr>
              <a:t>live</a:t>
            </a:r>
            <a:endParaRPr sz="18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1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If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there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are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errors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/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queries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after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deadline,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please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address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them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quickly</a:t>
            </a:r>
            <a:endParaRPr sz="18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1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Numeric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Answers: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Use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reasonably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wide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range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to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accommodate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rounding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errors</a:t>
            </a:r>
            <a:endParaRPr sz="18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1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All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assignments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must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be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multiple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submission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enabled.</a:t>
            </a:r>
            <a:endParaRPr sz="18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324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Roboto"/>
                <a:cs typeface="Roboto"/>
              </a:rPr>
              <a:t>Best</a:t>
            </a:r>
            <a:r>
              <a:rPr dirty="0" sz="2400" spc="-2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Practices</a:t>
            </a:r>
            <a:r>
              <a:rPr dirty="0" sz="2400" spc="-1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in</a:t>
            </a:r>
            <a:r>
              <a:rPr dirty="0" sz="2400" spc="-1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Descriptive</a:t>
            </a:r>
            <a:r>
              <a:rPr dirty="0" sz="2400" spc="-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Courses</a:t>
            </a:r>
            <a:r>
              <a:rPr dirty="0" sz="2400" spc="-1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(1</a:t>
            </a:r>
            <a:r>
              <a:rPr dirty="0" sz="2400" spc="-1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of</a:t>
            </a:r>
            <a:r>
              <a:rPr dirty="0" sz="2400" spc="-5">
                <a:latin typeface="Roboto"/>
                <a:cs typeface="Roboto"/>
              </a:rPr>
              <a:t> </a:t>
            </a:r>
            <a:r>
              <a:rPr dirty="0" sz="2400" spc="-25">
                <a:latin typeface="Roboto"/>
                <a:cs typeface="Roboto"/>
              </a:rPr>
              <a:t>2)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586157"/>
            <a:ext cx="7461250" cy="4263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 spc="-10">
                <a:latin typeface="Roboto Lt"/>
                <a:cs typeface="Roboto Lt"/>
              </a:rPr>
              <a:t>Descriptive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courses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do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not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lend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themselves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as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easily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to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large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scale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 spc="-25">
                <a:latin typeface="Roboto Lt"/>
                <a:cs typeface="Roboto Lt"/>
              </a:rPr>
              <a:t>and </a:t>
            </a:r>
            <a:r>
              <a:rPr dirty="0" sz="1800" spc="-45">
                <a:latin typeface="Roboto Lt"/>
                <a:cs typeface="Roboto Lt"/>
              </a:rPr>
              <a:t>auto-</a:t>
            </a:r>
            <a:r>
              <a:rPr dirty="0" sz="1800" spc="-20">
                <a:latin typeface="Roboto Lt"/>
                <a:cs typeface="Roboto Lt"/>
              </a:rPr>
              <a:t>graded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format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of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online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courses.</a:t>
            </a:r>
            <a:endParaRPr sz="180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1800">
                <a:latin typeface="Roboto Lt"/>
                <a:cs typeface="Roboto Lt"/>
              </a:rPr>
              <a:t>But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there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are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lot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of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best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practices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we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have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learnt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over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last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eight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years</a:t>
            </a:r>
            <a:endParaRPr sz="18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132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Use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greater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share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of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MSQs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than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20">
                <a:latin typeface="Roboto Lt"/>
                <a:cs typeface="Roboto Lt"/>
              </a:rPr>
              <a:t>MCQs</a:t>
            </a:r>
            <a:endParaRPr sz="18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1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Use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more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choices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in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MCQs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(Caveat: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Ensure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these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are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real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choices)</a:t>
            </a:r>
            <a:endParaRPr sz="18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1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 spc="-10">
                <a:latin typeface="Roboto Lt"/>
                <a:cs typeface="Roboto Lt"/>
              </a:rPr>
              <a:t>Comprehension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questions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and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Grouped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questions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are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very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powerful!</a:t>
            </a:r>
            <a:endParaRPr sz="1800">
              <a:latin typeface="Roboto Lt"/>
              <a:cs typeface="Roboto Lt"/>
            </a:endParaRPr>
          </a:p>
          <a:p>
            <a:pPr lvl="1" marL="926465" indent="-351155">
              <a:lnSpc>
                <a:spcPct val="100000"/>
              </a:lnSpc>
              <a:spcBef>
                <a:spcPts val="1330"/>
              </a:spcBef>
              <a:buFont typeface="Arial MT"/>
              <a:buChar char="○"/>
              <a:tabLst>
                <a:tab pos="926465" algn="l"/>
              </a:tabLst>
            </a:pPr>
            <a:r>
              <a:rPr dirty="0" sz="1600">
                <a:latin typeface="Roboto Lt"/>
                <a:cs typeface="Roboto Lt"/>
              </a:rPr>
              <a:t>Use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comprehension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passage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followed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by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a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few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linked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questions</a:t>
            </a:r>
            <a:endParaRPr sz="1600">
              <a:latin typeface="Roboto Lt"/>
              <a:cs typeface="Roboto Lt"/>
            </a:endParaRPr>
          </a:p>
          <a:p>
            <a:pPr lvl="1" marL="926465" indent="-320040">
              <a:lnSpc>
                <a:spcPct val="100000"/>
              </a:lnSpc>
              <a:spcBef>
                <a:spcPts val="1290"/>
              </a:spcBef>
              <a:buSzPct val="75000"/>
              <a:buFont typeface="Arial MT"/>
              <a:buChar char="○"/>
              <a:tabLst>
                <a:tab pos="926465" algn="l"/>
              </a:tabLst>
            </a:pPr>
            <a:r>
              <a:rPr dirty="0" sz="1600">
                <a:latin typeface="Roboto Lt"/>
                <a:cs typeface="Roboto Lt"/>
              </a:rPr>
              <a:t>Identify</a:t>
            </a:r>
            <a:r>
              <a:rPr dirty="0" sz="1600" spc="-2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parts</a:t>
            </a:r>
            <a:r>
              <a:rPr dirty="0" sz="1600" spc="-1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of</a:t>
            </a:r>
            <a:r>
              <a:rPr dirty="0" sz="1600" spc="-2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an</a:t>
            </a:r>
            <a:r>
              <a:rPr dirty="0" sz="1600" spc="-1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image</a:t>
            </a:r>
            <a:r>
              <a:rPr dirty="0" sz="1600" spc="-1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/</a:t>
            </a:r>
            <a:r>
              <a:rPr dirty="0" sz="1600" spc="-20">
                <a:latin typeface="Roboto Lt"/>
                <a:cs typeface="Roboto Lt"/>
              </a:rPr>
              <a:t> </a:t>
            </a:r>
            <a:r>
              <a:rPr dirty="0" sz="1600" spc="-45">
                <a:latin typeface="Roboto Lt"/>
                <a:cs typeface="Roboto Lt"/>
              </a:rPr>
              <a:t>Match-</a:t>
            </a:r>
            <a:r>
              <a:rPr dirty="0" sz="1600" spc="-40">
                <a:latin typeface="Roboto Lt"/>
                <a:cs typeface="Roboto Lt"/>
              </a:rPr>
              <a:t>the-</a:t>
            </a:r>
            <a:r>
              <a:rPr dirty="0" sz="1600" spc="-10">
                <a:latin typeface="Roboto Lt"/>
                <a:cs typeface="Roboto Lt"/>
              </a:rPr>
              <a:t>columns</a:t>
            </a:r>
            <a:endParaRPr sz="1600">
              <a:latin typeface="Roboto Lt"/>
              <a:cs typeface="Roboto Lt"/>
            </a:endParaRPr>
          </a:p>
          <a:p>
            <a:pPr lvl="1" marL="926465" indent="-320040">
              <a:lnSpc>
                <a:spcPct val="100000"/>
              </a:lnSpc>
              <a:spcBef>
                <a:spcPts val="1290"/>
              </a:spcBef>
              <a:buSzPct val="75000"/>
              <a:buFont typeface="Arial MT"/>
              <a:buChar char="○"/>
              <a:tabLst>
                <a:tab pos="926465" algn="l"/>
              </a:tabLst>
            </a:pPr>
            <a:r>
              <a:rPr dirty="0" sz="1600">
                <a:latin typeface="Roboto Lt"/>
                <a:cs typeface="Roboto Lt"/>
              </a:rPr>
              <a:t>Email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u="heavy" sz="16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 Lt"/>
                <a:cs typeface="Roboto Lt"/>
                <a:hlinkClick r:id="rId2"/>
              </a:rPr>
              <a:t>nkaisare@nptel.iitm.ac.in</a:t>
            </a:r>
            <a:r>
              <a:rPr dirty="0" sz="1600" spc="-15">
                <a:solidFill>
                  <a:srgbClr val="0097A7"/>
                </a:solidFill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for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suggestions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on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your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favorite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question</a:t>
            </a:r>
            <a:endParaRPr sz="1600">
              <a:latin typeface="Roboto Lt"/>
              <a:cs typeface="Roboto Lt"/>
            </a:endParaRPr>
          </a:p>
          <a:p>
            <a:pPr>
              <a:lnSpc>
                <a:spcPct val="100000"/>
              </a:lnSpc>
              <a:spcBef>
                <a:spcPts val="1435"/>
              </a:spcBef>
            </a:pPr>
            <a:endParaRPr sz="160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Roboto Lt"/>
                <a:cs typeface="Roboto Lt"/>
              </a:rPr>
              <a:t>New</a:t>
            </a:r>
            <a:r>
              <a:rPr dirty="0" sz="1200" spc="-25">
                <a:latin typeface="Roboto Lt"/>
                <a:cs typeface="Roboto Lt"/>
              </a:rPr>
              <a:t> </a:t>
            </a:r>
            <a:r>
              <a:rPr dirty="0" sz="1200">
                <a:latin typeface="Roboto Lt"/>
                <a:cs typeface="Roboto Lt"/>
              </a:rPr>
              <a:t>question</a:t>
            </a:r>
            <a:r>
              <a:rPr dirty="0" sz="1200" spc="-25">
                <a:latin typeface="Roboto Lt"/>
                <a:cs typeface="Roboto Lt"/>
              </a:rPr>
              <a:t> </a:t>
            </a:r>
            <a:r>
              <a:rPr dirty="0" sz="1200">
                <a:latin typeface="Roboto Lt"/>
                <a:cs typeface="Roboto Lt"/>
              </a:rPr>
              <a:t>types</a:t>
            </a:r>
            <a:r>
              <a:rPr dirty="0" sz="1200" spc="-25">
                <a:latin typeface="Roboto Lt"/>
                <a:cs typeface="Roboto Lt"/>
              </a:rPr>
              <a:t> </a:t>
            </a:r>
            <a:r>
              <a:rPr dirty="0" sz="1200">
                <a:latin typeface="Roboto Lt"/>
                <a:cs typeface="Roboto Lt"/>
              </a:rPr>
              <a:t>can</a:t>
            </a:r>
            <a:r>
              <a:rPr dirty="0" sz="1200" spc="-25">
                <a:latin typeface="Roboto Lt"/>
                <a:cs typeface="Roboto Lt"/>
              </a:rPr>
              <a:t> </a:t>
            </a:r>
            <a:r>
              <a:rPr dirty="0" sz="1200">
                <a:latin typeface="Roboto Lt"/>
                <a:cs typeface="Roboto Lt"/>
              </a:rPr>
              <a:t>be</a:t>
            </a:r>
            <a:r>
              <a:rPr dirty="0" sz="1200" spc="-25">
                <a:latin typeface="Roboto Lt"/>
                <a:cs typeface="Roboto Lt"/>
              </a:rPr>
              <a:t> </a:t>
            </a:r>
            <a:r>
              <a:rPr dirty="0" sz="1200">
                <a:latin typeface="Roboto Lt"/>
                <a:cs typeface="Roboto Lt"/>
              </a:rPr>
              <a:t>added,</a:t>
            </a:r>
            <a:r>
              <a:rPr dirty="0" sz="1200" spc="-25">
                <a:latin typeface="Roboto Lt"/>
                <a:cs typeface="Roboto Lt"/>
              </a:rPr>
              <a:t> </a:t>
            </a:r>
            <a:r>
              <a:rPr dirty="0" sz="1200">
                <a:latin typeface="Roboto Lt"/>
                <a:cs typeface="Roboto Lt"/>
              </a:rPr>
              <a:t>but</a:t>
            </a:r>
            <a:r>
              <a:rPr dirty="0" sz="1200" spc="-25">
                <a:latin typeface="Roboto Lt"/>
                <a:cs typeface="Roboto Lt"/>
              </a:rPr>
              <a:t> </a:t>
            </a:r>
            <a:r>
              <a:rPr dirty="0" sz="1200">
                <a:latin typeface="Roboto Lt"/>
                <a:cs typeface="Roboto Lt"/>
              </a:rPr>
              <a:t>with</a:t>
            </a:r>
            <a:r>
              <a:rPr dirty="0" sz="1200" spc="-25">
                <a:latin typeface="Roboto Lt"/>
                <a:cs typeface="Roboto Lt"/>
              </a:rPr>
              <a:t> </a:t>
            </a:r>
            <a:r>
              <a:rPr dirty="0" sz="1200">
                <a:latin typeface="Roboto Lt"/>
                <a:cs typeface="Roboto Lt"/>
              </a:rPr>
              <a:t>a</a:t>
            </a:r>
            <a:r>
              <a:rPr dirty="0" sz="1200" spc="-25">
                <a:latin typeface="Roboto Lt"/>
                <a:cs typeface="Roboto Lt"/>
              </a:rPr>
              <a:t> </a:t>
            </a:r>
            <a:r>
              <a:rPr dirty="0" sz="1200">
                <a:latin typeface="Roboto Lt"/>
                <a:cs typeface="Roboto Lt"/>
              </a:rPr>
              <a:t>lead</a:t>
            </a:r>
            <a:r>
              <a:rPr dirty="0" sz="1200" spc="-25">
                <a:latin typeface="Roboto Lt"/>
                <a:cs typeface="Roboto Lt"/>
              </a:rPr>
              <a:t> </a:t>
            </a:r>
            <a:r>
              <a:rPr dirty="0" sz="1200">
                <a:latin typeface="Roboto Lt"/>
                <a:cs typeface="Roboto Lt"/>
              </a:rPr>
              <a:t>time</a:t>
            </a:r>
            <a:r>
              <a:rPr dirty="0" sz="1200" spc="-25">
                <a:latin typeface="Roboto Lt"/>
                <a:cs typeface="Roboto Lt"/>
              </a:rPr>
              <a:t> </a:t>
            </a:r>
            <a:r>
              <a:rPr dirty="0" sz="1200">
                <a:latin typeface="Roboto Lt"/>
                <a:cs typeface="Roboto Lt"/>
              </a:rPr>
              <a:t>of</a:t>
            </a:r>
            <a:r>
              <a:rPr dirty="0" sz="1200" spc="-25">
                <a:latin typeface="Roboto Lt"/>
                <a:cs typeface="Roboto Lt"/>
              </a:rPr>
              <a:t> </a:t>
            </a:r>
            <a:r>
              <a:rPr dirty="0" sz="1200">
                <a:latin typeface="Roboto Lt"/>
                <a:cs typeface="Roboto Lt"/>
              </a:rPr>
              <a:t>about</a:t>
            </a:r>
            <a:r>
              <a:rPr dirty="0" sz="1200" spc="-25">
                <a:latin typeface="Roboto Lt"/>
                <a:cs typeface="Roboto Lt"/>
              </a:rPr>
              <a:t> </a:t>
            </a:r>
            <a:r>
              <a:rPr dirty="0" sz="1200">
                <a:latin typeface="Roboto Lt"/>
                <a:cs typeface="Roboto Lt"/>
              </a:rPr>
              <a:t>6</a:t>
            </a:r>
            <a:r>
              <a:rPr dirty="0" sz="1200" spc="-20">
                <a:latin typeface="Roboto Lt"/>
                <a:cs typeface="Roboto Lt"/>
              </a:rPr>
              <a:t> </a:t>
            </a:r>
            <a:r>
              <a:rPr dirty="0" sz="1200" spc="-10">
                <a:latin typeface="Roboto Lt"/>
                <a:cs typeface="Roboto Lt"/>
              </a:rPr>
              <a:t>months!</a:t>
            </a:r>
            <a:endParaRPr sz="12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274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Roboto"/>
                <a:cs typeface="Roboto"/>
              </a:rPr>
              <a:t>Best</a:t>
            </a:r>
            <a:r>
              <a:rPr dirty="0" sz="2400" spc="-2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Practices</a:t>
            </a:r>
            <a:r>
              <a:rPr dirty="0" sz="2400" spc="-1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in</a:t>
            </a:r>
            <a:r>
              <a:rPr dirty="0" sz="2400" spc="-1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Descriptive</a:t>
            </a:r>
            <a:r>
              <a:rPr dirty="0" sz="2400" spc="-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Courses</a:t>
            </a:r>
            <a:r>
              <a:rPr dirty="0" sz="2400" spc="-1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(2</a:t>
            </a:r>
            <a:r>
              <a:rPr dirty="0" sz="2400" spc="-1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of</a:t>
            </a:r>
            <a:r>
              <a:rPr dirty="0" sz="2400" spc="-5">
                <a:latin typeface="Roboto"/>
                <a:cs typeface="Roboto"/>
              </a:rPr>
              <a:t> </a:t>
            </a:r>
            <a:r>
              <a:rPr dirty="0" sz="2400" spc="-25">
                <a:latin typeface="Roboto"/>
                <a:cs typeface="Roboto"/>
              </a:rPr>
              <a:t>2)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626290"/>
            <a:ext cx="8107045" cy="3179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30" b="1">
                <a:latin typeface="Roboto"/>
                <a:cs typeface="Roboto"/>
              </a:rPr>
              <a:t>Essay-</a:t>
            </a:r>
            <a:r>
              <a:rPr dirty="0" sz="2000" spc="-10" b="1">
                <a:latin typeface="Roboto"/>
                <a:cs typeface="Roboto"/>
              </a:rPr>
              <a:t>type</a:t>
            </a:r>
            <a:r>
              <a:rPr dirty="0" sz="2000" spc="-60" b="1">
                <a:latin typeface="Roboto"/>
                <a:cs typeface="Roboto"/>
              </a:rPr>
              <a:t> </a:t>
            </a:r>
            <a:r>
              <a:rPr dirty="0" sz="2000" spc="-10" b="1">
                <a:latin typeface="Roboto"/>
                <a:cs typeface="Roboto"/>
              </a:rPr>
              <a:t>questions</a:t>
            </a:r>
            <a:endParaRPr sz="2000">
              <a:latin typeface="Roboto"/>
              <a:cs typeface="Roboto"/>
            </a:endParaRPr>
          </a:p>
          <a:p>
            <a:pPr marL="12700" marR="522605">
              <a:lnSpc>
                <a:spcPct val="114999"/>
              </a:lnSpc>
              <a:spcBef>
                <a:spcPts val="1040"/>
              </a:spcBef>
            </a:pPr>
            <a:r>
              <a:rPr dirty="0" sz="1800">
                <a:latin typeface="Roboto Lt"/>
                <a:cs typeface="Roboto Lt"/>
              </a:rPr>
              <a:t>We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normally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have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few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essay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type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questions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on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ﬁnal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exam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paper.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Avoid surprises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so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that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students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stand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good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chance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to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succeed</a:t>
            </a:r>
            <a:endParaRPr sz="18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1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Announce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this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in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advance</a:t>
            </a:r>
            <a:endParaRPr sz="18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1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Conﬁgure</a:t>
            </a:r>
            <a:r>
              <a:rPr dirty="0" sz="1800" spc="-30">
                <a:latin typeface="Roboto Lt"/>
                <a:cs typeface="Roboto Lt"/>
              </a:rPr>
              <a:t> essay-</a:t>
            </a:r>
            <a:r>
              <a:rPr dirty="0" sz="1800" spc="-45">
                <a:latin typeface="Roboto Lt"/>
                <a:cs typeface="Roboto Lt"/>
              </a:rPr>
              <a:t>type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questions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in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few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assignments</a:t>
            </a:r>
            <a:r>
              <a:rPr dirty="0" sz="1800" spc="-2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to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get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them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to</a:t>
            </a:r>
            <a:r>
              <a:rPr dirty="0" sz="1800" spc="-3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practice</a:t>
            </a:r>
            <a:endParaRPr sz="18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1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Prefer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30">
                <a:latin typeface="Roboto Lt"/>
                <a:cs typeface="Roboto Lt"/>
              </a:rPr>
              <a:t>essay-</a:t>
            </a:r>
            <a:r>
              <a:rPr dirty="0" sz="1800" spc="-45">
                <a:latin typeface="Roboto Lt"/>
                <a:cs typeface="Roboto Lt"/>
              </a:rPr>
              <a:t>type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questions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in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latter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half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of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your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course</a:t>
            </a:r>
            <a:endParaRPr sz="1800">
              <a:latin typeface="Roboto Lt"/>
              <a:cs typeface="Roboto Lt"/>
            </a:endParaRPr>
          </a:p>
          <a:p>
            <a:pPr marL="469900" marR="90170" indent="-367030">
              <a:lnSpc>
                <a:spcPct val="114999"/>
              </a:lnSpc>
              <a:spcBef>
                <a:spcPts val="1000"/>
              </a:spcBef>
              <a:buFont typeface="Arial MT"/>
              <a:buChar char="●"/>
              <a:tabLst>
                <a:tab pos="469900" algn="l"/>
              </a:tabLst>
            </a:pPr>
            <a:r>
              <a:rPr dirty="0" sz="1800">
                <a:latin typeface="Roboto Lt"/>
                <a:cs typeface="Roboto Lt"/>
              </a:rPr>
              <a:t>Create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some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notes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to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share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as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sample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answers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expected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for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essay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20">
                <a:latin typeface="Roboto Lt"/>
                <a:cs typeface="Roboto Lt"/>
              </a:rPr>
              <a:t>type </a:t>
            </a:r>
            <a:r>
              <a:rPr dirty="0" sz="1800" spc="-10">
                <a:latin typeface="Roboto Lt"/>
                <a:cs typeface="Roboto Lt"/>
              </a:rPr>
              <a:t>questions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in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course.</a:t>
            </a:r>
            <a:endParaRPr sz="18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7267" y="1959483"/>
            <a:ext cx="8726170" cy="1415415"/>
          </a:xfrm>
          <a:prstGeom prst="rect"/>
        </p:spPr>
        <p:txBody>
          <a:bodyPr wrap="square" lIns="0" tIns="95885" rIns="0" bIns="0" rtlCol="0" vert="horz">
            <a:spAutoFit/>
          </a:bodyPr>
          <a:lstStyle/>
          <a:p>
            <a:pPr marL="987425" marR="5080" indent="-975360">
              <a:lnSpc>
                <a:spcPts val="5180"/>
              </a:lnSpc>
              <a:spcBef>
                <a:spcPts val="755"/>
              </a:spcBef>
            </a:pPr>
            <a:r>
              <a:rPr dirty="0" sz="4800" spc="-290" b="0">
                <a:latin typeface="Arial Black"/>
                <a:cs typeface="Arial Black"/>
              </a:rPr>
              <a:t>Timelines</a:t>
            </a:r>
            <a:r>
              <a:rPr dirty="0" sz="4800" spc="-345" b="0">
                <a:latin typeface="Arial Black"/>
                <a:cs typeface="Arial Black"/>
              </a:rPr>
              <a:t> </a:t>
            </a:r>
            <a:r>
              <a:rPr dirty="0" sz="4800" spc="-204" b="0">
                <a:latin typeface="Arial Black"/>
                <a:cs typeface="Arial Black"/>
              </a:rPr>
              <a:t>and</a:t>
            </a:r>
            <a:r>
              <a:rPr dirty="0" sz="4800" spc="-345" b="0">
                <a:latin typeface="Arial Black"/>
                <a:cs typeface="Arial Black"/>
              </a:rPr>
              <a:t> </a:t>
            </a:r>
            <a:r>
              <a:rPr dirty="0" sz="4800" spc="-220" b="0">
                <a:latin typeface="Arial Black"/>
                <a:cs typeface="Arial Black"/>
              </a:rPr>
              <a:t>Requirements </a:t>
            </a:r>
            <a:r>
              <a:rPr dirty="0" sz="4800" spc="-85" b="0">
                <a:latin typeface="Arial Black"/>
                <a:cs typeface="Arial Black"/>
              </a:rPr>
              <a:t>for</a:t>
            </a:r>
            <a:r>
              <a:rPr dirty="0" sz="4800" spc="-350" b="0">
                <a:latin typeface="Arial Black"/>
                <a:cs typeface="Arial Black"/>
              </a:rPr>
              <a:t> </a:t>
            </a:r>
            <a:r>
              <a:rPr dirty="0" sz="4800" spc="-525" b="0">
                <a:latin typeface="Arial Black"/>
                <a:cs typeface="Arial Black"/>
              </a:rPr>
              <a:t>July</a:t>
            </a:r>
            <a:r>
              <a:rPr dirty="0" sz="4800" spc="-350" b="0">
                <a:latin typeface="Arial Black"/>
                <a:cs typeface="Arial Black"/>
              </a:rPr>
              <a:t> </a:t>
            </a:r>
            <a:r>
              <a:rPr dirty="0" sz="4800" spc="-484" b="0">
                <a:latin typeface="Arial Black"/>
                <a:cs typeface="Arial Black"/>
              </a:rPr>
              <a:t>2026</a:t>
            </a:r>
            <a:r>
              <a:rPr dirty="0" sz="4800" spc="-350" b="0">
                <a:latin typeface="Arial Black"/>
                <a:cs typeface="Arial Black"/>
              </a:rPr>
              <a:t> </a:t>
            </a:r>
            <a:r>
              <a:rPr dirty="0" sz="4800" spc="-360" b="0">
                <a:latin typeface="Arial Black"/>
                <a:cs typeface="Arial Black"/>
              </a:rPr>
              <a:t>Semester</a:t>
            </a:r>
            <a:endParaRPr sz="4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874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Roboto"/>
                <a:cs typeface="Roboto"/>
              </a:rPr>
              <a:t>Contents</a:t>
            </a:r>
            <a:r>
              <a:rPr dirty="0" sz="2400" spc="-1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go</a:t>
            </a:r>
            <a:r>
              <a:rPr dirty="0" sz="2400" spc="-1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live</a:t>
            </a:r>
            <a:r>
              <a:rPr dirty="0" sz="2400" spc="-1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every</a:t>
            </a:r>
            <a:r>
              <a:rPr dirty="0" sz="2400" spc="-10">
                <a:latin typeface="Roboto"/>
                <a:cs typeface="Roboto"/>
              </a:rPr>
              <a:t> Friday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586157"/>
            <a:ext cx="8060690" cy="3790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04470">
              <a:lnSpc>
                <a:spcPct val="114999"/>
              </a:lnSpc>
              <a:spcBef>
                <a:spcPts val="100"/>
              </a:spcBef>
            </a:pPr>
            <a:r>
              <a:rPr dirty="0" sz="1800">
                <a:latin typeface="Roboto Lt"/>
                <a:cs typeface="Roboto Lt"/>
              </a:rPr>
              <a:t>We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will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release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content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every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 spc="-20">
                <a:latin typeface="Roboto Lt"/>
                <a:cs typeface="Roboto Lt"/>
              </a:rPr>
              <a:t>Friday,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so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that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students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get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one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more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weekend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 spc="-25">
                <a:latin typeface="Roboto Lt"/>
                <a:cs typeface="Roboto Lt"/>
              </a:rPr>
              <a:t>to </a:t>
            </a:r>
            <a:r>
              <a:rPr dirty="0" sz="1800">
                <a:latin typeface="Roboto Lt"/>
                <a:cs typeface="Roboto Lt"/>
              </a:rPr>
              <a:t>work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on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material</a:t>
            </a:r>
            <a:endParaRPr sz="180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1800">
                <a:latin typeface="Roboto Lt"/>
                <a:cs typeface="Roboto Lt"/>
              </a:rPr>
              <a:t>Please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send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assignments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well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in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advance</a:t>
            </a:r>
            <a:endParaRPr sz="1800">
              <a:latin typeface="Roboto Lt"/>
              <a:cs typeface="Roboto Lt"/>
            </a:endParaRPr>
          </a:p>
          <a:p>
            <a:pPr marL="469265" indent="-351155">
              <a:lnSpc>
                <a:spcPct val="100000"/>
              </a:lnSpc>
              <a:spcBef>
                <a:spcPts val="33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00" spc="-20">
                <a:latin typeface="Roboto Lt"/>
                <a:cs typeface="Roboto Lt"/>
              </a:rPr>
              <a:t>Remember,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there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are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1054</a:t>
            </a:r>
            <a:r>
              <a:rPr dirty="0" sz="1600" spc="-5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courses</a:t>
            </a:r>
            <a:endParaRPr sz="1600">
              <a:latin typeface="Roboto Lt"/>
              <a:cs typeface="Roboto Lt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00">
                <a:latin typeface="Roboto Lt"/>
                <a:cs typeface="Roboto Lt"/>
              </a:rPr>
              <a:t>We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get</a:t>
            </a:r>
            <a:r>
              <a:rPr dirty="0" sz="1600" spc="-2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some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of</a:t>
            </a:r>
            <a:r>
              <a:rPr dirty="0" sz="1600" spc="-2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the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content</a:t>
            </a:r>
            <a:r>
              <a:rPr dirty="0" sz="1600" spc="-2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only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on</a:t>
            </a:r>
            <a:r>
              <a:rPr dirty="0" sz="1600" spc="-2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Sunday</a:t>
            </a:r>
            <a:endParaRPr sz="1600">
              <a:latin typeface="Roboto Lt"/>
              <a:cs typeface="Roboto Lt"/>
            </a:endParaRPr>
          </a:p>
          <a:p>
            <a:pPr lvl="1" marL="926465" indent="-351155">
              <a:lnSpc>
                <a:spcPct val="100000"/>
              </a:lnSpc>
              <a:spcBef>
                <a:spcPts val="285"/>
              </a:spcBef>
              <a:buFont typeface="Arial MT"/>
              <a:buChar char="○"/>
              <a:tabLst>
                <a:tab pos="926465" algn="l"/>
              </a:tabLst>
            </a:pPr>
            <a:r>
              <a:rPr dirty="0" sz="1600">
                <a:latin typeface="Roboto Lt"/>
                <a:cs typeface="Roboto Lt"/>
              </a:rPr>
              <a:t>Our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team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works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to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conﬁgure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and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release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on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Monday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mornings</a:t>
            </a:r>
            <a:endParaRPr sz="1600">
              <a:latin typeface="Roboto Lt"/>
              <a:cs typeface="Roboto Lt"/>
            </a:endParaRPr>
          </a:p>
          <a:p>
            <a:pPr lvl="1" marL="926465" indent="-351155">
              <a:lnSpc>
                <a:spcPct val="100000"/>
              </a:lnSpc>
              <a:spcBef>
                <a:spcPts val="290"/>
              </a:spcBef>
              <a:buFont typeface="Arial MT"/>
              <a:buChar char="○"/>
              <a:tabLst>
                <a:tab pos="926465" algn="l"/>
              </a:tabLst>
            </a:pPr>
            <a:r>
              <a:rPr dirty="0" sz="1600">
                <a:latin typeface="Roboto Lt"/>
                <a:cs typeface="Roboto Lt"/>
              </a:rPr>
              <a:t>No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time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for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testing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and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hence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prone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to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errors</a:t>
            </a:r>
            <a:endParaRPr sz="160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dirty="0" sz="1800" spc="-10">
                <a:latin typeface="Roboto Lt"/>
                <a:cs typeface="Roboto Lt"/>
              </a:rPr>
              <a:t>Updating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course:</a:t>
            </a:r>
            <a:endParaRPr sz="1800">
              <a:latin typeface="Roboto Lt"/>
              <a:cs typeface="Roboto Lt"/>
            </a:endParaRPr>
          </a:p>
          <a:p>
            <a:pPr marL="469265" indent="-351155">
              <a:lnSpc>
                <a:spcPct val="100000"/>
              </a:lnSpc>
              <a:spcBef>
                <a:spcPts val="33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00">
                <a:latin typeface="Roboto Lt"/>
                <a:cs typeface="Roboto Lt"/>
              </a:rPr>
              <a:t>Add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new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content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(recent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advances/new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topics)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as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relevant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as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required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in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the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course.</a:t>
            </a:r>
            <a:endParaRPr sz="1600">
              <a:latin typeface="Roboto Lt"/>
              <a:cs typeface="Roboto Lt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00">
                <a:latin typeface="Roboto Lt"/>
                <a:cs typeface="Roboto Lt"/>
              </a:rPr>
              <a:t>If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course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is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relevant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to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GATE,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a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few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questions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can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be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tagged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so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&amp;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shared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with</a:t>
            </a:r>
            <a:r>
              <a:rPr dirty="0" sz="1600" spc="-3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learners</a:t>
            </a:r>
            <a:endParaRPr sz="1600">
              <a:latin typeface="Roboto Lt"/>
              <a:cs typeface="Roboto Lt"/>
            </a:endParaRPr>
          </a:p>
          <a:p>
            <a:pPr marL="469900" marR="27940" indent="-351790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600">
                <a:latin typeface="Roboto Lt"/>
                <a:cs typeface="Roboto Lt"/>
              </a:rPr>
              <a:t>If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theory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course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has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a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lab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component,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the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experiments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can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be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recorded</a:t>
            </a:r>
            <a:r>
              <a:rPr dirty="0" sz="1600" spc="-45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and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put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up</a:t>
            </a:r>
            <a:r>
              <a:rPr dirty="0" sz="1600" spc="-40">
                <a:latin typeface="Roboto Lt"/>
                <a:cs typeface="Roboto Lt"/>
              </a:rPr>
              <a:t> </a:t>
            </a:r>
            <a:r>
              <a:rPr dirty="0" sz="1600" spc="-25">
                <a:latin typeface="Roboto Lt"/>
                <a:cs typeface="Roboto Lt"/>
              </a:rPr>
              <a:t>as </a:t>
            </a:r>
            <a:r>
              <a:rPr dirty="0" sz="1600">
                <a:latin typeface="Roboto Lt"/>
                <a:cs typeface="Roboto Lt"/>
              </a:rPr>
              <a:t>part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of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the</a:t>
            </a:r>
            <a:r>
              <a:rPr dirty="0" sz="1600" spc="-30">
                <a:latin typeface="Roboto Lt"/>
                <a:cs typeface="Roboto Lt"/>
              </a:rPr>
              <a:t> </a:t>
            </a:r>
            <a:r>
              <a:rPr dirty="0" sz="1600">
                <a:latin typeface="Roboto Lt"/>
                <a:cs typeface="Roboto Lt"/>
              </a:rPr>
              <a:t>course</a:t>
            </a:r>
            <a:r>
              <a:rPr dirty="0" sz="1600" spc="-25">
                <a:latin typeface="Roboto Lt"/>
                <a:cs typeface="Roboto Lt"/>
              </a:rPr>
              <a:t> </a:t>
            </a:r>
            <a:r>
              <a:rPr dirty="0" sz="1600" spc="-10">
                <a:latin typeface="Roboto Lt"/>
                <a:cs typeface="Roboto Lt"/>
              </a:rPr>
              <a:t>content</a:t>
            </a:r>
            <a:endParaRPr sz="16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Roboto"/>
                <a:cs typeface="Roboto"/>
              </a:rPr>
              <a:t>Some</a:t>
            </a:r>
            <a:r>
              <a:rPr dirty="0" sz="2400" spc="-4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additional</a:t>
            </a:r>
            <a:r>
              <a:rPr dirty="0" sz="2400" spc="-40">
                <a:latin typeface="Roboto"/>
                <a:cs typeface="Roboto"/>
              </a:rPr>
              <a:t> </a:t>
            </a:r>
            <a:r>
              <a:rPr dirty="0" sz="2400" spc="-20">
                <a:latin typeface="Roboto"/>
                <a:cs typeface="Roboto"/>
              </a:rPr>
              <a:t>tips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580569"/>
            <a:ext cx="8190230" cy="3307079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2000" b="1">
                <a:latin typeface="Roboto"/>
                <a:cs typeface="Roboto"/>
              </a:rPr>
              <a:t>Tips</a:t>
            </a:r>
            <a:r>
              <a:rPr dirty="0" sz="2000" spc="-50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to</a:t>
            </a:r>
            <a:r>
              <a:rPr dirty="0" sz="2000" spc="-45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help</a:t>
            </a:r>
            <a:r>
              <a:rPr dirty="0" sz="2000" spc="-45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students</a:t>
            </a:r>
            <a:r>
              <a:rPr dirty="0" sz="2000" spc="-45" b="1">
                <a:latin typeface="Roboto"/>
                <a:cs typeface="Roboto"/>
              </a:rPr>
              <a:t> </a:t>
            </a:r>
            <a:r>
              <a:rPr dirty="0" sz="2000" spc="-10" b="1">
                <a:latin typeface="Roboto"/>
                <a:cs typeface="Roboto"/>
              </a:rPr>
              <a:t>succeed</a:t>
            </a:r>
            <a:endParaRPr sz="2000">
              <a:latin typeface="Roboto"/>
              <a:cs typeface="Roboto"/>
            </a:endParaRPr>
          </a:p>
          <a:p>
            <a:pPr marL="469265" indent="-381635">
              <a:lnSpc>
                <a:spcPct val="100000"/>
              </a:lnSpc>
              <a:spcBef>
                <a:spcPts val="36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2000">
                <a:latin typeface="Roboto Lt"/>
                <a:cs typeface="Roboto Lt"/>
              </a:rPr>
              <a:t>Have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question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types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similar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to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what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would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be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asked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in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the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exam.</a:t>
            </a:r>
            <a:endParaRPr sz="2000">
              <a:latin typeface="Roboto Lt"/>
              <a:cs typeface="Roboto Lt"/>
            </a:endParaRPr>
          </a:p>
          <a:p>
            <a:pPr marL="469900" marR="176530" indent="-382270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2000">
                <a:latin typeface="Roboto Lt"/>
                <a:cs typeface="Roboto Lt"/>
              </a:rPr>
              <a:t>Learners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are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unable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to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cope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when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all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assignments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are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MCQ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but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 spc="-20">
                <a:latin typeface="Roboto Lt"/>
                <a:cs typeface="Roboto Lt"/>
              </a:rPr>
              <a:t>ﬁnal </a:t>
            </a:r>
            <a:r>
              <a:rPr dirty="0" sz="2000">
                <a:latin typeface="Roboto Lt"/>
                <a:cs typeface="Roboto Lt"/>
              </a:rPr>
              <a:t>exam</a:t>
            </a:r>
            <a:r>
              <a:rPr dirty="0" sz="2000" spc="-3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is</a:t>
            </a:r>
            <a:r>
              <a:rPr dirty="0" sz="2000" spc="-30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descriptive</a:t>
            </a:r>
            <a:r>
              <a:rPr dirty="0" sz="2000" spc="-3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or</a:t>
            </a:r>
            <a:r>
              <a:rPr dirty="0" sz="2000" spc="-30">
                <a:latin typeface="Roboto Lt"/>
                <a:cs typeface="Roboto Lt"/>
              </a:rPr>
              <a:t> </a:t>
            </a:r>
            <a:r>
              <a:rPr dirty="0" sz="2000" spc="-50">
                <a:latin typeface="Roboto Lt"/>
                <a:cs typeface="Roboto Lt"/>
              </a:rPr>
              <a:t>paper-</a:t>
            </a:r>
            <a:r>
              <a:rPr dirty="0" sz="2000" spc="-20">
                <a:latin typeface="Roboto Lt"/>
                <a:cs typeface="Roboto Lt"/>
              </a:rPr>
              <a:t>pen</a:t>
            </a:r>
            <a:r>
              <a:rPr dirty="0" sz="2000" spc="-30">
                <a:latin typeface="Roboto Lt"/>
                <a:cs typeface="Roboto Lt"/>
              </a:rPr>
              <a:t> </a:t>
            </a:r>
            <a:r>
              <a:rPr dirty="0" sz="2000" spc="-20">
                <a:latin typeface="Roboto Lt"/>
                <a:cs typeface="Roboto Lt"/>
              </a:rPr>
              <a:t>exam</a:t>
            </a:r>
            <a:endParaRPr sz="2000">
              <a:latin typeface="Roboto Lt"/>
              <a:cs typeface="Roboto Lt"/>
            </a:endParaRPr>
          </a:p>
          <a:p>
            <a:pPr>
              <a:lnSpc>
                <a:spcPct val="100000"/>
              </a:lnSpc>
              <a:spcBef>
                <a:spcPts val="1714"/>
              </a:spcBef>
              <a:buFont typeface="Arial MT"/>
              <a:buChar char="●"/>
            </a:pPr>
            <a:endParaRPr sz="200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b="1">
                <a:latin typeface="Roboto"/>
                <a:cs typeface="Roboto"/>
              </a:rPr>
              <a:t>New</a:t>
            </a:r>
            <a:r>
              <a:rPr dirty="0" sz="2000" spc="-35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features</a:t>
            </a:r>
            <a:r>
              <a:rPr dirty="0" sz="2000" spc="-30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will</a:t>
            </a:r>
            <a:r>
              <a:rPr dirty="0" sz="2000" spc="-30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be</a:t>
            </a:r>
            <a:r>
              <a:rPr dirty="0" sz="2000" spc="-30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added</a:t>
            </a:r>
            <a:r>
              <a:rPr dirty="0" sz="2000" spc="-35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to</a:t>
            </a:r>
            <a:r>
              <a:rPr dirty="0" sz="2000" spc="-30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the</a:t>
            </a:r>
            <a:r>
              <a:rPr dirty="0" sz="2000" spc="-30" b="1">
                <a:latin typeface="Roboto"/>
                <a:cs typeface="Roboto"/>
              </a:rPr>
              <a:t> </a:t>
            </a:r>
            <a:r>
              <a:rPr dirty="0" sz="2000" spc="-10" b="1">
                <a:latin typeface="Roboto"/>
                <a:cs typeface="Roboto"/>
              </a:rPr>
              <a:t>portal</a:t>
            </a:r>
            <a:endParaRPr sz="2000">
              <a:latin typeface="Roboto"/>
              <a:cs typeface="Roboto"/>
            </a:endParaRPr>
          </a:p>
          <a:p>
            <a:pPr marL="469265" indent="-381635">
              <a:lnSpc>
                <a:spcPct val="100000"/>
              </a:lnSpc>
              <a:spcBef>
                <a:spcPts val="359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2000">
                <a:latin typeface="Roboto Lt"/>
                <a:cs typeface="Roboto Lt"/>
              </a:rPr>
              <a:t>We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are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working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on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enabling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questions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with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parameterized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values</a:t>
            </a:r>
            <a:endParaRPr sz="2000">
              <a:latin typeface="Roboto Lt"/>
              <a:cs typeface="Roboto Lt"/>
            </a:endParaRPr>
          </a:p>
          <a:p>
            <a:pPr marL="469265" indent="-381635">
              <a:lnSpc>
                <a:spcPct val="100000"/>
              </a:lnSpc>
              <a:spcBef>
                <a:spcPts val="359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2000">
                <a:latin typeface="Roboto Lt"/>
                <a:cs typeface="Roboto Lt"/>
              </a:rPr>
              <a:t>Each</a:t>
            </a:r>
            <a:r>
              <a:rPr dirty="0" sz="2000" spc="-4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learner</a:t>
            </a:r>
            <a:r>
              <a:rPr dirty="0" sz="2000" spc="-4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will</a:t>
            </a:r>
            <a:r>
              <a:rPr dirty="0" sz="2000" spc="-4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get</a:t>
            </a:r>
            <a:r>
              <a:rPr dirty="0" sz="2000" spc="-4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a</a:t>
            </a:r>
            <a:r>
              <a:rPr dirty="0" sz="2000" spc="-4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different</a:t>
            </a:r>
            <a:r>
              <a:rPr dirty="0" sz="2000" spc="-40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numerical</a:t>
            </a:r>
            <a:r>
              <a:rPr dirty="0" sz="2000" spc="-4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value</a:t>
            </a:r>
            <a:r>
              <a:rPr dirty="0" sz="2000" spc="-4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for</a:t>
            </a:r>
            <a:r>
              <a:rPr dirty="0" sz="2000" spc="-4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the</a:t>
            </a:r>
            <a:r>
              <a:rPr dirty="0" sz="2000" spc="-4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same</a:t>
            </a:r>
            <a:r>
              <a:rPr dirty="0" sz="2000" spc="-40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question</a:t>
            </a:r>
            <a:endParaRPr sz="2000">
              <a:latin typeface="Roboto Lt"/>
              <a:cs typeface="Roboto Lt"/>
            </a:endParaRPr>
          </a:p>
          <a:p>
            <a:pPr marL="469265" indent="-381635">
              <a:lnSpc>
                <a:spcPct val="100000"/>
              </a:lnSpc>
              <a:spcBef>
                <a:spcPts val="359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2000">
                <a:latin typeface="Roboto Lt"/>
                <a:cs typeface="Roboto Lt"/>
              </a:rPr>
              <a:t>Open</a:t>
            </a:r>
            <a:r>
              <a:rPr dirty="0" sz="2000" spc="-4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for</a:t>
            </a:r>
            <a:r>
              <a:rPr dirty="0" sz="2000" spc="-40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suggestions</a:t>
            </a:r>
            <a:r>
              <a:rPr dirty="0" sz="2000" spc="-4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that</a:t>
            </a:r>
            <a:r>
              <a:rPr dirty="0" sz="2000" spc="-3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can</a:t>
            </a:r>
            <a:r>
              <a:rPr dirty="0" sz="2000" spc="-4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be</a:t>
            </a:r>
            <a:r>
              <a:rPr dirty="0" sz="2000" spc="-4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implemented</a:t>
            </a:r>
            <a:r>
              <a:rPr dirty="0" sz="2000" spc="-3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on</a:t>
            </a:r>
            <a:r>
              <a:rPr dirty="0" sz="2000" spc="-4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the</a:t>
            </a:r>
            <a:r>
              <a:rPr dirty="0" sz="2000" spc="-40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portal</a:t>
            </a:r>
            <a:endParaRPr sz="20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574361"/>
            <a:ext cx="8177530" cy="417639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2000" b="1">
                <a:latin typeface="Roboto"/>
                <a:cs typeface="Roboto"/>
              </a:rPr>
              <a:t>Help</a:t>
            </a:r>
            <a:r>
              <a:rPr dirty="0" sz="2000" spc="-25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us</a:t>
            </a:r>
            <a:r>
              <a:rPr dirty="0" sz="2000" spc="-25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complete</a:t>
            </a:r>
            <a:r>
              <a:rPr dirty="0" sz="2000" spc="-25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the</a:t>
            </a:r>
            <a:r>
              <a:rPr dirty="0" sz="2000" spc="-25" b="1">
                <a:latin typeface="Roboto"/>
                <a:cs typeface="Roboto"/>
              </a:rPr>
              <a:t> exam-</a:t>
            </a:r>
            <a:r>
              <a:rPr dirty="0" sz="2000" b="1">
                <a:latin typeface="Roboto"/>
                <a:cs typeface="Roboto"/>
              </a:rPr>
              <a:t>setting</a:t>
            </a:r>
            <a:r>
              <a:rPr dirty="0" sz="2000" spc="-25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exercise</a:t>
            </a:r>
            <a:r>
              <a:rPr dirty="0" sz="2000" spc="-20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on</a:t>
            </a:r>
            <a:r>
              <a:rPr dirty="0" sz="2000" spc="-25" b="1">
                <a:latin typeface="Roboto"/>
                <a:cs typeface="Roboto"/>
              </a:rPr>
              <a:t> </a:t>
            </a:r>
            <a:r>
              <a:rPr dirty="0" sz="2000" spc="-20" b="1">
                <a:latin typeface="Roboto"/>
                <a:cs typeface="Roboto"/>
              </a:rPr>
              <a:t>time</a:t>
            </a:r>
            <a:endParaRPr sz="2000">
              <a:latin typeface="Roboto"/>
              <a:cs typeface="Roboto"/>
            </a:endParaRPr>
          </a:p>
          <a:p>
            <a:pPr marL="469265" indent="-366395">
              <a:lnSpc>
                <a:spcPct val="100000"/>
              </a:lnSpc>
              <a:spcBef>
                <a:spcPts val="37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Please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send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2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sets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of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question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papers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as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per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deadlines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given</a:t>
            </a:r>
            <a:endParaRPr sz="18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Out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of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1054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courses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374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courses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are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in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Repeat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20">
                <a:latin typeface="Roboto Lt"/>
                <a:cs typeface="Roboto Lt"/>
              </a:rPr>
              <a:t>mode</a:t>
            </a:r>
            <a:endParaRPr sz="18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For</a:t>
            </a:r>
            <a:r>
              <a:rPr dirty="0" sz="1800" spc="-6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remaining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680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courses,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1360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papers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need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to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be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created</a:t>
            </a:r>
            <a:endParaRPr sz="18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32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Team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of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10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works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on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creating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QPs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on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7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TCS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authoring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platform</a:t>
            </a:r>
            <a:endParaRPr sz="180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2000" b="1">
                <a:latin typeface="Roboto"/>
                <a:cs typeface="Roboto"/>
              </a:rPr>
              <a:t>Addressing some</a:t>
            </a:r>
            <a:r>
              <a:rPr dirty="0" sz="2000" spc="5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concerns</a:t>
            </a:r>
            <a:r>
              <a:rPr dirty="0" sz="2000" spc="5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of</a:t>
            </a:r>
            <a:r>
              <a:rPr dirty="0" sz="2000" spc="5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NPTEL</a:t>
            </a:r>
            <a:r>
              <a:rPr dirty="0" sz="2000" spc="5" b="1">
                <a:latin typeface="Roboto"/>
                <a:cs typeface="Roboto"/>
              </a:rPr>
              <a:t> </a:t>
            </a:r>
            <a:r>
              <a:rPr dirty="0" sz="2000" spc="-10" b="1">
                <a:latin typeface="Roboto"/>
                <a:cs typeface="Roboto"/>
              </a:rPr>
              <a:t>exams</a:t>
            </a:r>
            <a:endParaRPr sz="2000">
              <a:latin typeface="Roboto"/>
              <a:cs typeface="Roboto"/>
            </a:endParaRPr>
          </a:p>
          <a:p>
            <a:pPr marL="469265" indent="-366395">
              <a:lnSpc>
                <a:spcPct val="100000"/>
              </a:lnSpc>
              <a:spcBef>
                <a:spcPts val="36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Check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the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papers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for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correctness,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missing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data,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20">
                <a:latin typeface="Roboto Lt"/>
                <a:cs typeface="Roboto Lt"/>
              </a:rPr>
              <a:t>etc.</a:t>
            </a:r>
            <a:endParaRPr sz="18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Avoid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repeating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questions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across</a:t>
            </a:r>
            <a:r>
              <a:rPr dirty="0" sz="1800" spc="-5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papers</a:t>
            </a:r>
            <a:endParaRPr sz="1800">
              <a:latin typeface="Roboto Lt"/>
              <a:cs typeface="Roboto L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latin typeface="Roboto Lt"/>
                <a:cs typeface="Roboto Lt"/>
              </a:rPr>
              <a:t>Check</a:t>
            </a:r>
            <a:r>
              <a:rPr dirty="0" sz="1800" spc="-7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for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repeated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MCQ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options,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image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 spc="-20">
                <a:latin typeface="Roboto Lt"/>
                <a:cs typeface="Roboto Lt"/>
              </a:rPr>
              <a:t>clarity,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ambiguity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in</a:t>
            </a:r>
            <a:r>
              <a:rPr dirty="0" sz="1800" spc="-35">
                <a:latin typeface="Roboto Lt"/>
                <a:cs typeface="Roboto Lt"/>
              </a:rPr>
              <a:t> </a:t>
            </a:r>
            <a:r>
              <a:rPr dirty="0" sz="1800" spc="-114">
                <a:latin typeface="Roboto Lt"/>
                <a:cs typeface="Roboto Lt"/>
              </a:rPr>
              <a:t>QP,</a:t>
            </a:r>
            <a:r>
              <a:rPr dirty="0" sz="1800" spc="-5">
                <a:latin typeface="Roboto Lt"/>
                <a:cs typeface="Roboto Lt"/>
              </a:rPr>
              <a:t> </a:t>
            </a:r>
            <a:r>
              <a:rPr dirty="0" sz="1800" spc="-20">
                <a:latin typeface="Roboto Lt"/>
                <a:cs typeface="Roboto Lt"/>
              </a:rPr>
              <a:t>etc.</a:t>
            </a:r>
            <a:endParaRPr sz="1800">
              <a:latin typeface="Roboto Lt"/>
              <a:cs typeface="Roboto Lt"/>
            </a:endParaRPr>
          </a:p>
          <a:p>
            <a:pPr marL="469900" marR="5080" indent="-367030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800">
                <a:latin typeface="Roboto Lt"/>
                <a:cs typeface="Roboto Lt"/>
              </a:rPr>
              <a:t>Other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concerns: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(i)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Papers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having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very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few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questions;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(ii)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10">
                <a:latin typeface="Roboto Lt"/>
                <a:cs typeface="Roboto Lt"/>
              </a:rPr>
              <a:t>Questions</a:t>
            </a:r>
            <a:r>
              <a:rPr dirty="0" sz="1800" spc="-45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with</a:t>
            </a:r>
            <a:r>
              <a:rPr dirty="0" sz="1800" spc="-40">
                <a:latin typeface="Roboto Lt"/>
                <a:cs typeface="Roboto Lt"/>
              </a:rPr>
              <a:t> </a:t>
            </a:r>
            <a:r>
              <a:rPr dirty="0" sz="1800" spc="-20">
                <a:latin typeface="Roboto Lt"/>
                <a:cs typeface="Roboto Lt"/>
              </a:rPr>
              <a:t>more </a:t>
            </a:r>
            <a:r>
              <a:rPr dirty="0" sz="1800">
                <a:latin typeface="Roboto Lt"/>
                <a:cs typeface="Roboto Lt"/>
              </a:rPr>
              <a:t>than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3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>
                <a:latin typeface="Roboto Lt"/>
                <a:cs typeface="Roboto Lt"/>
              </a:rPr>
              <a:t>marks</a:t>
            </a:r>
            <a:r>
              <a:rPr dirty="0" sz="1800" spc="-50">
                <a:latin typeface="Roboto Lt"/>
                <a:cs typeface="Roboto Lt"/>
              </a:rPr>
              <a:t> </a:t>
            </a:r>
            <a:r>
              <a:rPr dirty="0" sz="1800" spc="-20">
                <a:latin typeface="Roboto Lt"/>
                <a:cs typeface="Roboto Lt"/>
              </a:rPr>
              <a:t>each</a:t>
            </a:r>
            <a:endParaRPr sz="180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dirty="0" sz="2000" b="1">
                <a:latin typeface="Roboto"/>
                <a:cs typeface="Roboto"/>
              </a:rPr>
              <a:t>Please</a:t>
            </a:r>
            <a:r>
              <a:rPr dirty="0" sz="2000" spc="-20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revert</a:t>
            </a:r>
            <a:r>
              <a:rPr dirty="0" sz="2000" spc="-20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to</a:t>
            </a:r>
            <a:r>
              <a:rPr dirty="0" sz="2000" spc="-20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requests</a:t>
            </a:r>
            <a:r>
              <a:rPr dirty="0" sz="2000" spc="-20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for</a:t>
            </a:r>
            <a:r>
              <a:rPr dirty="0" sz="2000" spc="-20" b="1">
                <a:latin typeface="Roboto"/>
                <a:cs typeface="Roboto"/>
              </a:rPr>
              <a:t> </a:t>
            </a:r>
            <a:r>
              <a:rPr dirty="0" sz="2000" spc="-10" b="1">
                <a:latin typeface="Roboto"/>
                <a:cs typeface="Roboto"/>
              </a:rPr>
              <a:t>clariﬁcation</a:t>
            </a:r>
            <a:r>
              <a:rPr dirty="0" sz="2000" spc="-20" b="1">
                <a:latin typeface="Roboto"/>
                <a:cs typeface="Roboto"/>
              </a:rPr>
              <a:t> </a:t>
            </a:r>
            <a:r>
              <a:rPr dirty="0" sz="2000" b="1">
                <a:latin typeface="Roboto"/>
                <a:cs typeface="Roboto"/>
              </a:rPr>
              <a:t>and</a:t>
            </a:r>
            <a:r>
              <a:rPr dirty="0" sz="2000" spc="-15" b="1">
                <a:latin typeface="Roboto"/>
                <a:cs typeface="Roboto"/>
              </a:rPr>
              <a:t> </a:t>
            </a:r>
            <a:r>
              <a:rPr dirty="0" sz="2000" spc="-20" b="1">
                <a:latin typeface="Roboto"/>
                <a:cs typeface="Roboto"/>
              </a:rPr>
              <a:t>sign-</a:t>
            </a:r>
            <a:r>
              <a:rPr dirty="0" sz="2000" b="1">
                <a:latin typeface="Roboto"/>
                <a:cs typeface="Roboto"/>
              </a:rPr>
              <a:t>off</a:t>
            </a:r>
            <a:r>
              <a:rPr dirty="0" sz="2000" spc="-20" b="1">
                <a:latin typeface="Roboto"/>
                <a:cs typeface="Roboto"/>
              </a:rPr>
              <a:t> </a:t>
            </a:r>
            <a:r>
              <a:rPr dirty="0" sz="2000" spc="-10" b="1">
                <a:latin typeface="Roboto"/>
                <a:cs typeface="Roboto"/>
              </a:rPr>
              <a:t>quickly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3674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Roboto"/>
                <a:cs typeface="Roboto"/>
              </a:rPr>
              <a:t>Timelines</a:t>
            </a:r>
            <a:r>
              <a:rPr dirty="0" sz="2400" spc="-1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and</a:t>
            </a:r>
            <a:r>
              <a:rPr dirty="0" sz="2400" spc="-1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Checks</a:t>
            </a:r>
            <a:r>
              <a:rPr dirty="0" sz="2400" spc="-1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when</a:t>
            </a:r>
            <a:r>
              <a:rPr dirty="0" sz="2400" spc="-1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Setting</a:t>
            </a:r>
            <a:r>
              <a:rPr dirty="0" sz="2400" spc="-1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up</a:t>
            </a:r>
            <a:r>
              <a:rPr dirty="0" sz="2400" spc="-1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your</a:t>
            </a:r>
            <a:r>
              <a:rPr dirty="0" sz="2400" spc="-15">
                <a:latin typeface="Roboto"/>
                <a:cs typeface="Roboto"/>
              </a:rPr>
              <a:t> </a:t>
            </a:r>
            <a:r>
              <a:rPr dirty="0" sz="2400" spc="-25">
                <a:latin typeface="Roboto"/>
                <a:cs typeface="Roboto"/>
              </a:rPr>
              <a:t>QPs</a:t>
            </a:r>
            <a:endParaRPr sz="2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299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Roboto"/>
                <a:cs typeface="Roboto"/>
              </a:rPr>
              <a:t>Did</a:t>
            </a:r>
            <a:r>
              <a:rPr dirty="0" sz="2400" spc="-7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you</a:t>
            </a:r>
            <a:r>
              <a:rPr dirty="0" sz="2400" spc="-7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know</a:t>
            </a:r>
            <a:r>
              <a:rPr dirty="0" sz="2400" spc="-7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about</a:t>
            </a:r>
            <a:r>
              <a:rPr dirty="0" sz="2400" spc="-7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Exodus</a:t>
            </a:r>
            <a:r>
              <a:rPr dirty="0" sz="2400" spc="-6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at</a:t>
            </a:r>
            <a:r>
              <a:rPr dirty="0" sz="2400" spc="-7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90</a:t>
            </a:r>
            <a:r>
              <a:rPr dirty="0" sz="2400" spc="-7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minutes?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1699" y="563425"/>
            <a:ext cx="8521065" cy="4100195"/>
          </a:xfrm>
          <a:custGeom>
            <a:avLst/>
            <a:gdLst/>
            <a:ahLst/>
            <a:cxnLst/>
            <a:rect l="l" t="t" r="r" b="b"/>
            <a:pathLst>
              <a:path w="8521065" h="4100195">
                <a:moveTo>
                  <a:pt x="0" y="0"/>
                </a:moveTo>
                <a:lnTo>
                  <a:pt x="8520599" y="0"/>
                </a:lnTo>
                <a:lnTo>
                  <a:pt x="8520599" y="4099799"/>
                </a:lnTo>
                <a:lnTo>
                  <a:pt x="0" y="40997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84725" y="626290"/>
            <a:ext cx="8260715" cy="34848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Roboto Lt"/>
                <a:cs typeface="Roboto Lt"/>
              </a:rPr>
              <a:t>There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is</a:t>
            </a:r>
            <a:r>
              <a:rPr dirty="0" sz="2000" spc="-4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70%</a:t>
            </a:r>
            <a:r>
              <a:rPr dirty="0" sz="2000" spc="-4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exodus</a:t>
            </a:r>
            <a:r>
              <a:rPr dirty="0" sz="2000" spc="-4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in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every</a:t>
            </a:r>
            <a:r>
              <a:rPr dirty="0" sz="2000" spc="-4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exam</a:t>
            </a:r>
            <a:r>
              <a:rPr dirty="0" sz="2000" spc="-4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session</a:t>
            </a:r>
            <a:r>
              <a:rPr dirty="0" sz="2000" spc="-4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at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90</a:t>
            </a:r>
            <a:r>
              <a:rPr dirty="0" sz="2000" spc="-4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minutes</a:t>
            </a:r>
            <a:r>
              <a:rPr dirty="0" sz="2000" spc="-4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after</a:t>
            </a:r>
            <a:r>
              <a:rPr dirty="0" sz="2000" spc="-4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exam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start</a:t>
            </a:r>
            <a:endParaRPr sz="2000">
              <a:latin typeface="Roboto Lt"/>
              <a:cs typeface="Roboto Lt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2000">
              <a:latin typeface="Roboto Lt"/>
              <a:cs typeface="Roboto Lt"/>
            </a:endParaRPr>
          </a:p>
          <a:p>
            <a:pPr marL="12700" marR="5080">
              <a:lnSpc>
                <a:spcPct val="114999"/>
              </a:lnSpc>
              <a:spcBef>
                <a:spcPts val="5"/>
              </a:spcBef>
            </a:pPr>
            <a:r>
              <a:rPr dirty="0" sz="2000">
                <a:latin typeface="Roboto Lt"/>
                <a:cs typeface="Roboto Lt"/>
              </a:rPr>
              <a:t>Papers</a:t>
            </a:r>
            <a:r>
              <a:rPr dirty="0" sz="2000" spc="-6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with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20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or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30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multiple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choice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questions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are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completed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very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quickly. </a:t>
            </a:r>
            <a:r>
              <a:rPr dirty="0" sz="2000">
                <a:latin typeface="Roboto Lt"/>
                <a:cs typeface="Roboto Lt"/>
              </a:rPr>
              <a:t>Think</a:t>
            </a:r>
            <a:r>
              <a:rPr dirty="0" sz="2000" spc="-85">
                <a:latin typeface="Roboto Lt"/>
                <a:cs typeface="Roboto Lt"/>
              </a:rPr>
              <a:t> </a:t>
            </a:r>
            <a:r>
              <a:rPr dirty="0" sz="2000" spc="-20">
                <a:latin typeface="Roboto Lt"/>
                <a:cs typeface="Roboto Lt"/>
              </a:rPr>
              <a:t>“Kaun</a:t>
            </a:r>
            <a:r>
              <a:rPr dirty="0" sz="2000" spc="-8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banega</a:t>
            </a:r>
            <a:r>
              <a:rPr dirty="0" sz="2000" spc="-85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crorepati”</a:t>
            </a:r>
            <a:endParaRPr sz="2000">
              <a:latin typeface="Roboto Lt"/>
              <a:cs typeface="Roboto Lt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2000">
              <a:latin typeface="Roboto Lt"/>
              <a:cs typeface="Roboto Lt"/>
            </a:endParaRPr>
          </a:p>
          <a:p>
            <a:pPr marL="12700" marR="278130">
              <a:lnSpc>
                <a:spcPct val="114999"/>
              </a:lnSpc>
              <a:spcBef>
                <a:spcPts val="5"/>
              </a:spcBef>
            </a:pPr>
            <a:r>
              <a:rPr dirty="0" sz="2000">
                <a:latin typeface="Roboto Lt"/>
                <a:cs typeface="Roboto Lt"/>
              </a:rPr>
              <a:t>If</a:t>
            </a:r>
            <a:r>
              <a:rPr dirty="0" sz="2000" spc="-4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question</a:t>
            </a:r>
            <a:r>
              <a:rPr dirty="0" sz="2000" spc="-4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paper</a:t>
            </a:r>
            <a:r>
              <a:rPr dirty="0" sz="2000" spc="-4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does</a:t>
            </a:r>
            <a:r>
              <a:rPr dirty="0" sz="2000" spc="-4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not</a:t>
            </a:r>
            <a:r>
              <a:rPr dirty="0" sz="2000" spc="-4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have</a:t>
            </a:r>
            <a:r>
              <a:rPr dirty="0" sz="2000" spc="-40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numerical</a:t>
            </a:r>
            <a:r>
              <a:rPr dirty="0" sz="2000" spc="-4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problems</a:t>
            </a:r>
            <a:r>
              <a:rPr dirty="0" sz="2000" spc="-4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or</a:t>
            </a:r>
            <a:r>
              <a:rPr dirty="0" sz="2000" spc="-40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comprehension </a:t>
            </a:r>
            <a:r>
              <a:rPr dirty="0" sz="2000">
                <a:latin typeface="Roboto Lt"/>
                <a:cs typeface="Roboto Lt"/>
              </a:rPr>
              <a:t>problems,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increase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the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questions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to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100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so</a:t>
            </a:r>
            <a:r>
              <a:rPr dirty="0" sz="2000" spc="-4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that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learners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at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least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have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 spc="-25">
                <a:latin typeface="Roboto Lt"/>
                <a:cs typeface="Roboto Lt"/>
              </a:rPr>
              <a:t>to </a:t>
            </a:r>
            <a:r>
              <a:rPr dirty="0" sz="2000">
                <a:latin typeface="Roboto Lt"/>
                <a:cs typeface="Roboto Lt"/>
              </a:rPr>
              <a:t>answer</a:t>
            </a:r>
            <a:r>
              <a:rPr dirty="0" sz="2000" spc="-95">
                <a:latin typeface="Roboto Lt"/>
                <a:cs typeface="Roboto Lt"/>
              </a:rPr>
              <a:t> </a:t>
            </a:r>
            <a:r>
              <a:rPr dirty="0" sz="2000" spc="-20">
                <a:latin typeface="Roboto Lt"/>
                <a:cs typeface="Roboto Lt"/>
              </a:rPr>
              <a:t>more</a:t>
            </a:r>
            <a:endParaRPr sz="2000">
              <a:latin typeface="Roboto Lt"/>
              <a:cs typeface="Roboto Lt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200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Roboto Lt"/>
                <a:cs typeface="Roboto Lt"/>
              </a:rPr>
              <a:t>Can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be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repetitions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from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assignments</a:t>
            </a:r>
            <a:r>
              <a:rPr dirty="0" sz="2000" spc="-50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with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>
                <a:latin typeface="Roboto Lt"/>
                <a:cs typeface="Roboto Lt"/>
              </a:rPr>
              <a:t>minor</a:t>
            </a:r>
            <a:r>
              <a:rPr dirty="0" sz="2000" spc="-55">
                <a:latin typeface="Roboto Lt"/>
                <a:cs typeface="Roboto Lt"/>
              </a:rPr>
              <a:t> </a:t>
            </a:r>
            <a:r>
              <a:rPr dirty="0" sz="2000" spc="-10">
                <a:latin typeface="Roboto Lt"/>
                <a:cs typeface="Roboto Lt"/>
              </a:rPr>
              <a:t>tweaks</a:t>
            </a:r>
            <a:endParaRPr sz="20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67467"/>
            <a:ext cx="9142095" cy="4611370"/>
          </a:xfrm>
          <a:custGeom>
            <a:avLst/>
            <a:gdLst/>
            <a:ahLst/>
            <a:cxnLst/>
            <a:rect l="l" t="t" r="r" b="b"/>
            <a:pathLst>
              <a:path w="9142095" h="4611370">
                <a:moveTo>
                  <a:pt x="9141713" y="4611290"/>
                </a:moveTo>
                <a:lnTo>
                  <a:pt x="0" y="4611290"/>
                </a:lnTo>
                <a:lnTo>
                  <a:pt x="0" y="0"/>
                </a:lnTo>
                <a:lnTo>
                  <a:pt x="9141713" y="0"/>
                </a:lnTo>
                <a:lnTo>
                  <a:pt x="9141713" y="4611290"/>
                </a:lnTo>
                <a:close/>
              </a:path>
            </a:pathLst>
          </a:custGeom>
          <a:solidFill>
            <a:srgbClr val="C96329">
              <a:alpha val="16862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404658"/>
            <a:ext cx="9142095" cy="62865"/>
            <a:chOff x="0" y="404658"/>
            <a:chExt cx="9142095" cy="62865"/>
          </a:xfrm>
        </p:grpSpPr>
        <p:sp>
          <p:nvSpPr>
            <p:cNvPr id="4" name="object 4"/>
            <p:cNvSpPr/>
            <p:nvPr/>
          </p:nvSpPr>
          <p:spPr>
            <a:xfrm>
              <a:off x="0" y="404658"/>
              <a:ext cx="5243830" cy="62865"/>
            </a:xfrm>
            <a:custGeom>
              <a:avLst/>
              <a:gdLst/>
              <a:ahLst/>
              <a:cxnLst/>
              <a:rect l="l" t="t" r="r" b="b"/>
              <a:pathLst>
                <a:path w="5243830" h="62865">
                  <a:moveTo>
                    <a:pt x="5243369" y="62807"/>
                  </a:moveTo>
                  <a:lnTo>
                    <a:pt x="0" y="62807"/>
                  </a:lnTo>
                  <a:lnTo>
                    <a:pt x="0" y="0"/>
                  </a:lnTo>
                  <a:lnTo>
                    <a:pt x="5243369" y="0"/>
                  </a:lnTo>
                  <a:lnTo>
                    <a:pt x="5243369" y="62807"/>
                  </a:lnTo>
                  <a:close/>
                </a:path>
              </a:pathLst>
            </a:custGeom>
            <a:solidFill>
              <a:srgbClr val="ABD1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243369" y="404658"/>
              <a:ext cx="3898900" cy="62865"/>
            </a:xfrm>
            <a:custGeom>
              <a:avLst/>
              <a:gdLst/>
              <a:ahLst/>
              <a:cxnLst/>
              <a:rect l="l" t="t" r="r" b="b"/>
              <a:pathLst>
                <a:path w="3898900" h="62865">
                  <a:moveTo>
                    <a:pt x="3898343" y="62807"/>
                  </a:moveTo>
                  <a:lnTo>
                    <a:pt x="0" y="62807"/>
                  </a:lnTo>
                  <a:lnTo>
                    <a:pt x="0" y="0"/>
                  </a:lnTo>
                  <a:lnTo>
                    <a:pt x="3898343" y="0"/>
                  </a:lnTo>
                  <a:lnTo>
                    <a:pt x="3898343" y="62807"/>
                  </a:lnTo>
                  <a:close/>
                </a:path>
              </a:pathLst>
            </a:custGeom>
            <a:solidFill>
              <a:srgbClr val="46A7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757929">
              <a:lnSpc>
                <a:spcPct val="100000"/>
              </a:lnSpc>
              <a:spcBef>
                <a:spcPts val="100"/>
              </a:spcBef>
            </a:pPr>
            <a:r>
              <a:rPr dirty="0" sz="2800" spc="-10"/>
              <a:t>Publicity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142125" y="772162"/>
            <a:ext cx="8561070" cy="3439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8915" indent="-19621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08915" algn="l"/>
              </a:tabLst>
            </a:pPr>
            <a:r>
              <a:rPr dirty="0" sz="1400" b="1">
                <a:latin typeface="Arial"/>
                <a:cs typeface="Arial"/>
              </a:rPr>
              <a:t>Posters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and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booklet</a:t>
            </a:r>
            <a:endParaRPr sz="1400">
              <a:latin typeface="Arial"/>
              <a:cs typeface="Arial"/>
            </a:endParaRPr>
          </a:p>
          <a:p>
            <a:pPr marL="12700" marR="86995">
              <a:lnSpc>
                <a:spcPct val="100000"/>
              </a:lnSpc>
            </a:pPr>
            <a:r>
              <a:rPr dirty="0" sz="1400">
                <a:latin typeface="Arial MT"/>
                <a:cs typeface="Arial MT"/>
              </a:rPr>
              <a:t>We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have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published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course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posters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working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booklets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publicity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will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disseminating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to </a:t>
            </a:r>
            <a:r>
              <a:rPr dirty="0" sz="1400">
                <a:latin typeface="Arial MT"/>
                <a:cs typeface="Arial MT"/>
              </a:rPr>
              <a:t>8400+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colleges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work</a:t>
            </a:r>
            <a:r>
              <a:rPr dirty="0" sz="1400" spc="-10">
                <a:latin typeface="Arial MT"/>
                <a:cs typeface="Arial MT"/>
              </a:rPr>
              <a:t> with.</a:t>
            </a:r>
            <a:endParaRPr sz="1400">
              <a:latin typeface="Arial MT"/>
              <a:cs typeface="Arial MT"/>
            </a:endParaRPr>
          </a:p>
          <a:p>
            <a:pPr marL="208915" indent="-196215">
              <a:lnSpc>
                <a:spcPct val="100000"/>
              </a:lnSpc>
              <a:buAutoNum type="arabicPeriod" startAt="2"/>
              <a:tabLst>
                <a:tab pos="208915" algn="l"/>
              </a:tabLst>
            </a:pPr>
            <a:r>
              <a:rPr dirty="0" sz="1400" b="1">
                <a:latin typeface="Arial"/>
                <a:cs typeface="Arial"/>
              </a:rPr>
              <a:t>Campaigns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on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FB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and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Instagram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latin typeface="Arial MT"/>
                <a:cs typeface="Arial MT"/>
              </a:rPr>
              <a:t>We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have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been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advertising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courses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NPTEL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social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media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platforms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running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paid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campaigns </a:t>
            </a:r>
            <a:r>
              <a:rPr dirty="0" sz="1400">
                <a:latin typeface="Arial MT"/>
                <a:cs typeface="Arial MT"/>
              </a:rPr>
              <a:t>too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on</a:t>
            </a:r>
            <a:r>
              <a:rPr dirty="0" sz="1400" spc="-10">
                <a:latin typeface="Arial MT"/>
                <a:cs typeface="Arial MT"/>
              </a:rPr>
              <a:t> them.</a:t>
            </a:r>
            <a:endParaRPr sz="1400">
              <a:latin typeface="Arial MT"/>
              <a:cs typeface="Arial MT"/>
            </a:endParaRPr>
          </a:p>
          <a:p>
            <a:pPr marL="208915" indent="-196215">
              <a:lnSpc>
                <a:spcPct val="100000"/>
              </a:lnSpc>
              <a:buAutoNum type="arabicPeriod" startAt="3"/>
              <a:tabLst>
                <a:tab pos="208915" algn="l"/>
              </a:tabLst>
            </a:pPr>
            <a:r>
              <a:rPr dirty="0" sz="1400" spc="-10" b="1">
                <a:latin typeface="Arial"/>
                <a:cs typeface="Arial"/>
              </a:rPr>
              <a:t>Workshops</a:t>
            </a:r>
            <a:endParaRPr sz="1400">
              <a:latin typeface="Arial"/>
              <a:cs typeface="Arial"/>
            </a:endParaRPr>
          </a:p>
          <a:p>
            <a:pPr marL="12700" marR="417195">
              <a:lnSpc>
                <a:spcPct val="100000"/>
              </a:lnSpc>
            </a:pPr>
            <a:r>
              <a:rPr dirty="0" sz="1400">
                <a:latin typeface="Arial MT"/>
                <a:cs typeface="Arial MT"/>
              </a:rPr>
              <a:t>We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will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organize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awareness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workshops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collaboration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with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colleges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different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states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doing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these online.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On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your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part:</a:t>
            </a:r>
            <a:endParaRPr sz="1400">
              <a:latin typeface="Arial"/>
              <a:cs typeface="Arial"/>
            </a:endParaRPr>
          </a:p>
          <a:p>
            <a:pPr lvl="1" marL="205740" indent="-193040">
              <a:lnSpc>
                <a:spcPct val="100000"/>
              </a:lnSpc>
              <a:buAutoNum type="arabicPeriod"/>
              <a:tabLst>
                <a:tab pos="205740" algn="l"/>
              </a:tabLst>
            </a:pPr>
            <a:r>
              <a:rPr dirty="0" sz="1400" spc="-35">
                <a:latin typeface="Arial MT"/>
                <a:cs typeface="Arial MT"/>
              </a:rPr>
              <a:t>You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publicise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same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any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forums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you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may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-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professional,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social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etc.</a:t>
            </a:r>
            <a:endParaRPr sz="1400">
              <a:latin typeface="Arial MT"/>
              <a:cs typeface="Arial MT"/>
            </a:endParaRPr>
          </a:p>
          <a:p>
            <a:pPr lvl="1" marL="208915" indent="-196215">
              <a:lnSpc>
                <a:spcPct val="100000"/>
              </a:lnSpc>
              <a:buAutoNum type="arabicPeriod"/>
              <a:tabLst>
                <a:tab pos="208915" algn="l"/>
              </a:tabLst>
            </a:pPr>
            <a:r>
              <a:rPr dirty="0" sz="1400">
                <a:latin typeface="Arial MT"/>
                <a:cs typeface="Arial MT"/>
              </a:rPr>
              <a:t>Request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you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also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publicise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among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any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industry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contacts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you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may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have,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your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students'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network,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etc</a:t>
            </a:r>
            <a:endParaRPr sz="1400">
              <a:latin typeface="Arial MT"/>
              <a:cs typeface="Arial MT"/>
            </a:endParaRPr>
          </a:p>
          <a:p>
            <a:pPr lvl="1" marL="12700" marR="142875" indent="196215">
              <a:lnSpc>
                <a:spcPct val="100000"/>
              </a:lnSpc>
              <a:buAutoNum type="arabicPeriod"/>
              <a:tabLst>
                <a:tab pos="208915" algn="l"/>
              </a:tabLst>
            </a:pPr>
            <a:r>
              <a:rPr dirty="0" sz="1400">
                <a:latin typeface="Arial MT"/>
                <a:cs typeface="Arial MT"/>
              </a:rPr>
              <a:t>In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case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visiting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any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college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any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talks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too,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would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great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if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you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probably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talk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about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NPTEL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and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availability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these</a:t>
            </a:r>
            <a:r>
              <a:rPr dirty="0" sz="1400" spc="-10">
                <a:latin typeface="Arial MT"/>
                <a:cs typeface="Arial MT"/>
              </a:rPr>
              <a:t> courses</a:t>
            </a:r>
            <a:endParaRPr sz="1400">
              <a:latin typeface="Arial MT"/>
              <a:cs typeface="Arial MT"/>
            </a:endParaRPr>
          </a:p>
          <a:p>
            <a:pPr lvl="1" marL="208915" indent="-196215">
              <a:lnSpc>
                <a:spcPct val="100000"/>
              </a:lnSpc>
              <a:buAutoNum type="arabicPeriod"/>
              <a:tabLst>
                <a:tab pos="208915" algn="l"/>
              </a:tabLst>
            </a:pPr>
            <a:r>
              <a:rPr dirty="0" sz="1400">
                <a:latin typeface="Arial MT"/>
                <a:cs typeface="Arial MT"/>
              </a:rPr>
              <a:t>If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you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have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contact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with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print/tv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media,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you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try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publicity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this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front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too.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02681" y="2021516"/>
            <a:ext cx="6115685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42644" marR="5080" indent="-830580">
              <a:lnSpc>
                <a:spcPct val="100000"/>
              </a:lnSpc>
              <a:spcBef>
                <a:spcPts val="100"/>
              </a:spcBef>
            </a:pPr>
            <a:r>
              <a:rPr dirty="0" sz="4800"/>
              <a:t>Question</a:t>
            </a:r>
            <a:r>
              <a:rPr dirty="0" sz="4800" spc="-225"/>
              <a:t> </a:t>
            </a:r>
            <a:r>
              <a:rPr dirty="0" sz="4800"/>
              <a:t>Papers</a:t>
            </a:r>
            <a:r>
              <a:rPr dirty="0" sz="4800" spc="-220"/>
              <a:t> </a:t>
            </a:r>
            <a:r>
              <a:rPr dirty="0" sz="4800" spc="-25"/>
              <a:t>and </a:t>
            </a:r>
            <a:r>
              <a:rPr dirty="0" sz="4800"/>
              <a:t>NPTEL</a:t>
            </a:r>
            <a:r>
              <a:rPr dirty="0" sz="4800" spc="-225"/>
              <a:t> </a:t>
            </a:r>
            <a:r>
              <a:rPr dirty="0" sz="4800"/>
              <a:t>QP</a:t>
            </a:r>
            <a:r>
              <a:rPr dirty="0" sz="4800" spc="-225"/>
              <a:t> </a:t>
            </a:r>
            <a:r>
              <a:rPr dirty="0" sz="4800" spc="-20"/>
              <a:t>Tool</a:t>
            </a:r>
            <a:endParaRPr sz="4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67467"/>
            <a:ext cx="9142095" cy="4611370"/>
          </a:xfrm>
          <a:custGeom>
            <a:avLst/>
            <a:gdLst/>
            <a:ahLst/>
            <a:cxnLst/>
            <a:rect l="l" t="t" r="r" b="b"/>
            <a:pathLst>
              <a:path w="9142095" h="4611370">
                <a:moveTo>
                  <a:pt x="9141713" y="4611290"/>
                </a:moveTo>
                <a:lnTo>
                  <a:pt x="0" y="4611290"/>
                </a:lnTo>
                <a:lnTo>
                  <a:pt x="0" y="0"/>
                </a:lnTo>
                <a:lnTo>
                  <a:pt x="9141713" y="0"/>
                </a:lnTo>
                <a:lnTo>
                  <a:pt x="9141713" y="4611290"/>
                </a:lnTo>
                <a:close/>
              </a:path>
            </a:pathLst>
          </a:custGeom>
          <a:solidFill>
            <a:srgbClr val="C96329">
              <a:alpha val="16862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404658"/>
            <a:ext cx="9142095" cy="62865"/>
            <a:chOff x="0" y="404658"/>
            <a:chExt cx="9142095" cy="62865"/>
          </a:xfrm>
        </p:grpSpPr>
        <p:sp>
          <p:nvSpPr>
            <p:cNvPr id="4" name="object 4"/>
            <p:cNvSpPr/>
            <p:nvPr/>
          </p:nvSpPr>
          <p:spPr>
            <a:xfrm>
              <a:off x="0" y="404658"/>
              <a:ext cx="5243830" cy="62865"/>
            </a:xfrm>
            <a:custGeom>
              <a:avLst/>
              <a:gdLst/>
              <a:ahLst/>
              <a:cxnLst/>
              <a:rect l="l" t="t" r="r" b="b"/>
              <a:pathLst>
                <a:path w="5243830" h="62865">
                  <a:moveTo>
                    <a:pt x="5243369" y="62807"/>
                  </a:moveTo>
                  <a:lnTo>
                    <a:pt x="0" y="62807"/>
                  </a:lnTo>
                  <a:lnTo>
                    <a:pt x="0" y="0"/>
                  </a:lnTo>
                  <a:lnTo>
                    <a:pt x="5243369" y="0"/>
                  </a:lnTo>
                  <a:lnTo>
                    <a:pt x="5243369" y="62807"/>
                  </a:lnTo>
                  <a:close/>
                </a:path>
              </a:pathLst>
            </a:custGeom>
            <a:solidFill>
              <a:srgbClr val="ABD1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243369" y="404658"/>
              <a:ext cx="3898900" cy="62865"/>
            </a:xfrm>
            <a:custGeom>
              <a:avLst/>
              <a:gdLst/>
              <a:ahLst/>
              <a:cxnLst/>
              <a:rect l="l" t="t" r="r" b="b"/>
              <a:pathLst>
                <a:path w="3898900" h="62865">
                  <a:moveTo>
                    <a:pt x="3898343" y="62807"/>
                  </a:moveTo>
                  <a:lnTo>
                    <a:pt x="0" y="62807"/>
                  </a:lnTo>
                  <a:lnTo>
                    <a:pt x="0" y="0"/>
                  </a:lnTo>
                  <a:lnTo>
                    <a:pt x="3898343" y="0"/>
                  </a:lnTo>
                  <a:lnTo>
                    <a:pt x="3898343" y="62807"/>
                  </a:lnTo>
                  <a:close/>
                </a:path>
              </a:pathLst>
            </a:custGeom>
            <a:solidFill>
              <a:srgbClr val="46A7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57474" y="604304"/>
            <a:ext cx="708279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QP</a:t>
            </a:r>
            <a:r>
              <a:rPr dirty="0" u="heavy" sz="120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FORMAT: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4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Weeks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-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Question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paper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total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50/100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marks.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(Engage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least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1.5</a:t>
            </a:r>
            <a:r>
              <a:rPr dirty="0" sz="1200" spc="-20">
                <a:latin typeface="Arial MT"/>
                <a:cs typeface="Arial MT"/>
              </a:rPr>
              <a:t> hrs) </a:t>
            </a:r>
            <a:r>
              <a:rPr dirty="0" sz="1200" b="1">
                <a:latin typeface="Arial"/>
                <a:cs typeface="Arial"/>
              </a:rPr>
              <a:t>8/12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Weeks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-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Question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paper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total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100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marks.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(Engage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least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2-</a:t>
            </a:r>
            <a:r>
              <a:rPr dirty="0" sz="1200">
                <a:latin typeface="Arial MT"/>
                <a:cs typeface="Arial MT"/>
              </a:rPr>
              <a:t>2.5</a:t>
            </a:r>
            <a:r>
              <a:rPr dirty="0" sz="1200" spc="-20">
                <a:latin typeface="Arial MT"/>
                <a:cs typeface="Arial MT"/>
              </a:rPr>
              <a:t> hrs) </a:t>
            </a:r>
            <a:r>
              <a:rPr dirty="0" sz="1200" spc="-10" b="1">
                <a:latin typeface="Arial"/>
                <a:cs typeface="Arial"/>
              </a:rPr>
              <a:t>Questions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Split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up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(A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MUST)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7474" y="1518703"/>
            <a:ext cx="11144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1130" indent="-138430">
              <a:lnSpc>
                <a:spcPct val="100000"/>
              </a:lnSpc>
              <a:spcBef>
                <a:spcPts val="100"/>
              </a:spcBef>
              <a:buChar char="•"/>
              <a:tabLst>
                <a:tab pos="151130" algn="l"/>
              </a:tabLst>
            </a:pPr>
            <a:r>
              <a:rPr dirty="0" sz="1200" spc="-10" b="1">
                <a:latin typeface="Arial"/>
                <a:cs typeface="Arial"/>
              </a:rPr>
              <a:t>Recall</a:t>
            </a:r>
            <a:endParaRPr sz="1200">
              <a:latin typeface="Arial"/>
              <a:cs typeface="Arial"/>
            </a:endParaRPr>
          </a:p>
          <a:p>
            <a:pPr marL="145415" indent="-132715">
              <a:lnSpc>
                <a:spcPct val="100000"/>
              </a:lnSpc>
              <a:buChar char="•"/>
              <a:tabLst>
                <a:tab pos="145415" algn="l"/>
              </a:tabLst>
            </a:pPr>
            <a:r>
              <a:rPr dirty="0" sz="1200" spc="-10" b="1">
                <a:latin typeface="Arial"/>
                <a:cs typeface="Arial"/>
              </a:rPr>
              <a:t>Assignments</a:t>
            </a:r>
            <a:endParaRPr sz="1200">
              <a:latin typeface="Arial"/>
              <a:cs typeface="Arial"/>
            </a:endParaRPr>
          </a:p>
          <a:p>
            <a:pPr marL="151130" indent="-138430">
              <a:lnSpc>
                <a:spcPct val="100000"/>
              </a:lnSpc>
              <a:buChar char="•"/>
              <a:tabLst>
                <a:tab pos="151130" algn="l"/>
              </a:tabLst>
            </a:pPr>
            <a:r>
              <a:rPr dirty="0" sz="1200" spc="-20" b="1">
                <a:latin typeface="Arial"/>
                <a:cs typeface="Arial"/>
              </a:rPr>
              <a:t>Open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2941" y="1518703"/>
            <a:ext cx="72485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: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Questions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videos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your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course</a:t>
            </a:r>
            <a:endParaRPr sz="120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: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Questions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similar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your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weekly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assignments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:</a:t>
            </a:r>
            <a:r>
              <a:rPr dirty="0" sz="1200" spc="340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Questions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test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understanding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differentiate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students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based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how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they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474" y="2067343"/>
            <a:ext cx="8646160" cy="2768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have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learned.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inferential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questions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advanced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</a:t>
            </a:r>
            <a:r>
              <a:rPr dirty="0" sz="1200" spc="-20">
                <a:latin typeface="Arial MT"/>
                <a:cs typeface="Arial MT"/>
              </a:rPr>
              <a:t> too.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TYPE</a:t>
            </a:r>
            <a:r>
              <a:rPr dirty="0" u="heavy" sz="120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dirty="0" u="heavy" sz="1200" spc="-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EXAM:</a:t>
            </a:r>
            <a:endParaRPr sz="1200">
              <a:latin typeface="Arial"/>
              <a:cs typeface="Arial"/>
            </a:endParaRPr>
          </a:p>
          <a:p>
            <a:pPr marL="615315" indent="-138430">
              <a:lnSpc>
                <a:spcPct val="100000"/>
              </a:lnSpc>
              <a:buChar char="•"/>
              <a:tabLst>
                <a:tab pos="615315" algn="l"/>
              </a:tabLst>
            </a:pPr>
            <a:r>
              <a:rPr dirty="0" sz="1200">
                <a:latin typeface="Arial MT"/>
                <a:cs typeface="Arial MT"/>
              </a:rPr>
              <a:t>Mention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type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exam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(Online/Offline)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Online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exam: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Objective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type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paper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-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questions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answered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computer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-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most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questions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auto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graded.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Offline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Exam:</a:t>
            </a:r>
            <a:endParaRPr sz="1200">
              <a:latin typeface="Arial"/>
              <a:cs typeface="Arial"/>
            </a:endParaRPr>
          </a:p>
          <a:p>
            <a:pPr marL="12700" marR="327025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Questions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will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displayed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monitor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candidates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need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write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answer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provided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answer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sheet.Once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receive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answer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papers,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shall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same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manual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evaluation.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NUMBER</a:t>
            </a:r>
            <a:r>
              <a:rPr dirty="0" u="heavy" sz="12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dirty="0" u="heavy" sz="12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QUESTION</a:t>
            </a:r>
            <a:r>
              <a:rPr dirty="0" u="heavy" sz="12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PAPERS:</a:t>
            </a:r>
            <a:endParaRPr sz="1200">
              <a:latin typeface="Arial"/>
              <a:cs typeface="Arial"/>
            </a:endParaRPr>
          </a:p>
          <a:p>
            <a:pPr marL="151130" indent="-138430">
              <a:lnSpc>
                <a:spcPct val="100000"/>
              </a:lnSpc>
              <a:buChar char="•"/>
              <a:tabLst>
                <a:tab pos="151130" algn="l"/>
              </a:tabLst>
            </a:pPr>
            <a:r>
              <a:rPr dirty="0" sz="1200">
                <a:latin typeface="Arial MT"/>
                <a:cs typeface="Arial MT"/>
              </a:rPr>
              <a:t>Required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two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sets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encrypted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final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exam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question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paper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(Either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word/Pdf).</a:t>
            </a:r>
            <a:endParaRPr sz="1200">
              <a:latin typeface="Arial MT"/>
              <a:cs typeface="Arial MT"/>
            </a:endParaRPr>
          </a:p>
          <a:p>
            <a:pPr marL="12700" marR="5080" indent="135890">
              <a:lnSpc>
                <a:spcPct val="100000"/>
              </a:lnSpc>
              <a:buChar char="•"/>
              <a:tabLst>
                <a:tab pos="148590" algn="l"/>
              </a:tabLst>
            </a:pP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encrypted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papers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should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mailed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ONLY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Ms.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Bharathi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password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same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should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sent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mobile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no </a:t>
            </a:r>
            <a:r>
              <a:rPr dirty="0" sz="1200">
                <a:latin typeface="Arial MT"/>
                <a:cs typeface="Arial MT"/>
              </a:rPr>
              <a:t>(9884686692)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via</a:t>
            </a:r>
            <a:r>
              <a:rPr dirty="0" sz="1200" spc="-10">
                <a:latin typeface="Arial MT"/>
                <a:cs typeface="Arial MT"/>
              </a:rPr>
              <a:t> WhatsApp/sms.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013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QP</a:t>
            </a:r>
            <a:r>
              <a:rPr dirty="0" sz="2700" spc="-60"/>
              <a:t> </a:t>
            </a:r>
            <a:r>
              <a:rPr dirty="0" sz="2700" spc="-10"/>
              <a:t>Requirements</a:t>
            </a:r>
            <a:endParaRPr sz="27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67467"/>
            <a:ext cx="9142095" cy="4611370"/>
          </a:xfrm>
          <a:custGeom>
            <a:avLst/>
            <a:gdLst/>
            <a:ahLst/>
            <a:cxnLst/>
            <a:rect l="l" t="t" r="r" b="b"/>
            <a:pathLst>
              <a:path w="9142095" h="4611370">
                <a:moveTo>
                  <a:pt x="9141713" y="4611290"/>
                </a:moveTo>
                <a:lnTo>
                  <a:pt x="0" y="4611290"/>
                </a:lnTo>
                <a:lnTo>
                  <a:pt x="0" y="0"/>
                </a:lnTo>
                <a:lnTo>
                  <a:pt x="9141713" y="0"/>
                </a:lnTo>
                <a:lnTo>
                  <a:pt x="9141713" y="4611290"/>
                </a:lnTo>
                <a:close/>
              </a:path>
            </a:pathLst>
          </a:custGeom>
          <a:solidFill>
            <a:srgbClr val="C96329">
              <a:alpha val="16862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404658"/>
            <a:ext cx="9142095" cy="62865"/>
            <a:chOff x="0" y="404658"/>
            <a:chExt cx="9142095" cy="62865"/>
          </a:xfrm>
        </p:grpSpPr>
        <p:sp>
          <p:nvSpPr>
            <p:cNvPr id="4" name="object 4"/>
            <p:cNvSpPr/>
            <p:nvPr/>
          </p:nvSpPr>
          <p:spPr>
            <a:xfrm>
              <a:off x="0" y="404658"/>
              <a:ext cx="5243830" cy="62865"/>
            </a:xfrm>
            <a:custGeom>
              <a:avLst/>
              <a:gdLst/>
              <a:ahLst/>
              <a:cxnLst/>
              <a:rect l="l" t="t" r="r" b="b"/>
              <a:pathLst>
                <a:path w="5243830" h="62865">
                  <a:moveTo>
                    <a:pt x="5243369" y="62807"/>
                  </a:moveTo>
                  <a:lnTo>
                    <a:pt x="0" y="62807"/>
                  </a:lnTo>
                  <a:lnTo>
                    <a:pt x="0" y="0"/>
                  </a:lnTo>
                  <a:lnTo>
                    <a:pt x="5243369" y="0"/>
                  </a:lnTo>
                  <a:lnTo>
                    <a:pt x="5243369" y="62807"/>
                  </a:lnTo>
                  <a:close/>
                </a:path>
              </a:pathLst>
            </a:custGeom>
            <a:solidFill>
              <a:srgbClr val="ABD1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243369" y="404658"/>
              <a:ext cx="3898900" cy="62865"/>
            </a:xfrm>
            <a:custGeom>
              <a:avLst/>
              <a:gdLst/>
              <a:ahLst/>
              <a:cxnLst/>
              <a:rect l="l" t="t" r="r" b="b"/>
              <a:pathLst>
                <a:path w="3898900" h="62865">
                  <a:moveTo>
                    <a:pt x="3898343" y="62807"/>
                  </a:moveTo>
                  <a:lnTo>
                    <a:pt x="0" y="62807"/>
                  </a:lnTo>
                  <a:lnTo>
                    <a:pt x="0" y="0"/>
                  </a:lnTo>
                  <a:lnTo>
                    <a:pt x="3898343" y="0"/>
                  </a:lnTo>
                  <a:lnTo>
                    <a:pt x="3898343" y="62807"/>
                  </a:lnTo>
                  <a:close/>
                </a:path>
              </a:pathLst>
            </a:custGeom>
            <a:solidFill>
              <a:srgbClr val="46A7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ADVANTAGES</a:t>
            </a:r>
            <a:r>
              <a:rPr dirty="0" spc="-85"/>
              <a:t>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/>
              <a:t>QP</a:t>
            </a:r>
            <a:r>
              <a:rPr dirty="0" spc="-130"/>
              <a:t> </a:t>
            </a:r>
            <a:r>
              <a:rPr dirty="0" spc="-20"/>
              <a:t>TOOL</a:t>
            </a:r>
          </a:p>
        </p:txBody>
      </p:sp>
      <p:sp>
        <p:nvSpPr>
          <p:cNvPr id="7" name="object 7"/>
          <p:cNvSpPr/>
          <p:nvPr/>
        </p:nvSpPr>
        <p:spPr>
          <a:xfrm>
            <a:off x="434625" y="573149"/>
            <a:ext cx="8397875" cy="3997325"/>
          </a:xfrm>
          <a:custGeom>
            <a:avLst/>
            <a:gdLst/>
            <a:ahLst/>
            <a:cxnLst/>
            <a:rect l="l" t="t" r="r" b="b"/>
            <a:pathLst>
              <a:path w="8397875" h="3997325">
                <a:moveTo>
                  <a:pt x="0" y="0"/>
                </a:moveTo>
                <a:lnTo>
                  <a:pt x="8397599" y="0"/>
                </a:lnTo>
                <a:lnTo>
                  <a:pt x="8397599" y="3997199"/>
                </a:lnTo>
                <a:lnTo>
                  <a:pt x="0" y="3997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15925" marR="5080" indent="-38227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416559" algn="l"/>
              </a:tabLst>
            </a:pPr>
            <a:r>
              <a:rPr dirty="0" spc="-10"/>
              <a:t>Questions</a:t>
            </a:r>
            <a:r>
              <a:rPr dirty="0" spc="-50"/>
              <a:t> </a:t>
            </a:r>
            <a:r>
              <a:rPr dirty="0"/>
              <a:t>will</a:t>
            </a:r>
            <a:r>
              <a:rPr dirty="0" spc="-45"/>
              <a:t> </a:t>
            </a:r>
            <a:r>
              <a:rPr dirty="0"/>
              <a:t>always</a:t>
            </a:r>
            <a:r>
              <a:rPr dirty="0" spc="-45"/>
              <a:t> </a:t>
            </a:r>
            <a:r>
              <a:rPr dirty="0"/>
              <a:t>be</a:t>
            </a:r>
            <a:r>
              <a:rPr dirty="0" spc="-50"/>
              <a:t> </a:t>
            </a:r>
            <a:r>
              <a:rPr dirty="0" spc="-10"/>
              <a:t>available</a:t>
            </a:r>
            <a:r>
              <a:rPr dirty="0" spc="-45"/>
              <a:t> </a:t>
            </a:r>
            <a:r>
              <a:rPr dirty="0"/>
              <a:t>in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/>
              <a:t>tool</a:t>
            </a:r>
            <a:r>
              <a:rPr dirty="0" spc="-45"/>
              <a:t> </a:t>
            </a:r>
            <a:r>
              <a:rPr dirty="0"/>
              <a:t>for</a:t>
            </a:r>
            <a:r>
              <a:rPr dirty="0" spc="-45"/>
              <a:t> </a:t>
            </a:r>
            <a:r>
              <a:rPr dirty="0"/>
              <a:t>future</a:t>
            </a:r>
            <a:r>
              <a:rPr dirty="0" spc="-50"/>
              <a:t> </a:t>
            </a:r>
            <a:r>
              <a:rPr dirty="0"/>
              <a:t>semesters</a:t>
            </a:r>
            <a:r>
              <a:rPr dirty="0" spc="-45"/>
              <a:t> </a:t>
            </a:r>
            <a:r>
              <a:rPr dirty="0" spc="-25"/>
              <a:t>for </a:t>
            </a:r>
            <a:r>
              <a:rPr dirty="0"/>
              <a:t>rerun</a:t>
            </a:r>
            <a:r>
              <a:rPr dirty="0" spc="-95"/>
              <a:t> </a:t>
            </a:r>
            <a:r>
              <a:rPr dirty="0" spc="-10"/>
              <a:t>courses.</a:t>
            </a:r>
          </a:p>
          <a:p>
            <a:pPr marL="415925" marR="286385" indent="-382270">
              <a:lnSpc>
                <a:spcPct val="100000"/>
              </a:lnSpc>
              <a:spcBef>
                <a:spcPts val="2400"/>
              </a:spcBef>
              <a:buFont typeface="Arial MT"/>
              <a:buChar char="●"/>
              <a:tabLst>
                <a:tab pos="416559" algn="l"/>
              </a:tabLst>
            </a:pPr>
            <a:r>
              <a:rPr dirty="0"/>
              <a:t>From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QP</a:t>
            </a:r>
            <a:r>
              <a:rPr dirty="0" spc="-45"/>
              <a:t> </a:t>
            </a:r>
            <a:r>
              <a:rPr dirty="0"/>
              <a:t>bank,</a:t>
            </a:r>
            <a:r>
              <a:rPr dirty="0" spc="-45"/>
              <a:t> </a:t>
            </a:r>
            <a:r>
              <a:rPr dirty="0" spc="-10"/>
              <a:t>previous</a:t>
            </a:r>
            <a:r>
              <a:rPr dirty="0" spc="-45"/>
              <a:t> </a:t>
            </a:r>
            <a:r>
              <a:rPr dirty="0"/>
              <a:t>semester</a:t>
            </a:r>
            <a:r>
              <a:rPr dirty="0" spc="-45"/>
              <a:t> </a:t>
            </a:r>
            <a:r>
              <a:rPr dirty="0"/>
              <a:t>questions</a:t>
            </a:r>
            <a:r>
              <a:rPr dirty="0" spc="-45"/>
              <a:t> </a:t>
            </a:r>
            <a:r>
              <a:rPr dirty="0"/>
              <a:t>can</a:t>
            </a:r>
            <a:r>
              <a:rPr dirty="0" spc="-45"/>
              <a:t> </a:t>
            </a:r>
            <a:r>
              <a:rPr dirty="0"/>
              <a:t>be</a:t>
            </a:r>
            <a:r>
              <a:rPr dirty="0" spc="-40"/>
              <a:t> </a:t>
            </a:r>
            <a:r>
              <a:rPr dirty="0"/>
              <a:t>pulled</a:t>
            </a:r>
            <a:r>
              <a:rPr dirty="0" spc="-45"/>
              <a:t> </a:t>
            </a:r>
            <a:r>
              <a:rPr dirty="0" spc="-25"/>
              <a:t>and </a:t>
            </a:r>
            <a:r>
              <a:rPr dirty="0"/>
              <a:t>added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current</a:t>
            </a:r>
            <a:r>
              <a:rPr dirty="0" spc="-40"/>
              <a:t> </a:t>
            </a:r>
            <a:r>
              <a:rPr dirty="0" spc="-10"/>
              <a:t>semester.</a:t>
            </a:r>
          </a:p>
          <a:p>
            <a:pPr marL="415925" indent="-381635">
              <a:lnSpc>
                <a:spcPct val="100000"/>
              </a:lnSpc>
              <a:spcBef>
                <a:spcPts val="2400"/>
              </a:spcBef>
              <a:buFont typeface="Arial MT"/>
              <a:buChar char="●"/>
              <a:tabLst>
                <a:tab pos="416559" algn="l"/>
              </a:tabLst>
            </a:pPr>
            <a:r>
              <a:rPr dirty="0"/>
              <a:t>All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types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questions</a:t>
            </a:r>
            <a:r>
              <a:rPr dirty="0" spc="-30"/>
              <a:t> </a:t>
            </a:r>
            <a:r>
              <a:rPr dirty="0"/>
              <a:t>are</a:t>
            </a:r>
            <a:r>
              <a:rPr dirty="0" spc="-35"/>
              <a:t> </a:t>
            </a:r>
            <a:r>
              <a:rPr dirty="0" spc="-10"/>
              <a:t>available</a:t>
            </a:r>
            <a:r>
              <a:rPr dirty="0" spc="-30"/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QP</a:t>
            </a:r>
            <a:r>
              <a:rPr dirty="0" spc="-30"/>
              <a:t> </a:t>
            </a:r>
            <a:r>
              <a:rPr dirty="0" spc="-10"/>
              <a:t>tool.</a:t>
            </a:r>
          </a:p>
          <a:p>
            <a:pPr marL="415925" indent="-381635">
              <a:lnSpc>
                <a:spcPct val="100000"/>
              </a:lnSpc>
              <a:spcBef>
                <a:spcPts val="2400"/>
              </a:spcBef>
              <a:buFont typeface="Arial MT"/>
              <a:buChar char="●"/>
              <a:tabLst>
                <a:tab pos="416559" algn="l"/>
              </a:tabLst>
            </a:pPr>
            <a:r>
              <a:rPr dirty="0"/>
              <a:t>Both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shifts</a:t>
            </a:r>
            <a:r>
              <a:rPr dirty="0" spc="-40"/>
              <a:t> </a:t>
            </a:r>
            <a:r>
              <a:rPr dirty="0"/>
              <a:t>can</a:t>
            </a:r>
            <a:r>
              <a:rPr dirty="0" spc="-35"/>
              <a:t> </a:t>
            </a:r>
            <a:r>
              <a:rPr dirty="0"/>
              <a:t>be</a:t>
            </a:r>
            <a:r>
              <a:rPr dirty="0" spc="-40"/>
              <a:t> </a:t>
            </a:r>
            <a:r>
              <a:rPr dirty="0"/>
              <a:t>created</a:t>
            </a:r>
            <a:r>
              <a:rPr dirty="0" spc="-35"/>
              <a:t> </a:t>
            </a:r>
            <a:r>
              <a:rPr dirty="0" spc="-10"/>
              <a:t>simultaneously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/>
              <a:t>parts</a:t>
            </a:r>
            <a:r>
              <a:rPr dirty="0" spc="-40"/>
              <a:t> </a:t>
            </a:r>
            <a:r>
              <a:rPr dirty="0" spc="-20"/>
              <a:t>also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25221" y="2045104"/>
            <a:ext cx="3606800" cy="95821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100" spc="-135" b="0" i="1">
                <a:latin typeface="Arial"/>
                <a:cs typeface="Arial"/>
              </a:rPr>
              <a:t>Thank</a:t>
            </a:r>
            <a:r>
              <a:rPr dirty="0" sz="6100" spc="-280" b="0" i="1">
                <a:latin typeface="Arial"/>
                <a:cs typeface="Arial"/>
              </a:rPr>
              <a:t> </a:t>
            </a:r>
            <a:r>
              <a:rPr dirty="0" sz="6100" spc="-305" b="0" i="1">
                <a:latin typeface="Arial"/>
                <a:cs typeface="Arial"/>
              </a:rPr>
              <a:t>you!</a:t>
            </a:r>
            <a:endParaRPr sz="6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NPTEL_Faculty_Orientation_July 2026</dc:title>
  <dcterms:created xsi:type="dcterms:W3CDTF">2026-07-01T16:09:06Z</dcterms:created>
  <dcterms:modified xsi:type="dcterms:W3CDTF">2026-07-01T16:09:06Z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2026-07-01T00:00:00Z</vt:filetime>
  </property>
  <property fmtid="{D5CDD505-2E9C-101B-9397-08002B2CF9AE}" pid="4" name="Creator">
    <vt:lpwstr>Google</vt:lpwstr>
  </property>
  <property fmtid="{D5CDD505-2E9C-101B-9397-08002B2CF9AE}" pid="5" name="LastSaved">
    <vt:filetime>2026-07-01T00:00:00Z</vt:filetime>
  </property>
</Properties>
</file>