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5"/>
  </p:notesMasterIdLst>
  <p:sldIdLst>
    <p:sldId id="256" r:id="rId2"/>
    <p:sldId id="280" r:id="rId3"/>
    <p:sldId id="281" r:id="rId4"/>
    <p:sldId id="282" r:id="rId5"/>
    <p:sldId id="287" r:id="rId6"/>
    <p:sldId id="288" r:id="rId7"/>
    <p:sldId id="257" r:id="rId8"/>
    <p:sldId id="266" r:id="rId9"/>
    <p:sldId id="285" r:id="rId10"/>
    <p:sldId id="286" r:id="rId11"/>
    <p:sldId id="260" r:id="rId12"/>
    <p:sldId id="261" r:id="rId13"/>
    <p:sldId id="277" r:id="rId14"/>
    <p:sldId id="262" r:id="rId15"/>
    <p:sldId id="278" r:id="rId16"/>
    <p:sldId id="263" r:id="rId17"/>
    <p:sldId id="273" r:id="rId18"/>
    <p:sldId id="272" r:id="rId19"/>
    <p:sldId id="267" r:id="rId20"/>
    <p:sldId id="268" r:id="rId21"/>
    <p:sldId id="264" r:id="rId22"/>
    <p:sldId id="26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7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image" Target="../media/image27.jpg"/><Relationship Id="rId4" Type="http://schemas.openxmlformats.org/officeDocument/2006/relationships/image" Target="../media/image30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image" Target="../media/image27.jpg"/><Relationship Id="rId4" Type="http://schemas.openxmlformats.org/officeDocument/2006/relationships/image" Target="../media/image30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65E952-F960-4216-906B-4B0E51CC8F29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1FA1D852-5E2E-4B55-8DF0-3127F6D19663}">
      <dgm:prSet phldrT="[Text]"/>
      <dgm:spPr/>
      <dgm:t>
        <a:bodyPr/>
        <a:lstStyle/>
        <a:p>
          <a:r>
            <a:rPr lang="en-US" dirty="0"/>
            <a:t>Video Recording</a:t>
          </a:r>
        </a:p>
      </dgm:t>
    </dgm:pt>
    <dgm:pt modelId="{C5DB8485-70B6-427C-91B4-C98C31FABD79}" type="parTrans" cxnId="{9B56039A-C8CC-4D5F-BF10-E515019EA4BC}">
      <dgm:prSet/>
      <dgm:spPr/>
      <dgm:t>
        <a:bodyPr/>
        <a:lstStyle/>
        <a:p>
          <a:endParaRPr lang="en-US"/>
        </a:p>
      </dgm:t>
    </dgm:pt>
    <dgm:pt modelId="{4811AF11-DE68-4FFD-AA78-5291AAA28A65}" type="sibTrans" cxnId="{9B56039A-C8CC-4D5F-BF10-E515019EA4BC}">
      <dgm:prSet/>
      <dgm:spPr/>
      <dgm:t>
        <a:bodyPr/>
        <a:lstStyle/>
        <a:p>
          <a:endParaRPr lang="en-US"/>
        </a:p>
      </dgm:t>
    </dgm:pt>
    <dgm:pt modelId="{1FB9236B-BAED-4A44-AD63-1BE6552B4499}">
      <dgm:prSet phldrT="[Text]"/>
      <dgm:spPr/>
      <dgm:t>
        <a:bodyPr/>
        <a:lstStyle/>
        <a:p>
          <a:r>
            <a:rPr lang="en-US" dirty="0"/>
            <a:t>Video Editing</a:t>
          </a:r>
        </a:p>
      </dgm:t>
    </dgm:pt>
    <dgm:pt modelId="{3285CDEA-076A-42BC-8A9B-5A5CEFF4B20F}" type="parTrans" cxnId="{C7F44801-923D-43D2-8427-DDEFF79A5A14}">
      <dgm:prSet/>
      <dgm:spPr/>
      <dgm:t>
        <a:bodyPr/>
        <a:lstStyle/>
        <a:p>
          <a:endParaRPr lang="en-US"/>
        </a:p>
      </dgm:t>
    </dgm:pt>
    <dgm:pt modelId="{5FCB6635-BDE6-4D84-B62E-4B0622A76169}" type="sibTrans" cxnId="{C7F44801-923D-43D2-8427-DDEFF79A5A14}">
      <dgm:prSet/>
      <dgm:spPr/>
      <dgm:t>
        <a:bodyPr/>
        <a:lstStyle/>
        <a:p>
          <a:endParaRPr lang="en-US"/>
        </a:p>
      </dgm:t>
    </dgm:pt>
    <dgm:pt modelId="{6B72DDC1-59A2-4443-B344-2562AF15AA1B}">
      <dgm:prSet phldrT="[Text]"/>
      <dgm:spPr/>
      <dgm:t>
        <a:bodyPr/>
        <a:lstStyle/>
        <a:p>
          <a:r>
            <a:rPr lang="en-US" dirty="0"/>
            <a:t>Video Review</a:t>
          </a:r>
        </a:p>
      </dgm:t>
    </dgm:pt>
    <dgm:pt modelId="{C646737F-52F1-4410-B68C-2575A643D62C}" type="parTrans" cxnId="{0157BF96-32A9-4075-9F52-E887D64CBE51}">
      <dgm:prSet/>
      <dgm:spPr/>
      <dgm:t>
        <a:bodyPr/>
        <a:lstStyle/>
        <a:p>
          <a:endParaRPr lang="en-US"/>
        </a:p>
      </dgm:t>
    </dgm:pt>
    <dgm:pt modelId="{C6297183-65F9-48C3-8D4D-F141504FFBED}" type="sibTrans" cxnId="{0157BF96-32A9-4075-9F52-E887D64CBE51}">
      <dgm:prSet/>
      <dgm:spPr/>
      <dgm:t>
        <a:bodyPr/>
        <a:lstStyle/>
        <a:p>
          <a:endParaRPr lang="en-US"/>
        </a:p>
      </dgm:t>
    </dgm:pt>
    <dgm:pt modelId="{1A9CD216-9538-41AB-9B55-BD7E6DEB1333}">
      <dgm:prSet phldrT="[Text]"/>
      <dgm:spPr/>
      <dgm:t>
        <a:bodyPr/>
        <a:lstStyle/>
        <a:p>
          <a:r>
            <a:rPr lang="en-US" dirty="0"/>
            <a:t>YouTube Upload</a:t>
          </a:r>
        </a:p>
      </dgm:t>
    </dgm:pt>
    <dgm:pt modelId="{4039E278-C2A3-469C-BFCE-970AC45BEC34}" type="parTrans" cxnId="{CECDD090-4DB8-4603-971C-1C4D3988ED70}">
      <dgm:prSet/>
      <dgm:spPr/>
      <dgm:t>
        <a:bodyPr/>
        <a:lstStyle/>
        <a:p>
          <a:endParaRPr lang="en-US"/>
        </a:p>
      </dgm:t>
    </dgm:pt>
    <dgm:pt modelId="{63D025A0-C006-4837-BACD-3FB8667FE578}" type="sibTrans" cxnId="{CECDD090-4DB8-4603-971C-1C4D3988ED70}">
      <dgm:prSet/>
      <dgm:spPr/>
      <dgm:t>
        <a:bodyPr/>
        <a:lstStyle/>
        <a:p>
          <a:endParaRPr lang="en-US"/>
        </a:p>
      </dgm:t>
    </dgm:pt>
    <dgm:pt modelId="{18FB0268-C12B-4395-BE39-77FA10985BFD}" type="pres">
      <dgm:prSet presAssocID="{4165E952-F960-4216-906B-4B0E51CC8F29}" presName="Name0" presStyleCnt="0">
        <dgm:presLayoutVars>
          <dgm:dir/>
          <dgm:resizeHandles val="exact"/>
        </dgm:presLayoutVars>
      </dgm:prSet>
      <dgm:spPr/>
    </dgm:pt>
    <dgm:pt modelId="{92654B7D-328D-4130-B108-0B0903697291}" type="pres">
      <dgm:prSet presAssocID="{4165E952-F960-4216-906B-4B0E51CC8F29}" presName="arrow" presStyleLbl="bgShp" presStyleIdx="0" presStyleCnt="1" custScaleY="108183" custLinFactNeighborY="-2980"/>
      <dgm:spPr>
        <a:gradFill rotWithShape="0">
          <a:gsLst>
            <a:gs pos="11000">
              <a:schemeClr val="bg2">
                <a:tint val="90000"/>
                <a:lumMod val="120000"/>
              </a:schemeClr>
            </a:gs>
            <a:gs pos="90000">
              <a:schemeClr val="accent3">
                <a:lumMod val="75000"/>
              </a:schemeClr>
            </a:gs>
          </a:gsLst>
          <a:lin ang="5400000" scaled="0"/>
        </a:gradFill>
      </dgm:spPr>
    </dgm:pt>
    <dgm:pt modelId="{3D620533-0BFD-4BBB-8E37-6D3A907DD06F}" type="pres">
      <dgm:prSet presAssocID="{4165E952-F960-4216-906B-4B0E51CC8F29}" presName="points" presStyleCnt="0"/>
      <dgm:spPr/>
    </dgm:pt>
    <dgm:pt modelId="{6DD64050-3627-463D-826D-7427EBF18E67}" type="pres">
      <dgm:prSet presAssocID="{1FA1D852-5E2E-4B55-8DF0-3127F6D19663}" presName="compositeA" presStyleCnt="0"/>
      <dgm:spPr/>
    </dgm:pt>
    <dgm:pt modelId="{C98BECE9-644C-42F6-B78F-4D618571F2D0}" type="pres">
      <dgm:prSet presAssocID="{1FA1D852-5E2E-4B55-8DF0-3127F6D19663}" presName="textA" presStyleLbl="revTx" presStyleIdx="0" presStyleCnt="4">
        <dgm:presLayoutVars>
          <dgm:bulletEnabled val="1"/>
        </dgm:presLayoutVars>
      </dgm:prSet>
      <dgm:spPr/>
    </dgm:pt>
    <dgm:pt modelId="{6E9D32CC-13A2-49D5-9631-DFB58DBDBC62}" type="pres">
      <dgm:prSet presAssocID="{1FA1D852-5E2E-4B55-8DF0-3127F6D19663}" presName="circleA" presStyleLbl="node1" presStyleIdx="0" presStyleCnt="4" custScaleX="296958" custScaleY="215729" custLinFactNeighborY="-10728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ADB4A28E-936F-4EF6-8624-9FE87064B80B}" type="pres">
      <dgm:prSet presAssocID="{1FA1D852-5E2E-4B55-8DF0-3127F6D19663}" presName="spaceA" presStyleCnt="0"/>
      <dgm:spPr/>
    </dgm:pt>
    <dgm:pt modelId="{A0F46E11-9AC2-48CE-93B5-BC36BF2F5C7F}" type="pres">
      <dgm:prSet presAssocID="{4811AF11-DE68-4FFD-AA78-5291AAA28A65}" presName="space" presStyleCnt="0"/>
      <dgm:spPr/>
    </dgm:pt>
    <dgm:pt modelId="{43446BDB-6359-4240-B7AC-ED619C0AD2CB}" type="pres">
      <dgm:prSet presAssocID="{1FB9236B-BAED-4A44-AD63-1BE6552B4499}" presName="compositeB" presStyleCnt="0"/>
      <dgm:spPr/>
    </dgm:pt>
    <dgm:pt modelId="{D60F7EA2-D763-4403-883C-488A5AFE719D}" type="pres">
      <dgm:prSet presAssocID="{1FB9236B-BAED-4A44-AD63-1BE6552B4499}" presName="textB" presStyleLbl="revTx" presStyleIdx="1" presStyleCnt="4">
        <dgm:presLayoutVars>
          <dgm:bulletEnabled val="1"/>
        </dgm:presLayoutVars>
      </dgm:prSet>
      <dgm:spPr/>
    </dgm:pt>
    <dgm:pt modelId="{F2A3B3D1-8F3F-4C3B-B800-E8F1B19C0FD8}" type="pres">
      <dgm:prSet presAssocID="{1FB9236B-BAED-4A44-AD63-1BE6552B4499}" presName="circleB" presStyleLbl="node1" presStyleIdx="1" presStyleCnt="4" custScaleX="354600" custScaleY="203280" custLinFactNeighborY="-10728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1FB1E4BB-827A-4FC4-9CAB-913AAD3F3069}" type="pres">
      <dgm:prSet presAssocID="{1FB9236B-BAED-4A44-AD63-1BE6552B4499}" presName="spaceB" presStyleCnt="0"/>
      <dgm:spPr/>
    </dgm:pt>
    <dgm:pt modelId="{607AF45C-063B-4095-A425-0206B8B3C623}" type="pres">
      <dgm:prSet presAssocID="{5FCB6635-BDE6-4D84-B62E-4B0622A76169}" presName="space" presStyleCnt="0"/>
      <dgm:spPr/>
    </dgm:pt>
    <dgm:pt modelId="{C722856A-2986-44DF-ACAF-8E8AE71C11C7}" type="pres">
      <dgm:prSet presAssocID="{6B72DDC1-59A2-4443-B344-2562AF15AA1B}" presName="compositeA" presStyleCnt="0"/>
      <dgm:spPr/>
    </dgm:pt>
    <dgm:pt modelId="{A76BBD5C-C500-400F-87B5-30D1B54CA3AF}" type="pres">
      <dgm:prSet presAssocID="{6B72DDC1-59A2-4443-B344-2562AF15AA1B}" presName="textA" presStyleLbl="revTx" presStyleIdx="2" presStyleCnt="4">
        <dgm:presLayoutVars>
          <dgm:bulletEnabled val="1"/>
        </dgm:presLayoutVars>
      </dgm:prSet>
      <dgm:spPr/>
    </dgm:pt>
    <dgm:pt modelId="{F4657550-91C8-494E-B6C3-F6F7CE001417}" type="pres">
      <dgm:prSet presAssocID="{6B72DDC1-59A2-4443-B344-2562AF15AA1B}" presName="circleA" presStyleLbl="node1" presStyleIdx="2" presStyleCnt="4" custScaleX="368672" custScaleY="197056" custLinFactNeighborY="-10728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5D36224C-138F-4E82-A484-B0B9EA284638}" type="pres">
      <dgm:prSet presAssocID="{6B72DDC1-59A2-4443-B344-2562AF15AA1B}" presName="spaceA" presStyleCnt="0"/>
      <dgm:spPr/>
    </dgm:pt>
    <dgm:pt modelId="{D2DCB8FC-563F-427D-9263-3D244D622CF6}" type="pres">
      <dgm:prSet presAssocID="{C6297183-65F9-48C3-8D4D-F141504FFBED}" presName="space" presStyleCnt="0"/>
      <dgm:spPr/>
    </dgm:pt>
    <dgm:pt modelId="{98BD3E54-09C8-40D4-B617-AAD5CDEE2742}" type="pres">
      <dgm:prSet presAssocID="{1A9CD216-9538-41AB-9B55-BD7E6DEB1333}" presName="compositeB" presStyleCnt="0"/>
      <dgm:spPr/>
    </dgm:pt>
    <dgm:pt modelId="{43D39EDD-CB98-4BD5-B3DE-27EB4A715807}" type="pres">
      <dgm:prSet presAssocID="{1A9CD216-9538-41AB-9B55-BD7E6DEB1333}" presName="textB" presStyleLbl="revTx" presStyleIdx="3" presStyleCnt="4">
        <dgm:presLayoutVars>
          <dgm:bulletEnabled val="1"/>
        </dgm:presLayoutVars>
      </dgm:prSet>
      <dgm:spPr/>
    </dgm:pt>
    <dgm:pt modelId="{AAAD93CF-CE2A-4CA4-BFCF-CA9AEEBDF4E6}" type="pres">
      <dgm:prSet presAssocID="{1A9CD216-9538-41AB-9B55-BD7E6DEB1333}" presName="circleB" presStyleLbl="node1" presStyleIdx="3" presStyleCnt="4" custScaleX="336060" custScaleY="215729" custLinFactNeighborY="-10728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DA6F45B0-97CA-4404-A891-782D0C0DF3E1}" type="pres">
      <dgm:prSet presAssocID="{1A9CD216-9538-41AB-9B55-BD7E6DEB1333}" presName="spaceB" presStyleCnt="0"/>
      <dgm:spPr/>
    </dgm:pt>
  </dgm:ptLst>
  <dgm:cxnLst>
    <dgm:cxn modelId="{C7F44801-923D-43D2-8427-DDEFF79A5A14}" srcId="{4165E952-F960-4216-906B-4B0E51CC8F29}" destId="{1FB9236B-BAED-4A44-AD63-1BE6552B4499}" srcOrd="1" destOrd="0" parTransId="{3285CDEA-076A-42BC-8A9B-5A5CEFF4B20F}" sibTransId="{5FCB6635-BDE6-4D84-B62E-4B0622A76169}"/>
    <dgm:cxn modelId="{39BC3E04-0C3D-4099-B702-B8DDAFB33982}" type="presOf" srcId="{1A9CD216-9538-41AB-9B55-BD7E6DEB1333}" destId="{43D39EDD-CB98-4BD5-B3DE-27EB4A715807}" srcOrd="0" destOrd="0" presId="urn:microsoft.com/office/officeart/2005/8/layout/hProcess11"/>
    <dgm:cxn modelId="{CECDD090-4DB8-4603-971C-1C4D3988ED70}" srcId="{4165E952-F960-4216-906B-4B0E51CC8F29}" destId="{1A9CD216-9538-41AB-9B55-BD7E6DEB1333}" srcOrd="3" destOrd="0" parTransId="{4039E278-C2A3-469C-BFCE-970AC45BEC34}" sibTransId="{63D025A0-C006-4837-BACD-3FB8667FE578}"/>
    <dgm:cxn modelId="{0157BF96-32A9-4075-9F52-E887D64CBE51}" srcId="{4165E952-F960-4216-906B-4B0E51CC8F29}" destId="{6B72DDC1-59A2-4443-B344-2562AF15AA1B}" srcOrd="2" destOrd="0" parTransId="{C646737F-52F1-4410-B68C-2575A643D62C}" sibTransId="{C6297183-65F9-48C3-8D4D-F141504FFBED}"/>
    <dgm:cxn modelId="{9B56039A-C8CC-4D5F-BF10-E515019EA4BC}" srcId="{4165E952-F960-4216-906B-4B0E51CC8F29}" destId="{1FA1D852-5E2E-4B55-8DF0-3127F6D19663}" srcOrd="0" destOrd="0" parTransId="{C5DB8485-70B6-427C-91B4-C98C31FABD79}" sibTransId="{4811AF11-DE68-4FFD-AA78-5291AAA28A65}"/>
    <dgm:cxn modelId="{A5BCDC9C-1C6E-4EA1-8806-684B5C1DD159}" type="presOf" srcId="{4165E952-F960-4216-906B-4B0E51CC8F29}" destId="{18FB0268-C12B-4395-BE39-77FA10985BFD}" srcOrd="0" destOrd="0" presId="urn:microsoft.com/office/officeart/2005/8/layout/hProcess11"/>
    <dgm:cxn modelId="{0E5AE9A9-457A-432A-B824-07DE5DE6BDE7}" type="presOf" srcId="{1FB9236B-BAED-4A44-AD63-1BE6552B4499}" destId="{D60F7EA2-D763-4403-883C-488A5AFE719D}" srcOrd="0" destOrd="0" presId="urn:microsoft.com/office/officeart/2005/8/layout/hProcess11"/>
    <dgm:cxn modelId="{CB4E0FC1-B73B-4FA0-82DF-82877243C1C7}" type="presOf" srcId="{1FA1D852-5E2E-4B55-8DF0-3127F6D19663}" destId="{C98BECE9-644C-42F6-B78F-4D618571F2D0}" srcOrd="0" destOrd="0" presId="urn:microsoft.com/office/officeart/2005/8/layout/hProcess11"/>
    <dgm:cxn modelId="{07E7F0D0-616E-432D-9A3E-5AC25B1B02EA}" type="presOf" srcId="{6B72DDC1-59A2-4443-B344-2562AF15AA1B}" destId="{A76BBD5C-C500-400F-87B5-30D1B54CA3AF}" srcOrd="0" destOrd="0" presId="urn:microsoft.com/office/officeart/2005/8/layout/hProcess11"/>
    <dgm:cxn modelId="{1D8A6E68-F3A7-4559-83A7-E9F1F6C50A2F}" type="presParOf" srcId="{18FB0268-C12B-4395-BE39-77FA10985BFD}" destId="{92654B7D-328D-4130-B108-0B0903697291}" srcOrd="0" destOrd="0" presId="urn:microsoft.com/office/officeart/2005/8/layout/hProcess11"/>
    <dgm:cxn modelId="{B36C2764-4A24-40B6-8F9B-8EACD2722892}" type="presParOf" srcId="{18FB0268-C12B-4395-BE39-77FA10985BFD}" destId="{3D620533-0BFD-4BBB-8E37-6D3A907DD06F}" srcOrd="1" destOrd="0" presId="urn:microsoft.com/office/officeart/2005/8/layout/hProcess11"/>
    <dgm:cxn modelId="{B6EAC5F4-3313-41DC-A73A-410A9882DD86}" type="presParOf" srcId="{3D620533-0BFD-4BBB-8E37-6D3A907DD06F}" destId="{6DD64050-3627-463D-826D-7427EBF18E67}" srcOrd="0" destOrd="0" presId="urn:microsoft.com/office/officeart/2005/8/layout/hProcess11"/>
    <dgm:cxn modelId="{F6EFEF26-3135-4DFF-95AB-EC7B26233A65}" type="presParOf" srcId="{6DD64050-3627-463D-826D-7427EBF18E67}" destId="{C98BECE9-644C-42F6-B78F-4D618571F2D0}" srcOrd="0" destOrd="0" presId="urn:microsoft.com/office/officeart/2005/8/layout/hProcess11"/>
    <dgm:cxn modelId="{5B0578BB-8680-4F71-8402-C5DCE311600C}" type="presParOf" srcId="{6DD64050-3627-463D-826D-7427EBF18E67}" destId="{6E9D32CC-13A2-49D5-9631-DFB58DBDBC62}" srcOrd="1" destOrd="0" presId="urn:microsoft.com/office/officeart/2005/8/layout/hProcess11"/>
    <dgm:cxn modelId="{8DE71447-61E2-4731-8CD7-421C7CDF57CD}" type="presParOf" srcId="{6DD64050-3627-463D-826D-7427EBF18E67}" destId="{ADB4A28E-936F-4EF6-8624-9FE87064B80B}" srcOrd="2" destOrd="0" presId="urn:microsoft.com/office/officeart/2005/8/layout/hProcess11"/>
    <dgm:cxn modelId="{2584B3EC-F5C4-44E6-A68E-3F7BEE16E9E4}" type="presParOf" srcId="{3D620533-0BFD-4BBB-8E37-6D3A907DD06F}" destId="{A0F46E11-9AC2-48CE-93B5-BC36BF2F5C7F}" srcOrd="1" destOrd="0" presId="urn:microsoft.com/office/officeart/2005/8/layout/hProcess11"/>
    <dgm:cxn modelId="{2A98C8FE-17AB-415E-A40B-952B91CA110E}" type="presParOf" srcId="{3D620533-0BFD-4BBB-8E37-6D3A907DD06F}" destId="{43446BDB-6359-4240-B7AC-ED619C0AD2CB}" srcOrd="2" destOrd="0" presId="urn:microsoft.com/office/officeart/2005/8/layout/hProcess11"/>
    <dgm:cxn modelId="{89CC75B4-82DA-48AD-90B6-1EE9D193C654}" type="presParOf" srcId="{43446BDB-6359-4240-B7AC-ED619C0AD2CB}" destId="{D60F7EA2-D763-4403-883C-488A5AFE719D}" srcOrd="0" destOrd="0" presId="urn:microsoft.com/office/officeart/2005/8/layout/hProcess11"/>
    <dgm:cxn modelId="{7D6B7141-CB5E-45F1-9FD8-9A4A37F865E2}" type="presParOf" srcId="{43446BDB-6359-4240-B7AC-ED619C0AD2CB}" destId="{F2A3B3D1-8F3F-4C3B-B800-E8F1B19C0FD8}" srcOrd="1" destOrd="0" presId="urn:microsoft.com/office/officeart/2005/8/layout/hProcess11"/>
    <dgm:cxn modelId="{8414EA44-5030-4F8C-8E9C-09D0E23843F7}" type="presParOf" srcId="{43446BDB-6359-4240-B7AC-ED619C0AD2CB}" destId="{1FB1E4BB-827A-4FC4-9CAB-913AAD3F3069}" srcOrd="2" destOrd="0" presId="urn:microsoft.com/office/officeart/2005/8/layout/hProcess11"/>
    <dgm:cxn modelId="{FC3ACD3A-7003-453E-AC1A-CE040CFFE3E9}" type="presParOf" srcId="{3D620533-0BFD-4BBB-8E37-6D3A907DD06F}" destId="{607AF45C-063B-4095-A425-0206B8B3C623}" srcOrd="3" destOrd="0" presId="urn:microsoft.com/office/officeart/2005/8/layout/hProcess11"/>
    <dgm:cxn modelId="{07CC5317-9B48-4206-BE77-B455B10C79C4}" type="presParOf" srcId="{3D620533-0BFD-4BBB-8E37-6D3A907DD06F}" destId="{C722856A-2986-44DF-ACAF-8E8AE71C11C7}" srcOrd="4" destOrd="0" presId="urn:microsoft.com/office/officeart/2005/8/layout/hProcess11"/>
    <dgm:cxn modelId="{216AE57B-1F60-41BE-AACA-186A5888CD4E}" type="presParOf" srcId="{C722856A-2986-44DF-ACAF-8E8AE71C11C7}" destId="{A76BBD5C-C500-400F-87B5-30D1B54CA3AF}" srcOrd="0" destOrd="0" presId="urn:microsoft.com/office/officeart/2005/8/layout/hProcess11"/>
    <dgm:cxn modelId="{FFCF038A-B558-4F40-A1A7-E117611A0825}" type="presParOf" srcId="{C722856A-2986-44DF-ACAF-8E8AE71C11C7}" destId="{F4657550-91C8-494E-B6C3-F6F7CE001417}" srcOrd="1" destOrd="0" presId="urn:microsoft.com/office/officeart/2005/8/layout/hProcess11"/>
    <dgm:cxn modelId="{3E8EECA0-A99E-4E3B-ACCF-9452053E999C}" type="presParOf" srcId="{C722856A-2986-44DF-ACAF-8E8AE71C11C7}" destId="{5D36224C-138F-4E82-A484-B0B9EA284638}" srcOrd="2" destOrd="0" presId="urn:microsoft.com/office/officeart/2005/8/layout/hProcess11"/>
    <dgm:cxn modelId="{0C016491-570D-4F29-BDC1-4FC26E4EF54A}" type="presParOf" srcId="{3D620533-0BFD-4BBB-8E37-6D3A907DD06F}" destId="{D2DCB8FC-563F-427D-9263-3D244D622CF6}" srcOrd="5" destOrd="0" presId="urn:microsoft.com/office/officeart/2005/8/layout/hProcess11"/>
    <dgm:cxn modelId="{F125B87E-EA0D-4776-8411-71822B7ECA1D}" type="presParOf" srcId="{3D620533-0BFD-4BBB-8E37-6D3A907DD06F}" destId="{98BD3E54-09C8-40D4-B617-AAD5CDEE2742}" srcOrd="6" destOrd="0" presId="urn:microsoft.com/office/officeart/2005/8/layout/hProcess11"/>
    <dgm:cxn modelId="{659A663D-4ED8-4EFD-B207-C09AB6405E79}" type="presParOf" srcId="{98BD3E54-09C8-40D4-B617-AAD5CDEE2742}" destId="{43D39EDD-CB98-4BD5-B3DE-27EB4A715807}" srcOrd="0" destOrd="0" presId="urn:microsoft.com/office/officeart/2005/8/layout/hProcess11"/>
    <dgm:cxn modelId="{DEC5D87D-0B34-4BDB-ADDF-6785AD7B1EED}" type="presParOf" srcId="{98BD3E54-09C8-40D4-B617-AAD5CDEE2742}" destId="{AAAD93CF-CE2A-4CA4-BFCF-CA9AEEBDF4E6}" srcOrd="1" destOrd="0" presId="urn:microsoft.com/office/officeart/2005/8/layout/hProcess11"/>
    <dgm:cxn modelId="{B2558849-1F3B-4BB7-B1A1-6E58F7EEB2BB}" type="presParOf" srcId="{98BD3E54-09C8-40D4-B617-AAD5CDEE2742}" destId="{DA6F45B0-97CA-4404-A891-782D0C0DF3E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54B7D-328D-4130-B108-0B0903697291}">
      <dsp:nvSpPr>
        <dsp:cNvPr id="0" name=""/>
        <dsp:cNvSpPr/>
      </dsp:nvSpPr>
      <dsp:spPr>
        <a:xfrm>
          <a:off x="0" y="1478392"/>
          <a:ext cx="10364672" cy="2354490"/>
        </a:xfrm>
        <a:prstGeom prst="notchedRightArrow">
          <a:avLst/>
        </a:prstGeom>
        <a:gradFill rotWithShape="0">
          <a:gsLst>
            <a:gs pos="11000">
              <a:schemeClr val="bg2">
                <a:tint val="90000"/>
                <a:lumMod val="120000"/>
              </a:schemeClr>
            </a:gs>
            <a:gs pos="90000">
              <a:schemeClr val="accent3">
                <a:lumMod val="7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8BECE9-644C-42F6-B78F-4D618571F2D0}">
      <dsp:nvSpPr>
        <dsp:cNvPr id="0" name=""/>
        <dsp:cNvSpPr/>
      </dsp:nvSpPr>
      <dsp:spPr>
        <a:xfrm>
          <a:off x="4668" y="0"/>
          <a:ext cx="2245510" cy="2176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Video Recording</a:t>
          </a:r>
        </a:p>
      </dsp:txBody>
      <dsp:txXfrm>
        <a:off x="4668" y="0"/>
        <a:ext cx="2245510" cy="2176395"/>
      </dsp:txXfrm>
    </dsp:sp>
    <dsp:sp modelId="{6E9D32CC-13A2-49D5-9631-DFB58DBDBC62}">
      <dsp:nvSpPr>
        <dsp:cNvPr id="0" name=""/>
        <dsp:cNvSpPr/>
      </dsp:nvSpPr>
      <dsp:spPr>
        <a:xfrm>
          <a:off x="319551" y="2075234"/>
          <a:ext cx="1615745" cy="1173779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0F7EA2-D763-4403-883C-488A5AFE719D}">
      <dsp:nvSpPr>
        <dsp:cNvPr id="0" name=""/>
        <dsp:cNvSpPr/>
      </dsp:nvSpPr>
      <dsp:spPr>
        <a:xfrm>
          <a:off x="2362454" y="3264593"/>
          <a:ext cx="2245510" cy="2176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Video Editing</a:t>
          </a:r>
        </a:p>
      </dsp:txBody>
      <dsp:txXfrm>
        <a:off x="2362454" y="3264593"/>
        <a:ext cx="2245510" cy="2176395"/>
      </dsp:txXfrm>
    </dsp:sp>
    <dsp:sp modelId="{F2A3B3D1-8F3F-4C3B-B800-E8F1B19C0FD8}">
      <dsp:nvSpPr>
        <dsp:cNvPr id="0" name=""/>
        <dsp:cNvSpPr/>
      </dsp:nvSpPr>
      <dsp:spPr>
        <a:xfrm>
          <a:off x="2520522" y="2109101"/>
          <a:ext cx="1929374" cy="1106044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BBD5C-C500-400F-87B5-30D1B54CA3AF}">
      <dsp:nvSpPr>
        <dsp:cNvPr id="0" name=""/>
        <dsp:cNvSpPr/>
      </dsp:nvSpPr>
      <dsp:spPr>
        <a:xfrm>
          <a:off x="4720240" y="0"/>
          <a:ext cx="2245510" cy="2176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Video Review</a:t>
          </a:r>
        </a:p>
      </dsp:txBody>
      <dsp:txXfrm>
        <a:off x="4720240" y="0"/>
        <a:ext cx="2245510" cy="2176395"/>
      </dsp:txXfrm>
    </dsp:sp>
    <dsp:sp modelId="{F4657550-91C8-494E-B6C3-F6F7CE001417}">
      <dsp:nvSpPr>
        <dsp:cNvPr id="0" name=""/>
        <dsp:cNvSpPr/>
      </dsp:nvSpPr>
      <dsp:spPr>
        <a:xfrm>
          <a:off x="4840025" y="2126033"/>
          <a:ext cx="2005940" cy="1072179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D39EDD-CB98-4BD5-B3DE-27EB4A715807}">
      <dsp:nvSpPr>
        <dsp:cNvPr id="0" name=""/>
        <dsp:cNvSpPr/>
      </dsp:nvSpPr>
      <dsp:spPr>
        <a:xfrm>
          <a:off x="7078025" y="3264593"/>
          <a:ext cx="2245510" cy="2176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199136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YouTube Upload</a:t>
          </a:r>
        </a:p>
      </dsp:txBody>
      <dsp:txXfrm>
        <a:off x="7078025" y="3264593"/>
        <a:ext cx="2245510" cy="2176395"/>
      </dsp:txXfrm>
    </dsp:sp>
    <dsp:sp modelId="{AAAD93CF-CE2A-4CA4-BFCF-CA9AEEBDF4E6}">
      <dsp:nvSpPr>
        <dsp:cNvPr id="0" name=""/>
        <dsp:cNvSpPr/>
      </dsp:nvSpPr>
      <dsp:spPr>
        <a:xfrm>
          <a:off x="7286531" y="2075234"/>
          <a:ext cx="1828498" cy="1173779"/>
        </a:xfrm>
        <a:prstGeom prst="ellips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31922-851A-44E9-9681-E90F745197C0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503AC-0542-4DA8-BFC9-B0DEF903C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962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2f9b4853ee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12f9b4853ee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0596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2f9b4853ee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2f9b4853ee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384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38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68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1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36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4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79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0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71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99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26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94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6946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90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612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13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5"/>
          <p:cNvSpPr txBox="1">
            <a:spLocks noGrp="1"/>
          </p:cNvSpPr>
          <p:nvPr>
            <p:ph type="title"/>
          </p:nvPr>
        </p:nvSpPr>
        <p:spPr>
          <a:xfrm>
            <a:off x="514349" y="79375"/>
            <a:ext cx="11474400" cy="1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4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4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4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4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None/>
              <a:defRPr sz="4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None/>
              <a:defRPr sz="2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None/>
              <a:defRPr sz="2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None/>
              <a:defRPr sz="2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ndara"/>
              <a:buNone/>
              <a:defRPr sz="2400" b="0" i="0" u="none" strike="noStrike" cap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sldNum" idx="12"/>
          </p:nvPr>
        </p:nvSpPr>
        <p:spPr>
          <a:xfrm>
            <a:off x="681567" y="787400"/>
            <a:ext cx="781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None/>
              <a:defRPr sz="2667" b="0" i="0" u="none" strike="noStrike" cap="non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4754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19CD0-0F25-4B2E-9D79-E9756399005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E67286E-8A22-4133-8FFE-61BE8863B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01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7" Type="http://schemas.openxmlformats.org/officeDocument/2006/relationships/image" Target="../media/image25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NPTEL-MOOCs </a:t>
            </a:r>
            <a:r>
              <a:rPr lang="en-US" dirty="0">
                <a:sym typeface="Wingdings" panose="05000000000000000000" pitchFamily="2" charset="2"/>
              </a:rPr>
              <a:t>TA Training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Centre for Educational Technology</a:t>
            </a:r>
          </a:p>
          <a:p>
            <a:r>
              <a:rPr lang="en-US" dirty="0"/>
              <a:t>IIT Guwahati</a:t>
            </a:r>
          </a:p>
        </p:txBody>
      </p:sp>
    </p:spTree>
    <p:extLst>
      <p:ext uri="{BB962C8B-B14F-4D97-AF65-F5344CB8AC3E}">
        <p14:creationId xmlns:p14="http://schemas.microsoft.com/office/powerpoint/2010/main" val="3496647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310D-9C18-4230-B86C-CBFB8220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025" y="624110"/>
            <a:ext cx="8911687" cy="562668"/>
          </a:xfrm>
        </p:spPr>
        <p:txBody>
          <a:bodyPr>
            <a:normAutofit fontScale="90000"/>
          </a:bodyPr>
          <a:lstStyle/>
          <a:p>
            <a:r>
              <a:rPr lang="en-IN" dirty="0"/>
              <a:t>Team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B86872-341A-4A61-86A3-AADFD52F5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248" y="1391700"/>
            <a:ext cx="1821510" cy="182151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727130-2C93-42DD-B37F-EF9BB7789F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956" y="1464142"/>
            <a:ext cx="1821510" cy="182151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E48C5A-A828-446A-A8D2-8C874D09CF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817" y="4156796"/>
            <a:ext cx="1908110" cy="190811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925AF3-E121-4D84-873A-C25D4CF6EE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68" y="1319897"/>
            <a:ext cx="1821510" cy="203199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F49B99-EB7F-486A-9498-237A06D113C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313" y="4175951"/>
            <a:ext cx="1908111" cy="190811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616048-C95D-4DDD-A00E-E85C282485F4}"/>
              </a:ext>
            </a:extLst>
          </p:cNvPr>
          <p:cNvSpPr txBox="1"/>
          <p:nvPr/>
        </p:nvSpPr>
        <p:spPr>
          <a:xfrm>
            <a:off x="2295025" y="3351892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Dibyajyoti</a:t>
            </a:r>
            <a:r>
              <a:rPr lang="en-IN" dirty="0"/>
              <a:t> </a:t>
            </a:r>
            <a:r>
              <a:rPr lang="en-IN" dirty="0" err="1"/>
              <a:t>Lahkar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6B9380-8C60-4B68-8B90-72DA62578A50}"/>
              </a:ext>
            </a:extLst>
          </p:cNvPr>
          <p:cNvSpPr txBox="1"/>
          <p:nvPr/>
        </p:nvSpPr>
        <p:spPr>
          <a:xfrm>
            <a:off x="5327529" y="3351892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Bikash Jyoti Nath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4FC0BD-8FAA-4E11-A0D8-4BFEFFCA2BF0}"/>
              </a:ext>
            </a:extLst>
          </p:cNvPr>
          <p:cNvSpPr txBox="1"/>
          <p:nvPr/>
        </p:nvSpPr>
        <p:spPr>
          <a:xfrm>
            <a:off x="8360033" y="3488566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Queen Barman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E45B29-F413-45E5-8543-4088641478F3}"/>
              </a:ext>
            </a:extLst>
          </p:cNvPr>
          <p:cNvSpPr txBox="1"/>
          <p:nvPr/>
        </p:nvSpPr>
        <p:spPr>
          <a:xfrm>
            <a:off x="2295025" y="6253045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Rekha Hazarika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A410C5-2182-49E0-A27A-6B65345ACBD3}"/>
              </a:ext>
            </a:extLst>
          </p:cNvPr>
          <p:cNvSpPr txBox="1"/>
          <p:nvPr/>
        </p:nvSpPr>
        <p:spPr>
          <a:xfrm>
            <a:off x="5327529" y="6253045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Kaushik Kr. </a:t>
            </a:r>
            <a:r>
              <a:rPr lang="en-IN" dirty="0" err="1"/>
              <a:t>Sarma</a:t>
            </a:r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E48C5A-A828-446A-A8D2-8C874D09CF4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320" y="4156796"/>
            <a:ext cx="1908110" cy="190811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8A410C5-2182-49E0-A27A-6B65345ACBD3}"/>
              </a:ext>
            </a:extLst>
          </p:cNvPr>
          <p:cNvSpPr txBox="1"/>
          <p:nvPr/>
        </p:nvSpPr>
        <p:spPr>
          <a:xfrm>
            <a:off x="8360031" y="6253045"/>
            <a:ext cx="2348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Pranab</a:t>
            </a:r>
            <a:r>
              <a:rPr lang="en-IN" dirty="0"/>
              <a:t> </a:t>
            </a:r>
            <a:r>
              <a:rPr lang="en-IN" dirty="0" err="1"/>
              <a:t>Rajbongshi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503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310D-9C18-4230-B86C-CBFB8220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025" y="624110"/>
            <a:ext cx="8911687" cy="562668"/>
          </a:xfrm>
        </p:spPr>
        <p:txBody>
          <a:bodyPr>
            <a:normAutofit fontScale="90000"/>
          </a:bodyPr>
          <a:lstStyle/>
          <a:p>
            <a:r>
              <a:rPr lang="en-IN" dirty="0"/>
              <a:t>Recording Team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E48C5A-A828-446A-A8D2-8C874D09C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805" y="4283888"/>
            <a:ext cx="1772213" cy="177221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925AF3-E121-4D84-873A-C25D4CF6EE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805" y="1661270"/>
            <a:ext cx="1741523" cy="174152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F49B99-EB7F-486A-9498-237A06D113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893" y="1617970"/>
            <a:ext cx="1741523" cy="174152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74FC0BD-8FAA-4E11-A0D8-4BFEFFCA2BF0}"/>
              </a:ext>
            </a:extLst>
          </p:cNvPr>
          <p:cNvSpPr txBox="1"/>
          <p:nvPr/>
        </p:nvSpPr>
        <p:spPr>
          <a:xfrm>
            <a:off x="2013668" y="3600793"/>
            <a:ext cx="2250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Alilakshi</a:t>
            </a:r>
            <a:r>
              <a:rPr lang="en-IN" dirty="0"/>
              <a:t> </a:t>
            </a:r>
            <a:r>
              <a:rPr lang="en-IN" dirty="0" err="1"/>
              <a:t>Borgohain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E45B29-F413-45E5-8543-4088641478F3}"/>
              </a:ext>
            </a:extLst>
          </p:cNvPr>
          <p:cNvSpPr txBox="1"/>
          <p:nvPr/>
        </p:nvSpPr>
        <p:spPr>
          <a:xfrm>
            <a:off x="4558304" y="3588527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Mriganka</a:t>
            </a:r>
            <a:r>
              <a:rPr lang="en-IN" dirty="0"/>
              <a:t> Borah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A410C5-2182-49E0-A27A-6B65345ACBD3}"/>
              </a:ext>
            </a:extLst>
          </p:cNvPr>
          <p:cNvSpPr txBox="1"/>
          <p:nvPr/>
        </p:nvSpPr>
        <p:spPr>
          <a:xfrm>
            <a:off x="1985750" y="6246968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Anamika Deka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E48C5A-A828-446A-A8D2-8C874D09CF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622" y="1598814"/>
            <a:ext cx="1741523" cy="174152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A410C5-2182-49E0-A27A-6B65345ACBD3}"/>
              </a:ext>
            </a:extLst>
          </p:cNvPr>
          <p:cNvSpPr txBox="1"/>
          <p:nvPr/>
        </p:nvSpPr>
        <p:spPr>
          <a:xfrm>
            <a:off x="7075146" y="3588527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Sanjib </a:t>
            </a:r>
            <a:r>
              <a:rPr lang="en-IN" dirty="0" err="1"/>
              <a:t>Phukan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C894C3-B049-46B3-B080-7720F86E53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594" y="4283888"/>
            <a:ext cx="1772213" cy="177221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9BC153-D045-4C3A-961B-9D75771F059F}"/>
              </a:ext>
            </a:extLst>
          </p:cNvPr>
          <p:cNvSpPr txBox="1"/>
          <p:nvPr/>
        </p:nvSpPr>
        <p:spPr>
          <a:xfrm>
            <a:off x="4651539" y="6246968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Heramba</a:t>
            </a:r>
            <a:r>
              <a:rPr lang="en-IN" dirty="0"/>
              <a:t> Das</a:t>
            </a:r>
          </a:p>
        </p:txBody>
      </p:sp>
    </p:spTree>
    <p:extLst>
      <p:ext uri="{BB962C8B-B14F-4D97-AF65-F5344CB8AC3E}">
        <p14:creationId xmlns:p14="http://schemas.microsoft.com/office/powerpoint/2010/main" val="3124998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310D-9C18-4230-B86C-CBFB8220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025" y="624110"/>
            <a:ext cx="8911687" cy="562668"/>
          </a:xfrm>
        </p:spPr>
        <p:txBody>
          <a:bodyPr>
            <a:normAutofit fontScale="90000"/>
          </a:bodyPr>
          <a:lstStyle/>
          <a:p>
            <a:r>
              <a:rPr lang="en-IN" dirty="0"/>
              <a:t>Editing Team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B86872-341A-4A61-86A3-AADFD52F5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878" y="1576368"/>
            <a:ext cx="1584570" cy="158457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727130-2C93-42DD-B37F-EF9BB7789F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176" y="1533792"/>
            <a:ext cx="1584571" cy="158457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616048-C95D-4DDD-A00E-E85C282485F4}"/>
              </a:ext>
            </a:extLst>
          </p:cNvPr>
          <p:cNvSpPr txBox="1"/>
          <p:nvPr/>
        </p:nvSpPr>
        <p:spPr>
          <a:xfrm>
            <a:off x="1986810" y="3353027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Alphul</a:t>
            </a:r>
            <a:r>
              <a:rPr lang="en-IN" dirty="0"/>
              <a:t> </a:t>
            </a:r>
            <a:r>
              <a:rPr lang="en-IN" dirty="0" err="1"/>
              <a:t>Gogoi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6B9380-8C60-4B68-8B90-72DA62578A50}"/>
              </a:ext>
            </a:extLst>
          </p:cNvPr>
          <p:cNvSpPr txBox="1"/>
          <p:nvPr/>
        </p:nvSpPr>
        <p:spPr>
          <a:xfrm>
            <a:off x="7080756" y="3331267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Bratatee</a:t>
            </a:r>
            <a:r>
              <a:rPr lang="en-IN" dirty="0"/>
              <a:t> Kashyap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DCD1B1F-E5F4-4BC9-832D-A1F68D8D12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885" y="1576367"/>
            <a:ext cx="1584571" cy="158457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414A702-8415-479F-A87F-EB11D3A42817}"/>
              </a:ext>
            </a:extLst>
          </p:cNvPr>
          <p:cNvSpPr txBox="1"/>
          <p:nvPr/>
        </p:nvSpPr>
        <p:spPr>
          <a:xfrm>
            <a:off x="4410273" y="3330636"/>
            <a:ext cx="2519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Ambarish</a:t>
            </a:r>
            <a:r>
              <a:rPr lang="en-IN" dirty="0"/>
              <a:t> </a:t>
            </a:r>
            <a:r>
              <a:rPr lang="en-IN" dirty="0" err="1"/>
              <a:t>Borkotoky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357473E-A859-4D54-850C-554EF985B7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1" y="1531089"/>
            <a:ext cx="1584572" cy="158457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CDD3BFB-F676-421D-9BCD-2670E6B4B202}"/>
              </a:ext>
            </a:extLst>
          </p:cNvPr>
          <p:cNvSpPr txBox="1"/>
          <p:nvPr/>
        </p:nvSpPr>
        <p:spPr>
          <a:xfrm>
            <a:off x="9658769" y="3327969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Jitumani</a:t>
            </a:r>
            <a:r>
              <a:rPr lang="en-IN" dirty="0"/>
              <a:t> Ray</a:t>
            </a:r>
          </a:p>
        </p:txBody>
      </p:sp>
      <p:pic>
        <p:nvPicPr>
          <p:cNvPr id="23" name="Content Placeholder 4">
            <a:extLst>
              <a:ext uri="{FF2B5EF4-FFF2-40B4-BE49-F238E27FC236}">
                <a16:creationId xmlns:a16="http://schemas.microsoft.com/office/drawing/2014/main" id="{2E59CCD4-502A-44D1-98EB-1CF570953F2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518" y="4220964"/>
            <a:ext cx="1565930" cy="156593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5E93F5F-E1B3-4C64-86DC-3ED579D0E20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487" y="4122548"/>
            <a:ext cx="1565931" cy="156593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F38CD9A-CBBE-44EC-9647-72096AC22F53}"/>
              </a:ext>
            </a:extLst>
          </p:cNvPr>
          <p:cNvSpPr txBox="1"/>
          <p:nvPr/>
        </p:nvSpPr>
        <p:spPr>
          <a:xfrm>
            <a:off x="1917748" y="5933333"/>
            <a:ext cx="2650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Jyoti Prakash Talukdar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98E593-8E37-4327-B4F2-92333E66960E}"/>
              </a:ext>
            </a:extLst>
          </p:cNvPr>
          <p:cNvSpPr txBox="1"/>
          <p:nvPr/>
        </p:nvSpPr>
        <p:spPr>
          <a:xfrm>
            <a:off x="7279218" y="5933333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Rumi </a:t>
            </a:r>
            <a:r>
              <a:rPr lang="en-IN" dirty="0" err="1"/>
              <a:t>Kalita</a:t>
            </a:r>
            <a:endParaRPr lang="en-IN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B9FD665-4A87-403A-909C-DAF9C3F23F4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692" y="4174748"/>
            <a:ext cx="1565930" cy="156593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0298352-07C7-4FDA-A62A-B725DEB95CEF}"/>
              </a:ext>
            </a:extLst>
          </p:cNvPr>
          <p:cNvSpPr txBox="1"/>
          <p:nvPr/>
        </p:nvSpPr>
        <p:spPr>
          <a:xfrm>
            <a:off x="4680268" y="5933333"/>
            <a:ext cx="2519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Kuldip Baruah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DD3272-2ADA-4BDD-9406-FA57B3A274C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502" y="4121917"/>
            <a:ext cx="1565931" cy="156593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F1CAFA-BDB8-46D7-AFD3-DD352773CC57}"/>
              </a:ext>
            </a:extLst>
          </p:cNvPr>
          <p:cNvSpPr txBox="1"/>
          <p:nvPr/>
        </p:nvSpPr>
        <p:spPr>
          <a:xfrm>
            <a:off x="9658769" y="5937960"/>
            <a:ext cx="2334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Rupam</a:t>
            </a:r>
            <a:r>
              <a:rPr lang="en-IN" dirty="0"/>
              <a:t> </a:t>
            </a:r>
            <a:r>
              <a:rPr lang="en-IN" dirty="0" err="1"/>
              <a:t>Buragohain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4311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310D-9C18-4230-B86C-CBFB8220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025" y="624110"/>
            <a:ext cx="8911687" cy="562668"/>
          </a:xfrm>
        </p:spPr>
        <p:txBody>
          <a:bodyPr>
            <a:normAutofit fontScale="90000"/>
          </a:bodyPr>
          <a:lstStyle/>
          <a:p>
            <a:r>
              <a:rPr lang="en-IN" dirty="0"/>
              <a:t>Portal Team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E48C5A-A828-446A-A8D2-8C874D09CF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289" y="4241531"/>
            <a:ext cx="1523355" cy="139321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F49B99-EB7F-486A-9498-237A06D113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934" y="1649154"/>
            <a:ext cx="1565232" cy="15652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9E45B29-F413-45E5-8543-4088641478F3}"/>
              </a:ext>
            </a:extLst>
          </p:cNvPr>
          <p:cNvSpPr txBox="1"/>
          <p:nvPr/>
        </p:nvSpPr>
        <p:spPr>
          <a:xfrm>
            <a:off x="2295025" y="3429000"/>
            <a:ext cx="246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Arnabjyoti</a:t>
            </a:r>
            <a:r>
              <a:rPr lang="en-IN" dirty="0"/>
              <a:t> </a:t>
            </a:r>
            <a:r>
              <a:rPr lang="en-IN" dirty="0" err="1"/>
              <a:t>Thakuria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A410C5-2182-49E0-A27A-6B65345ACBD3}"/>
              </a:ext>
            </a:extLst>
          </p:cNvPr>
          <p:cNvSpPr txBox="1"/>
          <p:nvPr/>
        </p:nvSpPr>
        <p:spPr>
          <a:xfrm>
            <a:off x="7676289" y="5903807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Sunita</a:t>
            </a:r>
            <a:r>
              <a:rPr lang="en-IN" dirty="0"/>
              <a:t> Das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E48C5A-A828-446A-A8D2-8C874D09CF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074" y="1562906"/>
            <a:ext cx="1565232" cy="15652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A410C5-2182-49E0-A27A-6B65345ACBD3}"/>
              </a:ext>
            </a:extLst>
          </p:cNvPr>
          <p:cNvSpPr txBox="1"/>
          <p:nvPr/>
        </p:nvSpPr>
        <p:spPr>
          <a:xfrm>
            <a:off x="4870140" y="3429000"/>
            <a:ext cx="22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Bedanta</a:t>
            </a:r>
            <a:r>
              <a:rPr lang="en-IN" dirty="0"/>
              <a:t> </a:t>
            </a:r>
            <a:r>
              <a:rPr lang="en-IN" dirty="0" err="1"/>
              <a:t>Kakati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D925AF3-E121-4D84-873A-C25D4CF6EE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803" y="4241531"/>
            <a:ext cx="1393218" cy="139321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4FC0BD-8FAA-4E11-A0D8-4BFEFFCA2BF0}"/>
              </a:ext>
            </a:extLst>
          </p:cNvPr>
          <p:cNvSpPr txBox="1"/>
          <p:nvPr/>
        </p:nvSpPr>
        <p:spPr>
          <a:xfrm>
            <a:off x="5048135" y="5900562"/>
            <a:ext cx="2250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Priya</a:t>
            </a:r>
            <a:r>
              <a:rPr lang="en-IN" dirty="0"/>
              <a:t> Das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D9ED08C-8572-4DD5-A962-EC5330B5ECD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616" y="1595886"/>
            <a:ext cx="1565232" cy="15652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DD44DB9-85E1-4523-9782-300DA090B561}"/>
              </a:ext>
            </a:extLst>
          </p:cNvPr>
          <p:cNvSpPr txBox="1"/>
          <p:nvPr/>
        </p:nvSpPr>
        <p:spPr>
          <a:xfrm>
            <a:off x="7433403" y="3429000"/>
            <a:ext cx="2250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Munmi</a:t>
            </a:r>
            <a:r>
              <a:rPr lang="en-IN" dirty="0"/>
              <a:t> Dutta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D0CFA6E-086C-482E-9C7C-B49B3B48C20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934" y="4241531"/>
            <a:ext cx="1393218" cy="139321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E939E42-1042-4436-BCBE-4278D3B58493}"/>
              </a:ext>
            </a:extLst>
          </p:cNvPr>
          <p:cNvSpPr txBox="1"/>
          <p:nvPr/>
        </p:nvSpPr>
        <p:spPr>
          <a:xfrm>
            <a:off x="2295025" y="5900562"/>
            <a:ext cx="2250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Partha</a:t>
            </a:r>
            <a:r>
              <a:rPr lang="en-IN" dirty="0"/>
              <a:t> Choudhury</a:t>
            </a:r>
          </a:p>
        </p:txBody>
      </p:sp>
    </p:spTree>
    <p:extLst>
      <p:ext uri="{BB962C8B-B14F-4D97-AF65-F5344CB8AC3E}">
        <p14:creationId xmlns:p14="http://schemas.microsoft.com/office/powerpoint/2010/main" val="1215112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310D-9C18-4230-B86C-CBFB8220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025" y="624110"/>
            <a:ext cx="8911687" cy="562668"/>
          </a:xfrm>
        </p:spPr>
        <p:txBody>
          <a:bodyPr>
            <a:normAutofit fontScale="90000"/>
          </a:bodyPr>
          <a:lstStyle/>
          <a:p>
            <a:r>
              <a:rPr lang="en-IN" dirty="0"/>
              <a:t>Graphics Team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F49B99-EB7F-486A-9498-237A06D113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934" y="1649154"/>
            <a:ext cx="1565232" cy="156523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9E45B29-F413-45E5-8543-4088641478F3}"/>
              </a:ext>
            </a:extLst>
          </p:cNvPr>
          <p:cNvSpPr txBox="1"/>
          <p:nvPr/>
        </p:nvSpPr>
        <p:spPr>
          <a:xfrm>
            <a:off x="2419312" y="3429000"/>
            <a:ext cx="246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Bhupali Deka</a:t>
            </a:r>
          </a:p>
        </p:txBody>
      </p:sp>
    </p:spTree>
    <p:extLst>
      <p:ext uri="{BB962C8B-B14F-4D97-AF65-F5344CB8AC3E}">
        <p14:creationId xmlns:p14="http://schemas.microsoft.com/office/powerpoint/2010/main" val="3194831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 NPTEL-MOOCs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711632" y="1496924"/>
            <a:ext cx="6134676" cy="5157876"/>
            <a:chOff x="3711632" y="1496924"/>
            <a:chExt cx="6134676" cy="5932574"/>
          </a:xfrm>
        </p:grpSpPr>
        <p:sp>
          <p:nvSpPr>
            <p:cNvPr id="5" name="Freeform 4"/>
            <p:cNvSpPr/>
            <p:nvPr/>
          </p:nvSpPr>
          <p:spPr>
            <a:xfrm>
              <a:off x="6441348" y="1496924"/>
              <a:ext cx="1510365" cy="1691989"/>
            </a:xfrm>
            <a:custGeom>
              <a:avLst/>
              <a:gdLst>
                <a:gd name="connsiteX0" fmla="*/ 0 w 1691989"/>
                <a:gd name="connsiteY0" fmla="*/ 736016 h 1472031"/>
                <a:gd name="connsiteX1" fmla="*/ 368008 w 1691989"/>
                <a:gd name="connsiteY1" fmla="*/ 0 h 1472031"/>
                <a:gd name="connsiteX2" fmla="*/ 1323981 w 1691989"/>
                <a:gd name="connsiteY2" fmla="*/ 0 h 1472031"/>
                <a:gd name="connsiteX3" fmla="*/ 1691989 w 1691989"/>
                <a:gd name="connsiteY3" fmla="*/ 736016 h 1472031"/>
                <a:gd name="connsiteX4" fmla="*/ 1323981 w 1691989"/>
                <a:gd name="connsiteY4" fmla="*/ 1472031 h 1472031"/>
                <a:gd name="connsiteX5" fmla="*/ 368008 w 1691989"/>
                <a:gd name="connsiteY5" fmla="*/ 1472031 h 1472031"/>
                <a:gd name="connsiteX6" fmla="*/ 0 w 1691989"/>
                <a:gd name="connsiteY6" fmla="*/ 736016 h 147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1989" h="1472031">
                  <a:moveTo>
                    <a:pt x="845994" y="0"/>
                  </a:moveTo>
                  <a:lnTo>
                    <a:pt x="1691989" y="320167"/>
                  </a:lnTo>
                  <a:lnTo>
                    <a:pt x="1691989" y="1151864"/>
                  </a:lnTo>
                  <a:lnTo>
                    <a:pt x="845994" y="1472031"/>
                  </a:lnTo>
                  <a:lnTo>
                    <a:pt x="0" y="1151864"/>
                  </a:lnTo>
                  <a:lnTo>
                    <a:pt x="0" y="320167"/>
                  </a:lnTo>
                  <a:lnTo>
                    <a:pt x="845994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5714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5714"/>
              </a:schemeClr>
            </a:effectRef>
            <a:fontRef idx="minor">
              <a:schemeClr val="lt1"/>
            </a:fontRef>
          </p:style>
          <p:txBody>
            <a:bodyPr spcFirstLastPara="0" vert="horz" wrap="square" lIns="229392" tIns="263668" rIns="229392" bIns="263668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>
                  <a:solidFill>
                    <a:schemeClr val="accent6">
                      <a:lumMod val="75000"/>
                    </a:schemeClr>
                  </a:solidFill>
                </a:rPr>
                <a:t>Assignment: Objective</a:t>
              </a:r>
            </a:p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>
                  <a:solidFill>
                    <a:schemeClr val="accent6">
                      <a:lumMod val="75000"/>
                    </a:schemeClr>
                  </a:solidFill>
                </a:rPr>
                <a:t>Subjective</a:t>
              </a:r>
            </a:p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>
                  <a:solidFill>
                    <a:schemeClr val="accent6">
                      <a:lumMod val="75000"/>
                    </a:schemeClr>
                  </a:solidFill>
                </a:rPr>
                <a:t>Programming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7958048" y="1835298"/>
              <a:ext cx="1888260" cy="1015193"/>
            </a:xfrm>
            <a:prstGeom prst="rect">
              <a:avLst/>
            </a:pr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Freeform 6"/>
            <p:cNvSpPr/>
            <p:nvPr/>
          </p:nvSpPr>
          <p:spPr>
            <a:xfrm>
              <a:off x="4851554" y="1496924"/>
              <a:ext cx="1472031" cy="1691989"/>
            </a:xfrm>
            <a:custGeom>
              <a:avLst/>
              <a:gdLst>
                <a:gd name="connsiteX0" fmla="*/ 0 w 1691989"/>
                <a:gd name="connsiteY0" fmla="*/ 736016 h 1472031"/>
                <a:gd name="connsiteX1" fmla="*/ 368008 w 1691989"/>
                <a:gd name="connsiteY1" fmla="*/ 0 h 1472031"/>
                <a:gd name="connsiteX2" fmla="*/ 1323981 w 1691989"/>
                <a:gd name="connsiteY2" fmla="*/ 0 h 1472031"/>
                <a:gd name="connsiteX3" fmla="*/ 1691989 w 1691989"/>
                <a:gd name="connsiteY3" fmla="*/ 736016 h 1472031"/>
                <a:gd name="connsiteX4" fmla="*/ 1323981 w 1691989"/>
                <a:gd name="connsiteY4" fmla="*/ 1472031 h 1472031"/>
                <a:gd name="connsiteX5" fmla="*/ 368008 w 1691989"/>
                <a:gd name="connsiteY5" fmla="*/ 1472031 h 1472031"/>
                <a:gd name="connsiteX6" fmla="*/ 0 w 1691989"/>
                <a:gd name="connsiteY6" fmla="*/ 736016 h 147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1989" h="1472031">
                  <a:moveTo>
                    <a:pt x="845994" y="0"/>
                  </a:moveTo>
                  <a:lnTo>
                    <a:pt x="1691989" y="320167"/>
                  </a:lnTo>
                  <a:lnTo>
                    <a:pt x="1691989" y="1151864"/>
                  </a:lnTo>
                  <a:lnTo>
                    <a:pt x="845994" y="1472031"/>
                  </a:lnTo>
                  <a:lnTo>
                    <a:pt x="0" y="1151864"/>
                  </a:lnTo>
                  <a:lnTo>
                    <a:pt x="0" y="320167"/>
                  </a:lnTo>
                  <a:lnTo>
                    <a:pt x="845994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5714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5714"/>
              </a:schemeClr>
            </a:effectRef>
            <a:fontRef idx="minor">
              <a:schemeClr val="lt1"/>
            </a:fontRef>
          </p:style>
          <p:txBody>
            <a:bodyPr spcFirstLastPara="0" vert="horz" wrap="square" lIns="229392" tIns="263668" rIns="229392" bIns="263668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dirty="0"/>
                <a:t>Course Content: </a:t>
              </a:r>
              <a:r>
                <a:rPr lang="en-US" sz="1300"/>
                <a:t>Video Lectures</a:t>
              </a:r>
              <a:endParaRPr lang="en-US" sz="1300" dirty="0"/>
            </a:p>
          </p:txBody>
        </p:sp>
        <p:sp>
          <p:nvSpPr>
            <p:cNvPr id="8" name="Freeform 7"/>
            <p:cNvSpPr/>
            <p:nvPr/>
          </p:nvSpPr>
          <p:spPr>
            <a:xfrm>
              <a:off x="5643405" y="2933085"/>
              <a:ext cx="1472031" cy="1691989"/>
            </a:xfrm>
            <a:custGeom>
              <a:avLst/>
              <a:gdLst>
                <a:gd name="connsiteX0" fmla="*/ 0 w 1691989"/>
                <a:gd name="connsiteY0" fmla="*/ 736016 h 1472031"/>
                <a:gd name="connsiteX1" fmla="*/ 368008 w 1691989"/>
                <a:gd name="connsiteY1" fmla="*/ 0 h 1472031"/>
                <a:gd name="connsiteX2" fmla="*/ 1323981 w 1691989"/>
                <a:gd name="connsiteY2" fmla="*/ 0 h 1472031"/>
                <a:gd name="connsiteX3" fmla="*/ 1691989 w 1691989"/>
                <a:gd name="connsiteY3" fmla="*/ 736016 h 1472031"/>
                <a:gd name="connsiteX4" fmla="*/ 1323981 w 1691989"/>
                <a:gd name="connsiteY4" fmla="*/ 1472031 h 1472031"/>
                <a:gd name="connsiteX5" fmla="*/ 368008 w 1691989"/>
                <a:gd name="connsiteY5" fmla="*/ 1472031 h 1472031"/>
                <a:gd name="connsiteX6" fmla="*/ 0 w 1691989"/>
                <a:gd name="connsiteY6" fmla="*/ 736016 h 147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1989" h="1472031">
                  <a:moveTo>
                    <a:pt x="845994" y="0"/>
                  </a:moveTo>
                  <a:lnTo>
                    <a:pt x="1691989" y="320167"/>
                  </a:lnTo>
                  <a:lnTo>
                    <a:pt x="1691989" y="1151864"/>
                  </a:lnTo>
                  <a:lnTo>
                    <a:pt x="845994" y="1472031"/>
                  </a:lnTo>
                  <a:lnTo>
                    <a:pt x="0" y="1151864"/>
                  </a:lnTo>
                  <a:lnTo>
                    <a:pt x="0" y="320167"/>
                  </a:lnTo>
                  <a:lnTo>
                    <a:pt x="845994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5714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5714"/>
              </a:schemeClr>
            </a:effectRef>
            <a:fontRef idx="minor">
              <a:schemeClr val="lt1"/>
            </a:fontRef>
          </p:style>
          <p:txBody>
            <a:bodyPr spcFirstLastPara="0" vert="horz" wrap="square" lIns="229392" tIns="263668" rIns="229392" bIns="263668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>
                  <a:solidFill>
                    <a:srgbClr val="FF0000"/>
                  </a:solidFill>
                </a:rPr>
                <a:t>NPTEL-MOOCs</a:t>
              </a:r>
            </a:p>
          </p:txBody>
        </p:sp>
        <p:sp>
          <p:nvSpPr>
            <p:cNvPr id="9" name="Freeform 8"/>
            <p:cNvSpPr/>
            <p:nvPr/>
          </p:nvSpPr>
          <p:spPr>
            <a:xfrm>
              <a:off x="3755145" y="3271459"/>
              <a:ext cx="1827349" cy="1015193"/>
            </a:xfrm>
            <a:custGeom>
              <a:avLst/>
              <a:gdLst>
                <a:gd name="connsiteX0" fmla="*/ 0 w 1827349"/>
                <a:gd name="connsiteY0" fmla="*/ 0 h 1015193"/>
                <a:gd name="connsiteX1" fmla="*/ 1827349 w 1827349"/>
                <a:gd name="connsiteY1" fmla="*/ 0 h 1015193"/>
                <a:gd name="connsiteX2" fmla="*/ 1827349 w 1827349"/>
                <a:gd name="connsiteY2" fmla="*/ 1015193 h 1015193"/>
                <a:gd name="connsiteX3" fmla="*/ 0 w 1827349"/>
                <a:gd name="connsiteY3" fmla="*/ 1015193 h 1015193"/>
                <a:gd name="connsiteX4" fmla="*/ 0 w 1827349"/>
                <a:gd name="connsiteY4" fmla="*/ 0 h 101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7349" h="1015193">
                  <a:moveTo>
                    <a:pt x="0" y="0"/>
                  </a:moveTo>
                  <a:lnTo>
                    <a:pt x="1827349" y="0"/>
                  </a:lnTo>
                  <a:lnTo>
                    <a:pt x="1827349" y="1015193"/>
                  </a:lnTo>
                  <a:lnTo>
                    <a:pt x="0" y="1015193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0" tIns="41910" rIns="41910" bIns="41910" numCol="1" spcCol="1270" anchor="ctr" anchorCtr="0">
              <a:noAutofit/>
            </a:bodyPr>
            <a:lstStyle/>
            <a:p>
              <a:pPr lvl="0" algn="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100" kern="1200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233199" y="2933085"/>
              <a:ext cx="1472031" cy="1691989"/>
            </a:xfrm>
            <a:custGeom>
              <a:avLst/>
              <a:gdLst>
                <a:gd name="connsiteX0" fmla="*/ 0 w 1691989"/>
                <a:gd name="connsiteY0" fmla="*/ 736016 h 1472031"/>
                <a:gd name="connsiteX1" fmla="*/ 368008 w 1691989"/>
                <a:gd name="connsiteY1" fmla="*/ 0 h 1472031"/>
                <a:gd name="connsiteX2" fmla="*/ 1323981 w 1691989"/>
                <a:gd name="connsiteY2" fmla="*/ 0 h 1472031"/>
                <a:gd name="connsiteX3" fmla="*/ 1691989 w 1691989"/>
                <a:gd name="connsiteY3" fmla="*/ 736016 h 1472031"/>
                <a:gd name="connsiteX4" fmla="*/ 1323981 w 1691989"/>
                <a:gd name="connsiteY4" fmla="*/ 1472031 h 1472031"/>
                <a:gd name="connsiteX5" fmla="*/ 368008 w 1691989"/>
                <a:gd name="connsiteY5" fmla="*/ 1472031 h 1472031"/>
                <a:gd name="connsiteX6" fmla="*/ 0 w 1691989"/>
                <a:gd name="connsiteY6" fmla="*/ 736016 h 147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1989" h="1472031">
                  <a:moveTo>
                    <a:pt x="845994" y="0"/>
                  </a:moveTo>
                  <a:lnTo>
                    <a:pt x="1691989" y="320167"/>
                  </a:lnTo>
                  <a:lnTo>
                    <a:pt x="1691989" y="1151864"/>
                  </a:lnTo>
                  <a:lnTo>
                    <a:pt x="845994" y="1472031"/>
                  </a:lnTo>
                  <a:lnTo>
                    <a:pt x="0" y="1151864"/>
                  </a:lnTo>
                  <a:lnTo>
                    <a:pt x="0" y="320167"/>
                  </a:lnTo>
                  <a:lnTo>
                    <a:pt x="845994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5714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5714"/>
              </a:schemeClr>
            </a:effectRef>
            <a:fontRef idx="minor">
              <a:schemeClr val="lt1"/>
            </a:fontRef>
          </p:style>
          <p:txBody>
            <a:bodyPr spcFirstLastPara="0" vert="horz" wrap="square" lIns="229392" tIns="263668" rIns="229392" bIns="263668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dirty="0">
                  <a:solidFill>
                    <a:schemeClr val="accent6">
                      <a:lumMod val="75000"/>
                    </a:schemeClr>
                  </a:solidFill>
                </a:rPr>
                <a:t>Discussion Forum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6441348" y="4369246"/>
              <a:ext cx="1472031" cy="1691989"/>
            </a:xfrm>
            <a:custGeom>
              <a:avLst/>
              <a:gdLst>
                <a:gd name="connsiteX0" fmla="*/ 0 w 1691989"/>
                <a:gd name="connsiteY0" fmla="*/ 736016 h 1472031"/>
                <a:gd name="connsiteX1" fmla="*/ 368008 w 1691989"/>
                <a:gd name="connsiteY1" fmla="*/ 0 h 1472031"/>
                <a:gd name="connsiteX2" fmla="*/ 1323981 w 1691989"/>
                <a:gd name="connsiteY2" fmla="*/ 0 h 1472031"/>
                <a:gd name="connsiteX3" fmla="*/ 1691989 w 1691989"/>
                <a:gd name="connsiteY3" fmla="*/ 736016 h 1472031"/>
                <a:gd name="connsiteX4" fmla="*/ 1323981 w 1691989"/>
                <a:gd name="connsiteY4" fmla="*/ 1472031 h 1472031"/>
                <a:gd name="connsiteX5" fmla="*/ 368008 w 1691989"/>
                <a:gd name="connsiteY5" fmla="*/ 1472031 h 1472031"/>
                <a:gd name="connsiteX6" fmla="*/ 0 w 1691989"/>
                <a:gd name="connsiteY6" fmla="*/ 736016 h 147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1989" h="1472031">
                  <a:moveTo>
                    <a:pt x="845994" y="0"/>
                  </a:moveTo>
                  <a:lnTo>
                    <a:pt x="1691989" y="320167"/>
                  </a:lnTo>
                  <a:lnTo>
                    <a:pt x="1691989" y="1151864"/>
                  </a:lnTo>
                  <a:lnTo>
                    <a:pt x="845994" y="1472031"/>
                  </a:lnTo>
                  <a:lnTo>
                    <a:pt x="0" y="1151864"/>
                  </a:lnTo>
                  <a:lnTo>
                    <a:pt x="0" y="320167"/>
                  </a:lnTo>
                  <a:lnTo>
                    <a:pt x="845994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5714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5714"/>
              </a:schemeClr>
            </a:effectRef>
            <a:fontRef idx="minor">
              <a:schemeClr val="lt1"/>
            </a:fontRef>
          </p:style>
          <p:txBody>
            <a:bodyPr spcFirstLastPara="0" vert="horz" wrap="square" lIns="229392" tIns="263668" rIns="229392" bIns="263668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dirty="0">
                  <a:solidFill>
                    <a:schemeClr val="accent6">
                      <a:lumMod val="75000"/>
                    </a:schemeClr>
                  </a:solidFill>
                </a:rPr>
                <a:t>Live Interaction Session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11632" y="3303993"/>
              <a:ext cx="1888260" cy="1015193"/>
            </a:xfrm>
            <a:prstGeom prst="rect">
              <a:avLst/>
            </a:pr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4807128" y="4371937"/>
              <a:ext cx="1472032" cy="1691989"/>
            </a:xfrm>
            <a:custGeom>
              <a:avLst/>
              <a:gdLst>
                <a:gd name="connsiteX0" fmla="*/ 0 w 1691989"/>
                <a:gd name="connsiteY0" fmla="*/ 736016 h 1472031"/>
                <a:gd name="connsiteX1" fmla="*/ 368008 w 1691989"/>
                <a:gd name="connsiteY1" fmla="*/ 0 h 1472031"/>
                <a:gd name="connsiteX2" fmla="*/ 1323981 w 1691989"/>
                <a:gd name="connsiteY2" fmla="*/ 0 h 1472031"/>
                <a:gd name="connsiteX3" fmla="*/ 1691989 w 1691989"/>
                <a:gd name="connsiteY3" fmla="*/ 736016 h 1472031"/>
                <a:gd name="connsiteX4" fmla="*/ 1323981 w 1691989"/>
                <a:gd name="connsiteY4" fmla="*/ 1472031 h 1472031"/>
                <a:gd name="connsiteX5" fmla="*/ 368008 w 1691989"/>
                <a:gd name="connsiteY5" fmla="*/ 1472031 h 1472031"/>
                <a:gd name="connsiteX6" fmla="*/ 0 w 1691989"/>
                <a:gd name="connsiteY6" fmla="*/ 736016 h 147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1989" h="1472031">
                  <a:moveTo>
                    <a:pt x="845994" y="0"/>
                  </a:moveTo>
                  <a:lnTo>
                    <a:pt x="1691989" y="320167"/>
                  </a:lnTo>
                  <a:lnTo>
                    <a:pt x="1691989" y="1151864"/>
                  </a:lnTo>
                  <a:lnTo>
                    <a:pt x="845994" y="1472031"/>
                  </a:lnTo>
                  <a:lnTo>
                    <a:pt x="0" y="1151864"/>
                  </a:lnTo>
                  <a:lnTo>
                    <a:pt x="0" y="320167"/>
                  </a:lnTo>
                  <a:lnTo>
                    <a:pt x="845994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5714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5714"/>
              </a:schemeClr>
            </a:effectRef>
            <a:fontRef idx="minor">
              <a:schemeClr val="lt1"/>
            </a:fontRef>
          </p:style>
          <p:txBody>
            <a:bodyPr spcFirstLastPara="0" vert="horz" wrap="square" lIns="229392" tIns="263668" rIns="229392" bIns="263668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dirty="0">
                  <a:solidFill>
                    <a:schemeClr val="accent6">
                      <a:lumMod val="75000"/>
                    </a:schemeClr>
                  </a:solidFill>
                </a:rPr>
                <a:t>Text-Transcription</a:t>
              </a:r>
            </a:p>
          </p:txBody>
        </p:sp>
        <p:sp>
          <p:nvSpPr>
            <p:cNvPr id="14" name="Freeform 13"/>
            <p:cNvSpPr/>
            <p:nvPr/>
          </p:nvSpPr>
          <p:spPr>
            <a:xfrm>
              <a:off x="4112728" y="2931004"/>
              <a:ext cx="1472031" cy="1691989"/>
            </a:xfrm>
            <a:custGeom>
              <a:avLst/>
              <a:gdLst>
                <a:gd name="connsiteX0" fmla="*/ 0 w 1691989"/>
                <a:gd name="connsiteY0" fmla="*/ 736016 h 1472031"/>
                <a:gd name="connsiteX1" fmla="*/ 368008 w 1691989"/>
                <a:gd name="connsiteY1" fmla="*/ 0 h 1472031"/>
                <a:gd name="connsiteX2" fmla="*/ 1323981 w 1691989"/>
                <a:gd name="connsiteY2" fmla="*/ 0 h 1472031"/>
                <a:gd name="connsiteX3" fmla="*/ 1691989 w 1691989"/>
                <a:gd name="connsiteY3" fmla="*/ 736016 h 1472031"/>
                <a:gd name="connsiteX4" fmla="*/ 1323981 w 1691989"/>
                <a:gd name="connsiteY4" fmla="*/ 1472031 h 1472031"/>
                <a:gd name="connsiteX5" fmla="*/ 368008 w 1691989"/>
                <a:gd name="connsiteY5" fmla="*/ 1472031 h 1472031"/>
                <a:gd name="connsiteX6" fmla="*/ 0 w 1691989"/>
                <a:gd name="connsiteY6" fmla="*/ 736016 h 147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1989" h="1472031">
                  <a:moveTo>
                    <a:pt x="845994" y="0"/>
                  </a:moveTo>
                  <a:lnTo>
                    <a:pt x="1691989" y="320167"/>
                  </a:lnTo>
                  <a:lnTo>
                    <a:pt x="1691989" y="1151864"/>
                  </a:lnTo>
                  <a:lnTo>
                    <a:pt x="845994" y="1472031"/>
                  </a:lnTo>
                  <a:lnTo>
                    <a:pt x="0" y="1151864"/>
                  </a:lnTo>
                  <a:lnTo>
                    <a:pt x="0" y="320167"/>
                  </a:lnTo>
                  <a:lnTo>
                    <a:pt x="845994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alpha val="90000"/>
                <a:hueOff val="0"/>
                <a:satOff val="0"/>
                <a:lumOff val="0"/>
                <a:alphaOff val="-5714"/>
              </a:schemeClr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5714"/>
              </a:schemeClr>
            </a:effectRef>
            <a:fontRef idx="minor">
              <a:schemeClr val="lt1"/>
            </a:fontRef>
          </p:style>
          <p:txBody>
            <a:bodyPr spcFirstLastPara="0" vert="horz" wrap="square" lIns="229392" tIns="263668" rIns="229392" bIns="263668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dirty="0"/>
                <a:t>Final </a:t>
              </a:r>
              <a:r>
                <a:rPr lang="en-US" sz="1300"/>
                <a:t>Exam </a:t>
              </a:r>
              <a:endParaRPr lang="en-US" sz="13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755145" y="6143781"/>
              <a:ext cx="1827349" cy="1015193"/>
            </a:xfrm>
            <a:prstGeom prst="rect">
              <a:avLst/>
            </a:prstGeom>
            <a:ln>
              <a:noFill/>
            </a:ln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7188773" y="5737509"/>
              <a:ext cx="1472031" cy="1691989"/>
            </a:xfrm>
            <a:custGeom>
              <a:avLst/>
              <a:gdLst>
                <a:gd name="connsiteX0" fmla="*/ 0 w 1691989"/>
                <a:gd name="connsiteY0" fmla="*/ 736016 h 1472031"/>
                <a:gd name="connsiteX1" fmla="*/ 368008 w 1691989"/>
                <a:gd name="connsiteY1" fmla="*/ 0 h 1472031"/>
                <a:gd name="connsiteX2" fmla="*/ 1323981 w 1691989"/>
                <a:gd name="connsiteY2" fmla="*/ 0 h 1472031"/>
                <a:gd name="connsiteX3" fmla="*/ 1691989 w 1691989"/>
                <a:gd name="connsiteY3" fmla="*/ 736016 h 1472031"/>
                <a:gd name="connsiteX4" fmla="*/ 1323981 w 1691989"/>
                <a:gd name="connsiteY4" fmla="*/ 1472031 h 1472031"/>
                <a:gd name="connsiteX5" fmla="*/ 368008 w 1691989"/>
                <a:gd name="connsiteY5" fmla="*/ 1472031 h 1472031"/>
                <a:gd name="connsiteX6" fmla="*/ 0 w 1691989"/>
                <a:gd name="connsiteY6" fmla="*/ 736016 h 147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91989" h="1472031">
                  <a:moveTo>
                    <a:pt x="845994" y="0"/>
                  </a:moveTo>
                  <a:lnTo>
                    <a:pt x="1691989" y="320167"/>
                  </a:lnTo>
                  <a:lnTo>
                    <a:pt x="1691989" y="1151864"/>
                  </a:lnTo>
                  <a:lnTo>
                    <a:pt x="845994" y="1472031"/>
                  </a:lnTo>
                  <a:lnTo>
                    <a:pt x="0" y="1151864"/>
                  </a:lnTo>
                  <a:lnTo>
                    <a:pt x="0" y="320167"/>
                  </a:lnTo>
                  <a:lnTo>
                    <a:pt x="845994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alpha val="90000"/>
                <a:hueOff val="0"/>
                <a:satOff val="0"/>
                <a:lumOff val="0"/>
                <a:alphaOff val="-4000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9392" tIns="263668" rIns="229392" bIns="263668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854259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592924" y="565742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/>
              <a:t>Video Lecture Creation Process</a:t>
            </a:r>
            <a:endParaRPr lang="en-IN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390413660"/>
              </p:ext>
            </p:extLst>
          </p:nvPr>
        </p:nvGraphicFramePr>
        <p:xfrm>
          <a:off x="1104237" y="1235234"/>
          <a:ext cx="10364672" cy="5440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410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263C1-D2D1-4437-83FA-B67F96DC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Portal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4A6AC-7591-41B0-AB58-60F29CFD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8"/>
            <a:ext cx="8915400" cy="516852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Add unit - Module name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Add lesson – Linking the video &amp; self-testing question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Add lecture notes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Add Assignment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Add feedback form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Add announcement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Once the Assignment deadline is over: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Publish Assignment Solution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Evaluate the assignment – </a:t>
            </a:r>
            <a:r>
              <a:rPr lang="en-IN" i="1" dirty="0"/>
              <a:t>For subjective Assignment only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2568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F910-A9B5-4630-8498-8D5A8B703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89AB0-D134-47FA-A352-0BE1152C1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Swayam.gov.in</a:t>
            </a:r>
          </a:p>
          <a:p>
            <a:r>
              <a:rPr lang="en-US" dirty="0"/>
              <a:t>Remote Sensing for Natural Hazard Studies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8484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661746"/>
            <a:ext cx="8915400" cy="4249476"/>
          </a:xfrm>
        </p:spPr>
        <p:txBody>
          <a:bodyPr>
            <a:normAutofit lnSpcReduction="10000"/>
          </a:bodyPr>
          <a:lstStyle/>
          <a:p>
            <a:r>
              <a:rPr lang="en-IN" dirty="0"/>
              <a:t>Objective or Subjective Assignment</a:t>
            </a:r>
          </a:p>
          <a:p>
            <a:r>
              <a:rPr lang="en-IN" dirty="0"/>
              <a:t>8-10 questions per week </a:t>
            </a:r>
          </a:p>
          <a:p>
            <a:r>
              <a:rPr lang="en-IN" dirty="0"/>
              <a:t>Type of Questions for Objective Assignment :</a:t>
            </a:r>
          </a:p>
          <a:p>
            <a:pPr lvl="1"/>
            <a:r>
              <a:rPr lang="en-IN" dirty="0"/>
              <a:t>MCQ </a:t>
            </a:r>
            <a:r>
              <a:rPr lang="en-IN" dirty="0">
                <a:sym typeface="Wingdings" panose="05000000000000000000" pitchFamily="2" charset="2"/>
              </a:rPr>
              <a:t> Single correct answer</a:t>
            </a:r>
            <a:endParaRPr lang="en-IN" dirty="0"/>
          </a:p>
          <a:p>
            <a:pPr lvl="1"/>
            <a:r>
              <a:rPr lang="en-IN" dirty="0"/>
              <a:t>MSQ (Multiple Select Question) </a:t>
            </a:r>
            <a:r>
              <a:rPr lang="en-IN" dirty="0">
                <a:sym typeface="Wingdings" panose="05000000000000000000" pitchFamily="2" charset="2"/>
              </a:rPr>
              <a:t> Multiple correct answers</a:t>
            </a:r>
            <a:endParaRPr lang="en-IN" dirty="0"/>
          </a:p>
          <a:p>
            <a:pPr lvl="1"/>
            <a:r>
              <a:rPr lang="en-IN" dirty="0"/>
              <a:t>Short Answer: Numerical or Alpha-numerical</a:t>
            </a:r>
          </a:p>
          <a:p>
            <a:pPr lvl="1"/>
            <a:r>
              <a:rPr lang="en-IN" dirty="0"/>
              <a:t>Comprehension</a:t>
            </a:r>
          </a:p>
          <a:p>
            <a:r>
              <a:rPr lang="en-IN" dirty="0"/>
              <a:t>Type of Submission for Subjective Assignment: Scan and upload on Google Drive OR Type on the portal</a:t>
            </a:r>
          </a:p>
          <a:p>
            <a:r>
              <a:rPr lang="en-IN" dirty="0"/>
              <a:t>Solutions to assignment</a:t>
            </a:r>
          </a:p>
          <a:p>
            <a:pPr lvl="1"/>
            <a:r>
              <a:rPr lang="en-IN" dirty="0"/>
              <a:t>Need to provide a detailed worked out solution</a:t>
            </a:r>
          </a:p>
          <a:p>
            <a:pPr marL="457200" lvl="1" indent="0">
              <a:buNone/>
            </a:pPr>
            <a:r>
              <a:rPr lang="en-IN" dirty="0"/>
              <a:t>	</a:t>
            </a:r>
          </a:p>
          <a:p>
            <a:pPr lvl="1"/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2435469" y="6093069"/>
            <a:ext cx="8721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Assignment 0: Based on prerequisite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519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MCQ/MSQ(</a:t>
            </a:r>
            <a:r>
              <a:rPr lang="en-IN" sz="3200" dirty="0"/>
              <a:t>multiple choice/select question</a:t>
            </a:r>
            <a:r>
              <a:rPr lang="en-IN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4 options or 2 options (in case of True/False)</a:t>
            </a:r>
          </a:p>
          <a:p>
            <a:r>
              <a:rPr lang="en-IN" dirty="0"/>
              <a:t>correct answer can be 1 or more (in case of MSQ)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For MSQ type, partial marks will be awarded to the correct answers marked in case no wrong option is chosen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4337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5469" y="1441938"/>
            <a:ext cx="9069143" cy="4800600"/>
          </a:xfrm>
        </p:spPr>
        <p:txBody>
          <a:bodyPr>
            <a:normAutofit/>
          </a:bodyPr>
          <a:lstStyle/>
          <a:p>
            <a:r>
              <a:rPr lang="en-US" dirty="0"/>
              <a:t> Q.1. Which of the following is not a property of the Hill-climbing algorithm?</a:t>
            </a:r>
          </a:p>
          <a:p>
            <a:pPr marL="400050" lvl="1" indent="0">
              <a:buNone/>
            </a:pPr>
            <a:r>
              <a:rPr lang="en-US" dirty="0"/>
              <a:t>A. Terminates when a peak is reached.</a:t>
            </a:r>
          </a:p>
          <a:p>
            <a:pPr marL="400050" lvl="1" indent="0">
              <a:buNone/>
            </a:pPr>
            <a:r>
              <a:rPr lang="en-US" dirty="0"/>
              <a:t>B. Does not look ahead of the immediate neighbors of the current state.</a:t>
            </a:r>
          </a:p>
          <a:p>
            <a:pPr marL="400050" lvl="1" indent="0">
              <a:buNone/>
            </a:pPr>
            <a:r>
              <a:rPr lang="en-US" dirty="0"/>
              <a:t>C. Chooses randomly among the set of best successors.</a:t>
            </a:r>
          </a:p>
          <a:p>
            <a:pPr marL="400050" lvl="1" indent="0">
              <a:buNone/>
            </a:pPr>
            <a:r>
              <a:rPr lang="en-US" dirty="0"/>
              <a:t>D.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Does backtrack.</a:t>
            </a:r>
          </a:p>
          <a:p>
            <a:pPr marL="400050" lvl="1" indent="0">
              <a:buNone/>
            </a:pPr>
            <a:endParaRPr lang="en-US" dirty="0"/>
          </a:p>
          <a:p>
            <a:r>
              <a:rPr lang="en-US" dirty="0"/>
              <a:t>Q.2. The principles features to achieve a completely intensified process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A. Integration of functions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B. Integration of operations</a:t>
            </a:r>
          </a:p>
          <a:p>
            <a:pPr marL="400050" lvl="1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C. Integration of phenomena</a:t>
            </a:r>
          </a:p>
          <a:p>
            <a:pPr marL="400050" lvl="1" indent="0">
              <a:buNone/>
            </a:pPr>
            <a:r>
              <a:rPr lang="en-US" dirty="0"/>
              <a:t>D. None of the above</a:t>
            </a:r>
          </a:p>
          <a:p>
            <a:endParaRPr lang="en-US" dirty="0"/>
          </a:p>
          <a:p>
            <a:pPr marL="400050" lvl="1" indent="0">
              <a:buNone/>
            </a:pP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70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Short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2715" y="1635369"/>
            <a:ext cx="9121897" cy="4275853"/>
          </a:xfrm>
        </p:spPr>
        <p:txBody>
          <a:bodyPr>
            <a:normAutofit/>
          </a:bodyPr>
          <a:lstStyle/>
          <a:p>
            <a:r>
              <a:rPr lang="en-IN" dirty="0"/>
              <a:t>Numeric Type: </a:t>
            </a:r>
          </a:p>
          <a:p>
            <a:pPr lvl="1"/>
            <a:r>
              <a:rPr lang="en-IN" dirty="0"/>
              <a:t>Answer to be entered is numeric (0-9 and decimal point are allowed to be entered)</a:t>
            </a:r>
          </a:p>
          <a:p>
            <a:pPr lvl="1"/>
            <a:r>
              <a:rPr lang="en-IN" dirty="0"/>
              <a:t>Answer type: 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exact value or a range</a:t>
            </a:r>
          </a:p>
          <a:p>
            <a:pPr lvl="1"/>
            <a:r>
              <a:rPr lang="en-IN" dirty="0"/>
              <a:t>Range is preferred as opposed to Exact value to allow for approximations</a:t>
            </a:r>
          </a:p>
          <a:p>
            <a:r>
              <a:rPr lang="en-IN" dirty="0"/>
              <a:t>Alphanumeric Type:</a:t>
            </a:r>
          </a:p>
          <a:p>
            <a:pPr lvl="1"/>
            <a:r>
              <a:rPr lang="en-IN" dirty="0"/>
              <a:t>Characters on the keyboard except ~ are allowed</a:t>
            </a:r>
          </a:p>
          <a:p>
            <a:pPr lvl="1"/>
            <a:r>
              <a:rPr lang="en-IN" dirty="0"/>
              <a:t>The match is an exact match and spelling mistakes or an extra space will also be marked incorrect.</a:t>
            </a:r>
          </a:p>
          <a:p>
            <a:pPr lvl="1"/>
            <a:r>
              <a:rPr lang="en-IN" b="1" dirty="0"/>
              <a:t>Works best </a:t>
            </a:r>
            <a:r>
              <a:rPr lang="en-IN" dirty="0"/>
              <a:t>– 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when one-word input is required</a:t>
            </a:r>
          </a:p>
          <a:p>
            <a:pPr lvl="2"/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In the question the correct units have to be mentioned for the answer</a:t>
            </a:r>
          </a:p>
        </p:txBody>
      </p:sp>
    </p:spTree>
    <p:extLst>
      <p:ext uri="{BB962C8B-B14F-4D97-AF65-F5344CB8AC3E}">
        <p14:creationId xmlns:p14="http://schemas.microsoft.com/office/powerpoint/2010/main" val="2073219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Q.3. Consider the binomial asset pricing model with parameters r = 0:4, u = 1:5 and d = 0:7. The </a:t>
            </a:r>
            <a:r>
              <a:rPr lang="en-US" dirty="0" err="1"/>
              <a:t>the</a:t>
            </a:r>
            <a:r>
              <a:rPr lang="en-US" dirty="0"/>
              <a:t> risk-neutral probability measure ep equals: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Ans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:- 1</a:t>
            </a:r>
          </a:p>
          <a:p>
            <a:r>
              <a:rPr lang="en-US" dirty="0"/>
              <a:t>Q.4. Consider a one-year forward contract on an underlying asset whose current price is 120. If the annual risk-free rate (continuously compounded) is 6%, then the forward price equals: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Ans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:- 127.4204  - Acceptable range of answer [127.1 - 127.8]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0735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Comprehension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comprises a problem/passage and based on this there are sub questions</a:t>
            </a:r>
          </a:p>
          <a:p>
            <a:r>
              <a:rPr lang="en-IN" dirty="0"/>
              <a:t>Sub questions can be either MCQ/MSQ or Short Answer</a:t>
            </a:r>
          </a:p>
        </p:txBody>
      </p:sp>
    </p:spTree>
    <p:extLst>
      <p:ext uri="{BB962C8B-B14F-4D97-AF65-F5344CB8AC3E}">
        <p14:creationId xmlns:p14="http://schemas.microsoft.com/office/powerpoint/2010/main" val="4095563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 Weightage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811215"/>
            <a:ext cx="8915400" cy="4100007"/>
          </a:xfrm>
        </p:spPr>
        <p:txBody>
          <a:bodyPr/>
          <a:lstStyle/>
          <a:p>
            <a:r>
              <a:rPr lang="en-IN" dirty="0"/>
              <a:t>Final marks converted to percentage</a:t>
            </a:r>
          </a:p>
          <a:p>
            <a:r>
              <a:rPr lang="en-IN" dirty="0"/>
              <a:t>For each question, weightage should be 1-3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680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Assignments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Configuring the answer incorrectly</a:t>
            </a:r>
          </a:p>
          <a:p>
            <a:pPr lvl="1"/>
            <a:r>
              <a:rPr lang="en-IN" dirty="0"/>
              <a:t>Option can be changed and assignment re-evaluated</a:t>
            </a:r>
          </a:p>
          <a:p>
            <a:r>
              <a:rPr lang="en-IN" dirty="0"/>
              <a:t>All options given are incorrect and none match the actual answer</a:t>
            </a:r>
          </a:p>
          <a:p>
            <a:pPr lvl="1"/>
            <a:r>
              <a:rPr lang="en-IN" dirty="0"/>
              <a:t>Question has to be cancelled</a:t>
            </a:r>
          </a:p>
        </p:txBody>
      </p:sp>
    </p:spTree>
    <p:extLst>
      <p:ext uri="{BB962C8B-B14F-4D97-AF65-F5344CB8AC3E}">
        <p14:creationId xmlns:p14="http://schemas.microsoft.com/office/powerpoint/2010/main" val="1272467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2f9b4853ee_0_294"/>
          <p:cNvSpPr txBox="1"/>
          <p:nvPr/>
        </p:nvSpPr>
        <p:spPr>
          <a:xfrm>
            <a:off x="1073020" y="1109001"/>
            <a:ext cx="10157313" cy="4582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" sz="1867" b="1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Summary of the Problem:</a:t>
            </a:r>
            <a:r>
              <a:rPr lang="en" sz="1867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There are too many errors in the assignments that are being configured on the online courses Portal. </a:t>
            </a:r>
            <a:endParaRPr sz="1867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endParaRPr sz="1867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186262">
              <a:buClr>
                <a:srgbClr val="000000"/>
              </a:buClr>
              <a:buSzPts val="1400"/>
            </a:pPr>
            <a:r>
              <a:rPr lang="en" sz="1867" b="1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1. Errors take time to handle</a:t>
            </a:r>
            <a:endParaRPr sz="1867" b="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" sz="1867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For each error: (i) The assignment has to be made private; (ii) solution(s) is/are changed; (iii) re-grading job is started; (iv) announcement is posted.</a:t>
            </a:r>
            <a:endParaRPr sz="1867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endParaRPr sz="1867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186262">
              <a:buClr>
                <a:srgbClr val="000000"/>
              </a:buClr>
              <a:buSzPts val="1400"/>
            </a:pPr>
            <a:r>
              <a:rPr lang="en" sz="1867" b="1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2. Errors are expensive</a:t>
            </a:r>
            <a:endParaRPr sz="1867" b="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" sz="1867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Our cost estimate, based on the instances used, is somewhere between Rs. 25,000 to 50,000 per week. Although this amounts to 2 paisa per student per week, this is a cost that we would want to reduce.</a:t>
            </a:r>
            <a:endParaRPr sz="1867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endParaRPr sz="1867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186262">
              <a:buClr>
                <a:srgbClr val="000000"/>
              </a:buClr>
              <a:buSzPts val="1400"/>
            </a:pPr>
            <a:r>
              <a:rPr lang="en" sz="1867" b="1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3. Errors are a reflection of our quality</a:t>
            </a:r>
            <a:endParaRPr sz="1867" b="1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400"/>
            </a:pPr>
            <a:r>
              <a:rPr lang="en" sz="1867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When students ask queries about their exams, they say that if there were errors in the assignments, how sure are we that exam questions are error-free.</a:t>
            </a:r>
            <a:endParaRPr sz="1867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12f9b4853ee_0_294"/>
          <p:cNvSpPr txBox="1"/>
          <p:nvPr/>
        </p:nvSpPr>
        <p:spPr>
          <a:xfrm>
            <a:off x="2298133" y="0"/>
            <a:ext cx="74208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2400" b="1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Rescoring</a:t>
            </a:r>
            <a:r>
              <a:rPr lang="en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Assignments</a:t>
            </a:r>
            <a:endParaRPr sz="2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7538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2f9b4853ee_0_297"/>
          <p:cNvSpPr txBox="1"/>
          <p:nvPr/>
        </p:nvSpPr>
        <p:spPr>
          <a:xfrm>
            <a:off x="2298133" y="1"/>
            <a:ext cx="74208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Statistics on rescoring for the previous semester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3" name="Google Shape;233;g12f9b4853ee_0_297"/>
          <p:cNvGraphicFramePr/>
          <p:nvPr>
            <p:extLst>
              <p:ext uri="{D42A27DB-BD31-4B8C-83A1-F6EECF244321}">
                <p14:modId xmlns:p14="http://schemas.microsoft.com/office/powerpoint/2010/main" val="2130149708"/>
              </p:ext>
            </p:extLst>
          </p:nvPr>
        </p:nvGraphicFramePr>
        <p:xfrm>
          <a:off x="842934" y="991367"/>
          <a:ext cx="10575834" cy="17471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29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4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8126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2000" b="1" u="none" strike="noStrike" cap="none"/>
                        <a:t>Institute</a:t>
                      </a:r>
                      <a:endParaRPr sz="2000" b="1" u="none" strike="noStrike" cap="none"/>
                    </a:p>
                  </a:txBody>
                  <a:tcPr marL="38100" marR="38100" marT="25400" marB="254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2000" b="1" u="none" strike="noStrike" cap="none" dirty="0"/>
                        <a:t>Total Offered Courses</a:t>
                      </a:r>
                      <a:endParaRPr sz="2000" b="1" u="none" strike="noStrike" cap="none" dirty="0"/>
                    </a:p>
                  </a:txBody>
                  <a:tcPr marL="38100" marR="38100" marT="25400" marB="254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2000" b="1" u="none" strike="noStrike" cap="none"/>
                        <a:t>Total Reevaluated Courses</a:t>
                      </a:r>
                      <a:endParaRPr sz="2000" b="1" u="none" strike="noStrike" cap="none"/>
                    </a:p>
                  </a:txBody>
                  <a:tcPr marL="38100" marR="38100" marT="25400" marB="254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2000" b="1" u="none" strike="noStrike" cap="none"/>
                        <a:t>No of Assignments</a:t>
                      </a:r>
                      <a:endParaRPr sz="2000" b="1" u="none" strike="noStrike" cap="none"/>
                    </a:p>
                  </a:txBody>
                  <a:tcPr marL="38100" marR="38100" marT="25400" marB="254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2000" b="1" u="none" strike="noStrike" cap="none"/>
                        <a:t>No of questions</a:t>
                      </a:r>
                      <a:endParaRPr sz="2000" b="1" u="none" strike="noStrike" cap="none"/>
                    </a:p>
                  </a:txBody>
                  <a:tcPr marL="38100" marR="38100" marT="25400" marB="254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2000" u="none" strike="noStrike" cap="none"/>
                        <a:t>IITG</a:t>
                      </a:r>
                      <a:endParaRPr sz="2000" u="none" strike="noStrike" cap="none"/>
                    </a:p>
                  </a:txBody>
                  <a:tcPr marL="38100" marR="38100" marT="25400" marB="2540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2000" u="none" strike="noStrike" cap="none" dirty="0"/>
                        <a:t>81</a:t>
                      </a:r>
                      <a:endParaRPr sz="2000" u="none" strike="noStrike" cap="none" dirty="0"/>
                    </a:p>
                  </a:txBody>
                  <a:tcPr marL="38100" marR="38100" marT="25400" marB="2540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2000" u="none" strike="noStrike" cap="none" dirty="0"/>
                        <a:t>29</a:t>
                      </a:r>
                      <a:endParaRPr sz="2000" u="none" strike="noStrike" cap="none" dirty="0"/>
                    </a:p>
                  </a:txBody>
                  <a:tcPr marL="38100" marR="38100" marT="25400" marB="2540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2000" u="none" strike="noStrike" cap="none" dirty="0"/>
                        <a:t>66</a:t>
                      </a:r>
                      <a:endParaRPr sz="2000" u="none" strike="noStrike" cap="none" dirty="0"/>
                    </a:p>
                  </a:txBody>
                  <a:tcPr marL="38100" marR="38100" marT="25400" marB="2540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2000" u="none" strike="noStrike" cap="none" dirty="0"/>
                        <a:t>94</a:t>
                      </a:r>
                      <a:endParaRPr sz="2000" u="none" strike="noStrike" cap="none" dirty="0"/>
                    </a:p>
                  </a:txBody>
                  <a:tcPr marL="38100" marR="38100" marT="25400" marB="2540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6A24B1-51E4-4F41-997D-03ADF60FE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15934"/>
              </p:ext>
            </p:extLst>
          </p:nvPr>
        </p:nvGraphicFramePr>
        <p:xfrm>
          <a:off x="1011068" y="3862361"/>
          <a:ext cx="9038454" cy="2174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9227">
                  <a:extLst>
                    <a:ext uri="{9D8B030D-6E8A-4147-A177-3AD203B41FA5}">
                      <a16:colId xmlns:a16="http://schemas.microsoft.com/office/drawing/2014/main" val="1318535110"/>
                    </a:ext>
                  </a:extLst>
                </a:gridCol>
                <a:gridCol w="4519227">
                  <a:extLst>
                    <a:ext uri="{9D8B030D-6E8A-4147-A177-3AD203B41FA5}">
                      <a16:colId xmlns:a16="http://schemas.microsoft.com/office/drawing/2014/main" val="943145105"/>
                    </a:ext>
                  </a:extLst>
                </a:gridCol>
              </a:tblGrid>
              <a:tr h="3624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 OF ERROR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OF ERROR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5199588"/>
                  </a:ext>
                </a:extLst>
              </a:tr>
              <a:tr h="3624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Multiple correct options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16263240"/>
                  </a:ext>
                </a:extLst>
              </a:tr>
              <a:tr h="3624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Correct Option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89850045"/>
                  </a:ext>
                </a:extLst>
              </a:tr>
              <a:tr h="3624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Correct answer configuration error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5467112"/>
                  </a:ext>
                </a:extLst>
              </a:tr>
              <a:tr h="3624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Erroneous question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3945010"/>
                  </a:ext>
                </a:extLst>
              </a:tr>
              <a:tr h="3624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is given as weightage for the question instead of 1.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23106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0158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Discussion Forum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069" y="1386432"/>
            <a:ext cx="6963508" cy="4926266"/>
          </a:xfrm>
        </p:spPr>
      </p:pic>
    </p:spTree>
    <p:extLst>
      <p:ext uri="{BB962C8B-B14F-4D97-AF65-F5344CB8AC3E}">
        <p14:creationId xmlns:p14="http://schemas.microsoft.com/office/powerpoint/2010/main" val="796697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Responsibilities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06951" y="1530808"/>
            <a:ext cx="6300617" cy="4017137"/>
          </a:xfrm>
        </p:spPr>
        <p:txBody>
          <a:bodyPr>
            <a:noAutofit/>
          </a:bodyPr>
          <a:lstStyle/>
          <a:p>
            <a:pPr lvl="1"/>
            <a:r>
              <a:rPr lang="en-IN" sz="2000" dirty="0"/>
              <a:t>Portal Configuration(</a:t>
            </a:r>
            <a:r>
              <a:rPr lang="en-IN" sz="2000" dirty="0">
                <a:solidFill>
                  <a:srgbClr val="FF0000"/>
                </a:solidFill>
              </a:rPr>
              <a:t>in private mode</a:t>
            </a:r>
            <a:r>
              <a:rPr lang="en-IN" sz="2000" dirty="0"/>
              <a:t>)</a:t>
            </a:r>
          </a:p>
          <a:p>
            <a:pPr lvl="2"/>
            <a:r>
              <a:rPr lang="en-IN" sz="2000" dirty="0"/>
              <a:t>Lecture linking</a:t>
            </a:r>
          </a:p>
          <a:p>
            <a:pPr lvl="2"/>
            <a:r>
              <a:rPr lang="en-IN" sz="2000" dirty="0"/>
              <a:t>Assignment configuration</a:t>
            </a:r>
          </a:p>
          <a:p>
            <a:pPr lvl="2"/>
            <a:r>
              <a:rPr lang="en-IN" sz="2000" dirty="0"/>
              <a:t>Announcement Creation</a:t>
            </a:r>
          </a:p>
          <a:p>
            <a:pPr lvl="2"/>
            <a:r>
              <a:rPr lang="en-IN" sz="2000" dirty="0"/>
              <a:t>Lecture Notes Upload</a:t>
            </a:r>
          </a:p>
          <a:p>
            <a:pPr lvl="2"/>
            <a:r>
              <a:rPr lang="en-IN" sz="2000" dirty="0"/>
              <a:t>Feedback form linking</a:t>
            </a:r>
          </a:p>
          <a:p>
            <a:pPr lvl="2"/>
            <a:r>
              <a:rPr lang="en-IN" sz="2000" dirty="0"/>
              <a:t>Assignment solution upload</a:t>
            </a:r>
          </a:p>
          <a:p>
            <a:pPr lvl="1"/>
            <a:r>
              <a:rPr lang="en-IN" sz="2000" dirty="0"/>
              <a:t>Discussion Forum</a:t>
            </a:r>
          </a:p>
          <a:p>
            <a:pPr lvl="1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79693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081073" y="3541058"/>
            <a:ext cx="8911687" cy="1266437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0E7FC4"/>
                </a:solidFill>
              </a:rPr>
              <a:t>Thank You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33635">
            <a:off x="5725803" y="1525531"/>
            <a:ext cx="5548135" cy="37744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9890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1167</TotalTime>
  <Words>891</Words>
  <Application>Microsoft Office PowerPoint</Application>
  <PresentationFormat>Widescreen</PresentationFormat>
  <Paragraphs>166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Candara</vt:lpstr>
      <vt:lpstr>Century Gothic</vt:lpstr>
      <vt:lpstr>Wingdings</vt:lpstr>
      <vt:lpstr>Wingdings 3</vt:lpstr>
      <vt:lpstr>Wisp</vt:lpstr>
      <vt:lpstr>NPTEL-MOOCs TA Training</vt:lpstr>
      <vt:lpstr>Team</vt:lpstr>
      <vt:lpstr>Recording Team</vt:lpstr>
      <vt:lpstr>Editing Team</vt:lpstr>
      <vt:lpstr>Portal Team</vt:lpstr>
      <vt:lpstr>Graphics Team</vt:lpstr>
      <vt:lpstr>Components of  NPTEL-MOOCs</vt:lpstr>
      <vt:lpstr>PowerPoint Presentation</vt:lpstr>
      <vt:lpstr>Portal Configuration</vt:lpstr>
      <vt:lpstr>PowerPoint Presentation</vt:lpstr>
      <vt:lpstr>Assignment</vt:lpstr>
      <vt:lpstr>MCQ/MSQ(multiple choice/select question)</vt:lpstr>
      <vt:lpstr>Example</vt:lpstr>
      <vt:lpstr>Short Answer</vt:lpstr>
      <vt:lpstr>Example:</vt:lpstr>
      <vt:lpstr>Comprehension</vt:lpstr>
      <vt:lpstr>Assignment Weightage</vt:lpstr>
      <vt:lpstr>Assignments Error</vt:lpstr>
      <vt:lpstr>PowerPoint Presentation</vt:lpstr>
      <vt:lpstr>PowerPoint Presentation</vt:lpstr>
      <vt:lpstr>Discussion Forum</vt:lpstr>
      <vt:lpstr>Responsibilities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NPTEL-MOOCs</dc:title>
  <dc:creator>CET IITG</dc:creator>
  <cp:lastModifiedBy>CET Video Server</cp:lastModifiedBy>
  <cp:revision>92</cp:revision>
  <dcterms:created xsi:type="dcterms:W3CDTF">2019-10-15T06:36:03Z</dcterms:created>
  <dcterms:modified xsi:type="dcterms:W3CDTF">2025-06-30T08:55:26Z</dcterms:modified>
</cp:coreProperties>
</file>